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2"/>
  </p:notesMasterIdLst>
  <p:sldIdLst>
    <p:sldId id="256" r:id="rId2"/>
    <p:sldId id="258" r:id="rId3"/>
    <p:sldId id="261" r:id="rId4"/>
    <p:sldId id="260" r:id="rId5"/>
    <p:sldId id="263" r:id="rId6"/>
    <p:sldId id="264" r:id="rId7"/>
    <p:sldId id="297" r:id="rId8"/>
    <p:sldId id="298" r:id="rId9"/>
    <p:sldId id="269" r:id="rId10"/>
    <p:sldId id="300" r:id="rId11"/>
    <p:sldId id="273" r:id="rId12"/>
    <p:sldId id="304" r:id="rId13"/>
    <p:sldId id="303" r:id="rId14"/>
    <p:sldId id="272" r:id="rId15"/>
    <p:sldId id="278" r:id="rId16"/>
    <p:sldId id="274" r:id="rId17"/>
    <p:sldId id="306" r:id="rId18"/>
    <p:sldId id="305" r:id="rId19"/>
    <p:sldId id="307" r:id="rId20"/>
    <p:sldId id="276" r:id="rId21"/>
  </p:sldIdLst>
  <p:sldSz cx="9144000" cy="5143500" type="screen16x9"/>
  <p:notesSz cx="6858000" cy="9144000"/>
  <p:embeddedFontLst>
    <p:embeddedFont>
      <p:font typeface="Aptos Narrow" panose="020B0004020202020204" pitchFamily="34" charset="0"/>
      <p:regular r:id="rId23"/>
      <p:bold r:id="rId24"/>
      <p:italic r:id="rId25"/>
      <p:boldItalic r:id="rId26"/>
    </p:embeddedFont>
    <p:embeddedFont>
      <p:font typeface="Century Gothic" panose="020B0502020202020204" pitchFamily="34" charset="0"/>
      <p:regular r:id="rId27"/>
      <p:bold r:id="rId28"/>
      <p:italic r:id="rId29"/>
      <p:boldItalic r:id="rId30"/>
    </p:embeddedFont>
    <p:embeddedFont>
      <p:font typeface="Epilogue" panose="020B0604020202020204" charset="0"/>
      <p:regular r:id="rId31"/>
      <p:bold r:id="rId32"/>
      <p:italic r:id="rId33"/>
      <p:boldItalic r:id="rId34"/>
    </p:embeddedFont>
    <p:embeddedFont>
      <p:font typeface="Lato" panose="020F0502020204030203" pitchFamily="34" charset="0"/>
      <p:regular r:id="rId35"/>
      <p:bold r:id="rId36"/>
      <p:italic r:id="rId37"/>
      <p:boldItalic r:id="rId38"/>
    </p:embeddedFont>
    <p:embeddedFont>
      <p:font typeface="Nunito Light" pitchFamily="2" charset="0"/>
      <p:regular r:id="rId39"/>
      <p:italic r:id="rId40"/>
    </p:embeddedFont>
    <p:embeddedFont>
      <p:font typeface="Open Sans" panose="020B0606030504020204" pitchFamily="34" charset="0"/>
      <p:regular r:id="rId41"/>
      <p:bold r:id="rId42"/>
      <p:italic r:id="rId43"/>
      <p:boldItalic r:id="rId44"/>
    </p:embeddedFont>
    <p:embeddedFont>
      <p:font typeface="Raleway" pitchFamily="2" charset="0"/>
      <p:regular r:id="rId45"/>
      <p:bold r:id="rId46"/>
      <p:italic r:id="rId47"/>
      <p:boldItalic r:id="rId48"/>
    </p:embeddedFont>
    <p:embeddedFont>
      <p:font typeface="Roboto" panose="02000000000000000000" pitchFamily="2" charset="0"/>
      <p:regular r:id="rId49"/>
      <p:bold r:id="rId50"/>
      <p:italic r:id="rId51"/>
      <p:boldItalic r:id="rId52"/>
    </p:embeddedFont>
    <p:embeddedFont>
      <p:font typeface="Roboto Bold" panose="02000000000000000000" charset="0"/>
      <p:regular r:id="rId53"/>
      <p:bold r:id="rId54"/>
    </p:embeddedFont>
    <p:embeddedFont>
      <p:font typeface="Roboto Medium" panose="02000000000000000000" pitchFamily="2"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8569FF-5148-4313-B945-00A72C13E311}">
  <a:tblStyle styleId="{A48569FF-5148-4313-B945-00A72C13E31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5769D24-F8F7-4550-A4BA-1AF5ECE16DD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0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47" Type="http://schemas.openxmlformats.org/officeDocument/2006/relationships/font" Target="fonts/font25.fntdata"/><Relationship Id="rId50" Type="http://schemas.openxmlformats.org/officeDocument/2006/relationships/font" Target="fonts/font28.fntdata"/><Relationship Id="rId55" Type="http://schemas.openxmlformats.org/officeDocument/2006/relationships/font" Target="fonts/font3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font" Target="fonts/font31.fntdata"/><Relationship Id="rId58" Type="http://schemas.openxmlformats.org/officeDocument/2006/relationships/font" Target="fonts/font36.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48" Type="http://schemas.openxmlformats.org/officeDocument/2006/relationships/font" Target="fonts/font26.fntdata"/><Relationship Id="rId56" Type="http://schemas.openxmlformats.org/officeDocument/2006/relationships/font" Target="fonts/font34.fntdata"/><Relationship Id="rId8" Type="http://schemas.openxmlformats.org/officeDocument/2006/relationships/slide" Target="slides/slide7.xml"/><Relationship Id="rId51" Type="http://schemas.openxmlformats.org/officeDocument/2006/relationships/font" Target="fonts/font2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font" Target="fonts/font24.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font" Target="fonts/font32.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font" Target="fonts/font27.fntdata"/><Relationship Id="rId57" Type="http://schemas.openxmlformats.org/officeDocument/2006/relationships/font" Target="fonts/font35.fntdata"/><Relationship Id="rId10" Type="http://schemas.openxmlformats.org/officeDocument/2006/relationships/slide" Target="slides/slide9.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font" Target="fonts/font30.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3484897fde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1" name="Google Shape;1101;g3484897fde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6" name="Google Shape;1016;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2" name="Google Shape;1132;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a:extLst>
            <a:ext uri="{FF2B5EF4-FFF2-40B4-BE49-F238E27FC236}">
              <a16:creationId xmlns:a16="http://schemas.microsoft.com/office/drawing/2014/main" id="{EE47736E-D1B0-A535-7547-F45B4736EB3C}"/>
            </a:ext>
          </a:extLst>
        </p:cNvPr>
        <p:cNvGrpSpPr/>
        <p:nvPr/>
      </p:nvGrpSpPr>
      <p:grpSpPr>
        <a:xfrm>
          <a:off x="0" y="0"/>
          <a:ext cx="0" cy="0"/>
          <a:chOff x="0" y="0"/>
          <a:chExt cx="0" cy="0"/>
        </a:xfrm>
      </p:grpSpPr>
      <p:sp>
        <p:nvSpPr>
          <p:cNvPr id="1142" name="Google Shape;1142;g184d99d1a72_0_57:notes">
            <a:extLst>
              <a:ext uri="{FF2B5EF4-FFF2-40B4-BE49-F238E27FC236}">
                <a16:creationId xmlns:a16="http://schemas.microsoft.com/office/drawing/2014/main" id="{DDE5F4BE-D6DD-0566-AFFD-760C730FB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184d99d1a72_0_57:notes">
            <a:extLst>
              <a:ext uri="{FF2B5EF4-FFF2-40B4-BE49-F238E27FC236}">
                <a16:creationId xmlns:a16="http://schemas.microsoft.com/office/drawing/2014/main" id="{2AC3827B-2288-0DBD-032C-84CDA3ABF5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9775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a:extLst>
            <a:ext uri="{FF2B5EF4-FFF2-40B4-BE49-F238E27FC236}">
              <a16:creationId xmlns:a16="http://schemas.microsoft.com/office/drawing/2014/main" id="{1FB84CAB-E288-E976-EB65-838281D562F0}"/>
            </a:ext>
          </a:extLst>
        </p:cNvPr>
        <p:cNvGrpSpPr/>
        <p:nvPr/>
      </p:nvGrpSpPr>
      <p:grpSpPr>
        <a:xfrm>
          <a:off x="0" y="0"/>
          <a:ext cx="0" cy="0"/>
          <a:chOff x="0" y="0"/>
          <a:chExt cx="0" cy="0"/>
        </a:xfrm>
      </p:grpSpPr>
      <p:sp>
        <p:nvSpPr>
          <p:cNvPr id="1142" name="Google Shape;1142;g184d99d1a72_0_57:notes">
            <a:extLst>
              <a:ext uri="{FF2B5EF4-FFF2-40B4-BE49-F238E27FC236}">
                <a16:creationId xmlns:a16="http://schemas.microsoft.com/office/drawing/2014/main" id="{31ED9545-97EF-0D99-9E86-20B72B557A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184d99d1a72_0_57:notes">
            <a:extLst>
              <a:ext uri="{FF2B5EF4-FFF2-40B4-BE49-F238E27FC236}">
                <a16:creationId xmlns:a16="http://schemas.microsoft.com/office/drawing/2014/main" id="{3BAEED44-D414-0D57-2B53-6861AB7C8D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476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3" name="Google Shape;132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a:extLst>
            <a:ext uri="{FF2B5EF4-FFF2-40B4-BE49-F238E27FC236}">
              <a16:creationId xmlns:a16="http://schemas.microsoft.com/office/drawing/2014/main" id="{BD6D5942-ECAD-A542-4CE9-9C8CC1B78994}"/>
            </a:ext>
          </a:extLst>
        </p:cNvPr>
        <p:cNvGrpSpPr/>
        <p:nvPr/>
      </p:nvGrpSpPr>
      <p:grpSpPr>
        <a:xfrm>
          <a:off x="0" y="0"/>
          <a:ext cx="0" cy="0"/>
          <a:chOff x="0" y="0"/>
          <a:chExt cx="0" cy="0"/>
        </a:xfrm>
      </p:grpSpPr>
      <p:sp>
        <p:nvSpPr>
          <p:cNvPr id="1322" name="Google Shape;1322;g54dda1946d_4_2701:notes">
            <a:extLst>
              <a:ext uri="{FF2B5EF4-FFF2-40B4-BE49-F238E27FC236}">
                <a16:creationId xmlns:a16="http://schemas.microsoft.com/office/drawing/2014/main" id="{790E70FB-9F70-EC1F-03BD-D4F92910A5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3" name="Google Shape;1323;g54dda1946d_4_2701:notes">
            <a:extLst>
              <a:ext uri="{FF2B5EF4-FFF2-40B4-BE49-F238E27FC236}">
                <a16:creationId xmlns:a16="http://schemas.microsoft.com/office/drawing/2014/main" id="{F8E30B7E-C74E-5E6A-1A13-5E2C25DF0D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429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g216241d4a3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7" name="Google Shape;1447;g216241d4a3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a:extLst>
            <a:ext uri="{FF2B5EF4-FFF2-40B4-BE49-F238E27FC236}">
              <a16:creationId xmlns:a16="http://schemas.microsoft.com/office/drawing/2014/main" id="{C9BDB93C-DFE4-EBE1-711B-E70A84FA581B}"/>
            </a:ext>
          </a:extLst>
        </p:cNvPr>
        <p:cNvGrpSpPr/>
        <p:nvPr/>
      </p:nvGrpSpPr>
      <p:grpSpPr>
        <a:xfrm>
          <a:off x="0" y="0"/>
          <a:ext cx="0" cy="0"/>
          <a:chOff x="0" y="0"/>
          <a:chExt cx="0" cy="0"/>
        </a:xfrm>
      </p:grpSpPr>
      <p:sp>
        <p:nvSpPr>
          <p:cNvPr id="1446" name="Google Shape;1446;g216241d4a31_0_25:notes">
            <a:extLst>
              <a:ext uri="{FF2B5EF4-FFF2-40B4-BE49-F238E27FC236}">
                <a16:creationId xmlns:a16="http://schemas.microsoft.com/office/drawing/2014/main" id="{4C7E2063-5404-646D-C13A-337398BC1F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7" name="Google Shape;1447;g216241d4a31_0_25:notes">
            <a:extLst>
              <a:ext uri="{FF2B5EF4-FFF2-40B4-BE49-F238E27FC236}">
                <a16:creationId xmlns:a16="http://schemas.microsoft.com/office/drawing/2014/main" id="{C16E2A83-C6D9-6A3D-10CF-C65B60ADD2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5604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a:extLst>
            <a:ext uri="{FF2B5EF4-FFF2-40B4-BE49-F238E27FC236}">
              <a16:creationId xmlns:a16="http://schemas.microsoft.com/office/drawing/2014/main" id="{2DB07AF7-1903-1275-F278-055F1B9ECEE9}"/>
            </a:ext>
          </a:extLst>
        </p:cNvPr>
        <p:cNvGrpSpPr/>
        <p:nvPr/>
      </p:nvGrpSpPr>
      <p:grpSpPr>
        <a:xfrm>
          <a:off x="0" y="0"/>
          <a:ext cx="0" cy="0"/>
          <a:chOff x="0" y="0"/>
          <a:chExt cx="0" cy="0"/>
        </a:xfrm>
      </p:grpSpPr>
      <p:sp>
        <p:nvSpPr>
          <p:cNvPr id="1446" name="Google Shape;1446;g216241d4a31_0_25:notes">
            <a:extLst>
              <a:ext uri="{FF2B5EF4-FFF2-40B4-BE49-F238E27FC236}">
                <a16:creationId xmlns:a16="http://schemas.microsoft.com/office/drawing/2014/main" id="{8890DE4E-BD46-B18C-DFF9-BD0F3010B5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7" name="Google Shape;1447;g216241d4a31_0_25:notes">
            <a:extLst>
              <a:ext uri="{FF2B5EF4-FFF2-40B4-BE49-F238E27FC236}">
                <a16:creationId xmlns:a16="http://schemas.microsoft.com/office/drawing/2014/main" id="{FA7A1060-9405-22B9-DBBE-92088405A1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2826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g172b1845856_1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9" name="Google Shape;1419;g172b1845856_1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p:cNvGrpSpPr/>
        <p:nvPr/>
      </p:nvGrpSpPr>
      <p:grpSpPr>
        <a:xfrm>
          <a:off x="0" y="0"/>
          <a:ext cx="0" cy="0"/>
          <a:chOff x="0" y="0"/>
          <a:chExt cx="0" cy="0"/>
        </a:xfrm>
      </p:grpSpPr>
      <p:sp>
        <p:nvSpPr>
          <p:cNvPr id="1907" name="Google Shape;1907;g2935051597d_0_40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8" name="Google Shape;1908;g2935051597d_0_40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p:cNvGrpSpPr/>
        <p:nvPr/>
      </p:nvGrpSpPr>
      <p:grpSpPr>
        <a:xfrm>
          <a:off x="0" y="0"/>
          <a:ext cx="0" cy="0"/>
          <a:chOff x="0" y="0"/>
          <a:chExt cx="0" cy="0"/>
        </a:xfrm>
      </p:grpSpPr>
      <p:sp>
        <p:nvSpPr>
          <p:cNvPr id="1466" name="Google Shape;1466;g1869d044d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7" name="Google Shape;1467;g1869d044d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a:extLst>
            <a:ext uri="{FF2B5EF4-FFF2-40B4-BE49-F238E27FC236}">
              <a16:creationId xmlns:a16="http://schemas.microsoft.com/office/drawing/2014/main" id="{C4D20DFA-F495-455B-09A0-35FC3E7A02F4}"/>
            </a:ext>
          </a:extLst>
        </p:cNvPr>
        <p:cNvGrpSpPr/>
        <p:nvPr/>
      </p:nvGrpSpPr>
      <p:grpSpPr>
        <a:xfrm>
          <a:off x="0" y="0"/>
          <a:ext cx="0" cy="0"/>
          <a:chOff x="0" y="0"/>
          <a:chExt cx="0" cy="0"/>
        </a:xfrm>
      </p:grpSpPr>
      <p:sp>
        <p:nvSpPr>
          <p:cNvPr id="1907" name="Google Shape;1907;g2935051597d_0_40601:notes">
            <a:extLst>
              <a:ext uri="{FF2B5EF4-FFF2-40B4-BE49-F238E27FC236}">
                <a16:creationId xmlns:a16="http://schemas.microsoft.com/office/drawing/2014/main" id="{DAE079C0-CBC8-461B-6E4E-043E9D6669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8" name="Google Shape;1908;g2935051597d_0_40601:notes">
            <a:extLst>
              <a:ext uri="{FF2B5EF4-FFF2-40B4-BE49-F238E27FC236}">
                <a16:creationId xmlns:a16="http://schemas.microsoft.com/office/drawing/2014/main" id="{F07F57CF-06BB-358A-1F86-BE931C066B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207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a:extLst>
            <a:ext uri="{FF2B5EF4-FFF2-40B4-BE49-F238E27FC236}">
              <a16:creationId xmlns:a16="http://schemas.microsoft.com/office/drawing/2014/main" id="{2EDD5462-C5D0-7E6E-F757-CDFF22E4048C}"/>
            </a:ext>
          </a:extLst>
        </p:cNvPr>
        <p:cNvGrpSpPr/>
        <p:nvPr/>
      </p:nvGrpSpPr>
      <p:grpSpPr>
        <a:xfrm>
          <a:off x="0" y="0"/>
          <a:ext cx="0" cy="0"/>
          <a:chOff x="0" y="0"/>
          <a:chExt cx="0" cy="0"/>
        </a:xfrm>
      </p:grpSpPr>
      <p:sp>
        <p:nvSpPr>
          <p:cNvPr id="1907" name="Google Shape;1907;g2935051597d_0_40601:notes">
            <a:extLst>
              <a:ext uri="{FF2B5EF4-FFF2-40B4-BE49-F238E27FC236}">
                <a16:creationId xmlns:a16="http://schemas.microsoft.com/office/drawing/2014/main" id="{79FD4D52-837E-8AC7-3FC6-583BA758AC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8" name="Google Shape;1908;g2935051597d_0_40601:notes">
            <a:extLst>
              <a:ext uri="{FF2B5EF4-FFF2-40B4-BE49-F238E27FC236}">
                <a16:creationId xmlns:a16="http://schemas.microsoft.com/office/drawing/2014/main" id="{5A593B38-D75D-D907-8672-EF7CBD14C7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191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a:extLst>
            <a:ext uri="{FF2B5EF4-FFF2-40B4-BE49-F238E27FC236}">
              <a16:creationId xmlns:a16="http://schemas.microsoft.com/office/drawing/2014/main" id="{4C6773C2-92AD-3AAD-75C8-78EA3BCD0D41}"/>
            </a:ext>
          </a:extLst>
        </p:cNvPr>
        <p:cNvGrpSpPr/>
        <p:nvPr/>
      </p:nvGrpSpPr>
      <p:grpSpPr>
        <a:xfrm>
          <a:off x="0" y="0"/>
          <a:ext cx="0" cy="0"/>
          <a:chOff x="0" y="0"/>
          <a:chExt cx="0" cy="0"/>
        </a:xfrm>
      </p:grpSpPr>
      <p:sp>
        <p:nvSpPr>
          <p:cNvPr id="1907" name="Google Shape;1907;g2935051597d_0_40601:notes">
            <a:extLst>
              <a:ext uri="{FF2B5EF4-FFF2-40B4-BE49-F238E27FC236}">
                <a16:creationId xmlns:a16="http://schemas.microsoft.com/office/drawing/2014/main" id="{9ABA82C0-275C-D829-2900-4A7792915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8" name="Google Shape;1908;g2935051597d_0_40601:notes">
            <a:extLst>
              <a:ext uri="{FF2B5EF4-FFF2-40B4-BE49-F238E27FC236}">
                <a16:creationId xmlns:a16="http://schemas.microsoft.com/office/drawing/2014/main" id="{A323FA0D-3D09-6F40-5BE6-13F0DB3CF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8880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7" name="Google Shape;148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44500"/>
            <a:ext cx="4112100" cy="2378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atin typeface="Epilogue"/>
                <a:ea typeface="Epilogue"/>
                <a:cs typeface="Epilogue"/>
                <a:sym typeface="Epilog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23200"/>
            <a:ext cx="4112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10800000">
            <a:off x="-1604593" y="-845132"/>
            <a:ext cx="3281418" cy="21328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899992" flipH="1">
            <a:off x="-1515196" y="4121356"/>
            <a:ext cx="3953580" cy="192177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047175" y="2571975"/>
            <a:ext cx="43836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4047175" y="1321975"/>
            <a:ext cx="1235700" cy="841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a:spLocks noGrp="1"/>
          </p:cNvSpPr>
          <p:nvPr>
            <p:ph type="pic" idx="3"/>
          </p:nvPr>
        </p:nvSpPr>
        <p:spPr>
          <a:xfrm>
            <a:off x="484625" y="1076550"/>
            <a:ext cx="2990400" cy="2990400"/>
          </a:xfrm>
          <a:prstGeom prst="roundRect">
            <a:avLst>
              <a:gd name="adj" fmla="val 16667"/>
            </a:avLst>
          </a:prstGeom>
          <a:noFill/>
          <a:ln>
            <a:noFill/>
          </a:ln>
        </p:spPr>
        <p:txBody>
          <a:bodyPr/>
          <a:lstStyle/>
          <a:p>
            <a:endParaRPr lang="en-MY"/>
          </a:p>
        </p:txBody>
      </p:sp>
      <p:sp>
        <p:nvSpPr>
          <p:cNvPr id="17" name="Google Shape;17;p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3" name="Google Shape;23;p4"/>
          <p:cNvSpPr/>
          <p:nvPr/>
        </p:nvSpPr>
        <p:spPr>
          <a:xfrm rot="-4014673" flipH="1">
            <a:off x="-1798429" y="-1029372"/>
            <a:ext cx="3158476" cy="250963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flipH="1">
            <a:off x="8355841" y="2667287"/>
            <a:ext cx="734045" cy="45268"/>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5" name="Google Shape;25;p4"/>
          <p:cNvGrpSpPr/>
          <p:nvPr/>
        </p:nvGrpSpPr>
        <p:grpSpPr>
          <a:xfrm flipH="1">
            <a:off x="8380540" y="1729933"/>
            <a:ext cx="668783" cy="959747"/>
            <a:chOff x="10519314" y="4728596"/>
            <a:chExt cx="751780" cy="1078731"/>
          </a:xfrm>
        </p:grpSpPr>
        <p:grpSp>
          <p:nvGrpSpPr>
            <p:cNvPr id="26" name="Google Shape;26;p4"/>
            <p:cNvGrpSpPr/>
            <p:nvPr/>
          </p:nvGrpSpPr>
          <p:grpSpPr>
            <a:xfrm>
              <a:off x="10519314" y="4728596"/>
              <a:ext cx="626662" cy="1078731"/>
              <a:chOff x="10519314" y="4728596"/>
              <a:chExt cx="626662" cy="1078731"/>
            </a:xfrm>
          </p:grpSpPr>
          <p:grpSp>
            <p:nvGrpSpPr>
              <p:cNvPr id="27" name="Google Shape;27;p4"/>
              <p:cNvGrpSpPr/>
              <p:nvPr/>
            </p:nvGrpSpPr>
            <p:grpSpPr>
              <a:xfrm>
                <a:off x="10903220" y="4888205"/>
                <a:ext cx="242756" cy="919122"/>
                <a:chOff x="10903220" y="4888205"/>
                <a:chExt cx="242756" cy="919122"/>
              </a:xfrm>
            </p:grpSpPr>
            <p:sp>
              <p:nvSpPr>
                <p:cNvPr id="28" name="Google Shape;28;p4"/>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4"/>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4"/>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 name="Google Shape;31;p4"/>
                <p:cNvGrpSpPr/>
                <p:nvPr/>
              </p:nvGrpSpPr>
              <p:grpSpPr>
                <a:xfrm>
                  <a:off x="11014221" y="5588618"/>
                  <a:ext cx="100021" cy="114784"/>
                  <a:chOff x="11014221" y="5588618"/>
                  <a:chExt cx="100021" cy="114784"/>
                </a:xfrm>
              </p:grpSpPr>
              <p:sp>
                <p:nvSpPr>
                  <p:cNvPr id="32" name="Google Shape;32;p4"/>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4"/>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4"/>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4"/>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6" name="Google Shape;36;p4"/>
              <p:cNvGrpSpPr/>
              <p:nvPr/>
            </p:nvGrpSpPr>
            <p:grpSpPr>
              <a:xfrm>
                <a:off x="10718623" y="4728596"/>
                <a:ext cx="229169" cy="1075979"/>
                <a:chOff x="10718623" y="4728596"/>
                <a:chExt cx="229169" cy="1075979"/>
              </a:xfrm>
            </p:grpSpPr>
            <p:sp>
              <p:nvSpPr>
                <p:cNvPr id="37" name="Google Shape;37;p4"/>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4"/>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9" name="Google Shape;39;p4"/>
                <p:cNvGrpSpPr/>
                <p:nvPr/>
              </p:nvGrpSpPr>
              <p:grpSpPr>
                <a:xfrm>
                  <a:off x="10765015" y="5040134"/>
                  <a:ext cx="116314" cy="49775"/>
                  <a:chOff x="10765015" y="5040134"/>
                  <a:chExt cx="116314" cy="49775"/>
                </a:xfrm>
              </p:grpSpPr>
              <p:sp>
                <p:nvSpPr>
                  <p:cNvPr id="40" name="Google Shape;40;p4"/>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4"/>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 name="Google Shape;42;p4"/>
                <p:cNvGrpSpPr/>
                <p:nvPr/>
              </p:nvGrpSpPr>
              <p:grpSpPr>
                <a:xfrm>
                  <a:off x="10784825" y="5436314"/>
                  <a:ext cx="116414" cy="49961"/>
                  <a:chOff x="10784825" y="5436314"/>
                  <a:chExt cx="116414" cy="49961"/>
                </a:xfrm>
              </p:grpSpPr>
              <p:sp>
                <p:nvSpPr>
                  <p:cNvPr id="43" name="Google Shape;43;p4"/>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44;p4"/>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5" name="Google Shape;45;p4"/>
              <p:cNvGrpSpPr/>
              <p:nvPr/>
            </p:nvGrpSpPr>
            <p:grpSpPr>
              <a:xfrm>
                <a:off x="10519314" y="4813458"/>
                <a:ext cx="202120" cy="992123"/>
                <a:chOff x="10519314" y="4813458"/>
                <a:chExt cx="202120" cy="992123"/>
              </a:xfrm>
            </p:grpSpPr>
            <p:sp>
              <p:nvSpPr>
                <p:cNvPr id="46" name="Google Shape;46;p4"/>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4"/>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 name="Google Shape;48;p4"/>
                <p:cNvGrpSpPr/>
                <p:nvPr/>
              </p:nvGrpSpPr>
              <p:grpSpPr>
                <a:xfrm>
                  <a:off x="10556176" y="5465730"/>
                  <a:ext cx="128397" cy="44196"/>
                  <a:chOff x="10556176" y="5465730"/>
                  <a:chExt cx="128397" cy="44196"/>
                </a:xfrm>
              </p:grpSpPr>
              <p:sp>
                <p:nvSpPr>
                  <p:cNvPr id="49" name="Google Shape;49;p4"/>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4"/>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 name="Google Shape;51;p4"/>
                <p:cNvGrpSpPr/>
                <p:nvPr/>
              </p:nvGrpSpPr>
              <p:grpSpPr>
                <a:xfrm>
                  <a:off x="10556176" y="5689187"/>
                  <a:ext cx="128397" cy="44196"/>
                  <a:chOff x="10556176" y="5689187"/>
                  <a:chExt cx="128397" cy="44196"/>
                </a:xfrm>
              </p:grpSpPr>
              <p:sp>
                <p:nvSpPr>
                  <p:cNvPr id="52" name="Google Shape;52;p4"/>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4"/>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54" name="Google Shape;54;p4"/>
            <p:cNvGrpSpPr/>
            <p:nvPr/>
          </p:nvGrpSpPr>
          <p:grpSpPr>
            <a:xfrm>
              <a:off x="11058042" y="5088325"/>
              <a:ext cx="213052" cy="717953"/>
              <a:chOff x="11058042" y="5088325"/>
              <a:chExt cx="213052" cy="717953"/>
            </a:xfrm>
          </p:grpSpPr>
          <p:sp>
            <p:nvSpPr>
              <p:cNvPr id="55" name="Google Shape;55;p4"/>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4"/>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7" name="Google Shape;57;p4"/>
          <p:cNvGrpSpPr/>
          <p:nvPr/>
        </p:nvGrpSpPr>
        <p:grpSpPr>
          <a:xfrm flipH="1">
            <a:off x="8485925" y="662239"/>
            <a:ext cx="516117" cy="779220"/>
            <a:chOff x="10572463" y="3528536"/>
            <a:chExt cx="580168" cy="875823"/>
          </a:xfrm>
        </p:grpSpPr>
        <p:grpSp>
          <p:nvGrpSpPr>
            <p:cNvPr id="58" name="Google Shape;58;p4"/>
            <p:cNvGrpSpPr/>
            <p:nvPr/>
          </p:nvGrpSpPr>
          <p:grpSpPr>
            <a:xfrm>
              <a:off x="10713815" y="3528536"/>
              <a:ext cx="438816" cy="746664"/>
              <a:chOff x="10713815" y="3528536"/>
              <a:chExt cx="438816" cy="746664"/>
            </a:xfrm>
          </p:grpSpPr>
          <p:sp>
            <p:nvSpPr>
              <p:cNvPr id="59" name="Google Shape;59;p4"/>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0" name="Google Shape;60;p4"/>
              <p:cNvGrpSpPr/>
              <p:nvPr/>
            </p:nvGrpSpPr>
            <p:grpSpPr>
              <a:xfrm>
                <a:off x="10776489" y="3625310"/>
                <a:ext cx="313848" cy="288226"/>
                <a:chOff x="10776489" y="3625310"/>
                <a:chExt cx="313848" cy="288226"/>
              </a:xfrm>
            </p:grpSpPr>
            <p:sp>
              <p:nvSpPr>
                <p:cNvPr id="61" name="Google Shape;61;p4"/>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4"/>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4"/>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4"/>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4"/>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4"/>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7" name="Google Shape;67;p4"/>
              <p:cNvGrpSpPr/>
              <p:nvPr/>
            </p:nvGrpSpPr>
            <p:grpSpPr>
              <a:xfrm>
                <a:off x="10776489" y="3999547"/>
                <a:ext cx="313848" cy="181546"/>
                <a:chOff x="10776489" y="3999547"/>
                <a:chExt cx="313848" cy="181546"/>
              </a:xfrm>
            </p:grpSpPr>
            <p:sp>
              <p:nvSpPr>
                <p:cNvPr id="68" name="Google Shape;68;p4"/>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4"/>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4"/>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4"/>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2" name="Google Shape;72;p4"/>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 name="Google Shape;73;p4"/>
            <p:cNvGrpSpPr/>
            <p:nvPr/>
          </p:nvGrpSpPr>
          <p:grpSpPr>
            <a:xfrm>
              <a:off x="10572463" y="3657790"/>
              <a:ext cx="438817" cy="746569"/>
              <a:chOff x="10572463" y="3657790"/>
              <a:chExt cx="438817" cy="746569"/>
            </a:xfrm>
          </p:grpSpPr>
          <p:sp>
            <p:nvSpPr>
              <p:cNvPr id="74" name="Google Shape;74;p4"/>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5" name="Google Shape;75;p4"/>
              <p:cNvGrpSpPr/>
              <p:nvPr/>
            </p:nvGrpSpPr>
            <p:grpSpPr>
              <a:xfrm>
                <a:off x="10635138" y="3754469"/>
                <a:ext cx="313848" cy="288321"/>
                <a:chOff x="10635138" y="3754469"/>
                <a:chExt cx="313848" cy="288321"/>
              </a:xfrm>
            </p:grpSpPr>
            <p:sp>
              <p:nvSpPr>
                <p:cNvPr id="76" name="Google Shape;76;p4"/>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4"/>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4"/>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4"/>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4"/>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4"/>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 name="Google Shape;82;p4"/>
              <p:cNvGrpSpPr/>
              <p:nvPr/>
            </p:nvGrpSpPr>
            <p:grpSpPr>
              <a:xfrm>
                <a:off x="10635138" y="4128801"/>
                <a:ext cx="313848" cy="181547"/>
                <a:chOff x="10635138" y="4128801"/>
                <a:chExt cx="313848" cy="181547"/>
              </a:xfrm>
            </p:grpSpPr>
            <p:sp>
              <p:nvSpPr>
                <p:cNvPr id="83" name="Google Shape;83;p4"/>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4"/>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4"/>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4"/>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7" name="Google Shape;87;p4"/>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8" name="Google Shape;88;p4"/>
          <p:cNvGrpSpPr/>
          <p:nvPr/>
        </p:nvGrpSpPr>
        <p:grpSpPr>
          <a:xfrm flipH="1">
            <a:off x="8768853" y="1439765"/>
            <a:ext cx="22030" cy="294484"/>
            <a:chOff x="10809827" y="4402455"/>
            <a:chExt cx="24764" cy="330993"/>
          </a:xfrm>
        </p:grpSpPr>
        <p:sp>
          <p:nvSpPr>
            <p:cNvPr id="89" name="Google Shape;89;p4"/>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4"/>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4"/>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2" name="Google Shape;92;p4"/>
          <p:cNvSpPr/>
          <p:nvPr/>
        </p:nvSpPr>
        <p:spPr>
          <a:xfrm rot="8662747" flipH="1">
            <a:off x="7370974" y="4168319"/>
            <a:ext cx="2746019" cy="192168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93;p4"/>
          <p:cNvGrpSpPr/>
          <p:nvPr/>
        </p:nvGrpSpPr>
        <p:grpSpPr>
          <a:xfrm flipH="1">
            <a:off x="122956" y="4228558"/>
            <a:ext cx="829992" cy="750888"/>
            <a:chOff x="8114596" y="445039"/>
            <a:chExt cx="633002" cy="572716"/>
          </a:xfrm>
        </p:grpSpPr>
        <p:grpSp>
          <p:nvGrpSpPr>
            <p:cNvPr id="94" name="Google Shape;94;p4"/>
            <p:cNvGrpSpPr/>
            <p:nvPr/>
          </p:nvGrpSpPr>
          <p:grpSpPr>
            <a:xfrm>
              <a:off x="8114596" y="445039"/>
              <a:ext cx="633002" cy="572716"/>
              <a:chOff x="7189660" y="520827"/>
              <a:chExt cx="598074" cy="541115"/>
            </a:xfrm>
          </p:grpSpPr>
          <p:sp>
            <p:nvSpPr>
              <p:cNvPr id="95" name="Google Shape;95;p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6" name="Google Shape;96;p4"/>
              <p:cNvGrpSpPr/>
              <p:nvPr/>
            </p:nvGrpSpPr>
            <p:grpSpPr>
              <a:xfrm>
                <a:off x="7579137" y="551973"/>
                <a:ext cx="164782" cy="41529"/>
                <a:chOff x="7579137" y="551973"/>
                <a:chExt cx="164782" cy="41529"/>
              </a:xfrm>
            </p:grpSpPr>
            <p:sp>
              <p:nvSpPr>
                <p:cNvPr id="97" name="Google Shape;97;p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0" name="Google Shape;100;p4"/>
            <p:cNvGrpSpPr/>
            <p:nvPr/>
          </p:nvGrpSpPr>
          <p:grpSpPr>
            <a:xfrm>
              <a:off x="8184962" y="619646"/>
              <a:ext cx="498115" cy="257273"/>
              <a:chOff x="7256144" y="685800"/>
              <a:chExt cx="470630" cy="243077"/>
            </a:xfrm>
          </p:grpSpPr>
          <p:sp>
            <p:nvSpPr>
              <p:cNvPr id="101" name="Google Shape;101;p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2" name="Google Shape;102;p4"/>
              <p:cNvGrpSpPr/>
              <p:nvPr/>
            </p:nvGrpSpPr>
            <p:grpSpPr>
              <a:xfrm>
                <a:off x="7512843" y="685800"/>
                <a:ext cx="213931" cy="243077"/>
                <a:chOff x="7512843" y="685800"/>
                <a:chExt cx="213931" cy="243077"/>
              </a:xfrm>
            </p:grpSpPr>
            <p:grpSp>
              <p:nvGrpSpPr>
                <p:cNvPr id="103" name="Google Shape;103;p4"/>
                <p:cNvGrpSpPr/>
                <p:nvPr/>
              </p:nvGrpSpPr>
              <p:grpSpPr>
                <a:xfrm>
                  <a:off x="7512843" y="836580"/>
                  <a:ext cx="213931" cy="92297"/>
                  <a:chOff x="7512843" y="836580"/>
                  <a:chExt cx="213931" cy="92297"/>
                </a:xfrm>
              </p:grpSpPr>
              <p:sp>
                <p:nvSpPr>
                  <p:cNvPr id="104" name="Google Shape;104;p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 name="Google Shape;105;p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6" name="Google Shape;106;p4"/>
                <p:cNvGrpSpPr/>
                <p:nvPr/>
              </p:nvGrpSpPr>
              <p:grpSpPr>
                <a:xfrm>
                  <a:off x="7512843" y="761238"/>
                  <a:ext cx="213931" cy="92296"/>
                  <a:chOff x="7512843" y="761238"/>
                  <a:chExt cx="213931" cy="92296"/>
                </a:xfrm>
              </p:grpSpPr>
              <p:sp>
                <p:nvSpPr>
                  <p:cNvPr id="107" name="Google Shape;107;p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 name="Google Shape;108;p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9" name="Google Shape;109;p4"/>
                <p:cNvGrpSpPr/>
                <p:nvPr/>
              </p:nvGrpSpPr>
              <p:grpSpPr>
                <a:xfrm>
                  <a:off x="7512843" y="685800"/>
                  <a:ext cx="213931" cy="92297"/>
                  <a:chOff x="7512843" y="685800"/>
                  <a:chExt cx="213931" cy="92297"/>
                </a:xfrm>
              </p:grpSpPr>
              <p:sp>
                <p:nvSpPr>
                  <p:cNvPr id="110" name="Google Shape;110;p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3" name="Google Shape;123;p6"/>
          <p:cNvSpPr/>
          <p:nvPr/>
        </p:nvSpPr>
        <p:spPr>
          <a:xfrm rot="-9076707">
            <a:off x="85462" y="-755109"/>
            <a:ext cx="1683799" cy="1313891"/>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6"/>
          <p:cNvGrpSpPr/>
          <p:nvPr/>
        </p:nvGrpSpPr>
        <p:grpSpPr>
          <a:xfrm>
            <a:off x="6779278" y="192982"/>
            <a:ext cx="2107998" cy="297419"/>
            <a:chOff x="6108096" y="3265836"/>
            <a:chExt cx="1633727" cy="230504"/>
          </a:xfrm>
        </p:grpSpPr>
        <p:sp>
          <p:nvSpPr>
            <p:cNvPr id="125" name="Google Shape;125;p6"/>
            <p:cNvSpPr/>
            <p:nvPr/>
          </p:nvSpPr>
          <p:spPr>
            <a:xfrm>
              <a:off x="6108096" y="3265836"/>
              <a:ext cx="1633727" cy="230504"/>
            </a:xfrm>
            <a:custGeom>
              <a:avLst/>
              <a:gdLst/>
              <a:ahLst/>
              <a:cxnLst/>
              <a:rect l="l" t="t" r="r" b="b"/>
              <a:pathLst>
                <a:path w="1633727" h="230504" extrusionOk="0">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6"/>
            <p:cNvSpPr/>
            <p:nvPr/>
          </p:nvSpPr>
          <p:spPr>
            <a:xfrm>
              <a:off x="7528381" y="3292292"/>
              <a:ext cx="166485" cy="165854"/>
            </a:xfrm>
            <a:custGeom>
              <a:avLst/>
              <a:gdLst/>
              <a:ahLst/>
              <a:cxnLst/>
              <a:rect l="l" t="t" r="r" b="b"/>
              <a:pathLst>
                <a:path w="166485" h="165854" extrusionOk="0">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6"/>
            <p:cNvSpPr/>
            <p:nvPr/>
          </p:nvSpPr>
          <p:spPr>
            <a:xfrm>
              <a:off x="7475124" y="3290220"/>
              <a:ext cx="7620" cy="174307"/>
            </a:xfrm>
            <a:custGeom>
              <a:avLst/>
              <a:gdLst/>
              <a:ahLst/>
              <a:cxnLst/>
              <a:rect l="l" t="t" r="r" b="b"/>
              <a:pathLst>
                <a:path w="7620" h="174307" extrusionOk="0">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8" name="Google Shape;128;p6"/>
          <p:cNvSpPr/>
          <p:nvPr/>
        </p:nvSpPr>
        <p:spPr>
          <a:xfrm rot="532502" flipH="1">
            <a:off x="-514115" y="4385276"/>
            <a:ext cx="1514959" cy="122499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6"/>
          <p:cNvGrpSpPr/>
          <p:nvPr/>
        </p:nvGrpSpPr>
        <p:grpSpPr>
          <a:xfrm>
            <a:off x="-148774" y="4544215"/>
            <a:ext cx="784225" cy="584398"/>
            <a:chOff x="1914620" y="1930431"/>
            <a:chExt cx="572929" cy="426911"/>
          </a:xfrm>
        </p:grpSpPr>
        <p:grpSp>
          <p:nvGrpSpPr>
            <p:cNvPr id="130" name="Google Shape;130;p6"/>
            <p:cNvGrpSpPr/>
            <p:nvPr/>
          </p:nvGrpSpPr>
          <p:grpSpPr>
            <a:xfrm>
              <a:off x="1914620" y="1930431"/>
              <a:ext cx="572929" cy="426911"/>
              <a:chOff x="1914620" y="1930431"/>
              <a:chExt cx="572929" cy="426911"/>
            </a:xfrm>
          </p:grpSpPr>
          <p:sp>
            <p:nvSpPr>
              <p:cNvPr id="131" name="Google Shape;131;p6"/>
              <p:cNvSpPr/>
              <p:nvPr/>
            </p:nvSpPr>
            <p:spPr>
              <a:xfrm>
                <a:off x="2042160" y="1930431"/>
                <a:ext cx="445389" cy="299466"/>
              </a:xfrm>
              <a:custGeom>
                <a:avLst/>
                <a:gdLst/>
                <a:ahLst/>
                <a:cxnLst/>
                <a:rect l="l" t="t" r="r" b="b"/>
                <a:pathLst>
                  <a:path w="445389" h="299466" extrusionOk="0">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6"/>
              <p:cNvSpPr/>
              <p:nvPr/>
            </p:nvSpPr>
            <p:spPr>
              <a:xfrm>
                <a:off x="1978342" y="1994058"/>
                <a:ext cx="445389" cy="299465"/>
              </a:xfrm>
              <a:custGeom>
                <a:avLst/>
                <a:gdLst/>
                <a:ahLst/>
                <a:cxnLst/>
                <a:rect l="l" t="t" r="r" b="b"/>
                <a:pathLst>
                  <a:path w="445389" h="299465"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6"/>
              <p:cNvSpPr/>
              <p:nvPr/>
            </p:nvSpPr>
            <p:spPr>
              <a:xfrm>
                <a:off x="1914620" y="2057876"/>
                <a:ext cx="445389" cy="299466"/>
              </a:xfrm>
              <a:custGeom>
                <a:avLst/>
                <a:gdLst/>
                <a:ahLst/>
                <a:cxnLst/>
                <a:rect l="l" t="t" r="r" b="b"/>
                <a:pathLst>
                  <a:path w="445389" h="299466"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4" name="Google Shape;134;p6"/>
            <p:cNvSpPr/>
            <p:nvPr/>
          </p:nvSpPr>
          <p:spPr>
            <a:xfrm>
              <a:off x="2024157" y="2180272"/>
              <a:ext cx="222980" cy="101917"/>
            </a:xfrm>
            <a:custGeom>
              <a:avLst/>
              <a:gdLst/>
              <a:ahLst/>
              <a:cxnLst/>
              <a:rect l="l" t="t" r="r" b="b"/>
              <a:pathLst>
                <a:path w="222980" h="101917" extrusionOk="0">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5" name="Google Shape;135;p6"/>
          <p:cNvSpPr/>
          <p:nvPr/>
        </p:nvSpPr>
        <p:spPr>
          <a:xfrm rot="5844200">
            <a:off x="8030548" y="2339312"/>
            <a:ext cx="2404301" cy="131859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5668975" y="1076550"/>
            <a:ext cx="2990400" cy="2990400"/>
          </a:xfrm>
          <a:prstGeom prst="roundRect">
            <a:avLst>
              <a:gd name="adj" fmla="val 16667"/>
            </a:avLst>
          </a:prstGeom>
          <a:noFill/>
          <a:ln>
            <a:noFill/>
          </a:ln>
        </p:spPr>
      </p:sp>
      <p:sp>
        <p:nvSpPr>
          <p:cNvPr id="140" name="Google Shape;140;p7"/>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7"/>
          <p:cNvGrpSpPr/>
          <p:nvPr/>
        </p:nvGrpSpPr>
        <p:grpSpPr>
          <a:xfrm>
            <a:off x="65066" y="4373044"/>
            <a:ext cx="878158" cy="654532"/>
            <a:chOff x="1114425" y="4361211"/>
            <a:chExt cx="573023" cy="427101"/>
          </a:xfrm>
        </p:grpSpPr>
        <p:grpSp>
          <p:nvGrpSpPr>
            <p:cNvPr id="143" name="Google Shape;143;p7"/>
            <p:cNvGrpSpPr/>
            <p:nvPr/>
          </p:nvGrpSpPr>
          <p:grpSpPr>
            <a:xfrm>
              <a:off x="1114425" y="4361211"/>
              <a:ext cx="573023" cy="427101"/>
              <a:chOff x="1114425" y="4361211"/>
              <a:chExt cx="573023" cy="427101"/>
            </a:xfrm>
          </p:grpSpPr>
          <p:sp>
            <p:nvSpPr>
              <p:cNvPr id="144" name="Google Shape;144;p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7" name="Google Shape;147;p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50" name="Google Shape;150;p8"/>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55" name="Google Shape;15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9"/>
          <p:cNvSpPr/>
          <p:nvPr/>
        </p:nvSpPr>
        <p:spPr>
          <a:xfrm rot="3263452">
            <a:off x="-163955"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460623">
            <a:off x="-1793263"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rot="4592047">
            <a:off x="7797256" y="593203"/>
            <a:ext cx="1475158" cy="11928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2" name="Google Shape;242;p13"/>
          <p:cNvSpPr txBox="1">
            <a:spLocks noGrp="1"/>
          </p:cNvSpPr>
          <p:nvPr>
            <p:ph type="title" idx="2" hasCustomPrompt="1"/>
          </p:nvPr>
        </p:nvSpPr>
        <p:spPr>
          <a:xfrm>
            <a:off x="110097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3" name="Google Shape;243;p13"/>
          <p:cNvSpPr txBox="1">
            <a:spLocks noGrp="1"/>
          </p:cNvSpPr>
          <p:nvPr>
            <p:ph type="title" idx="3" hasCustomPrompt="1"/>
          </p:nvPr>
        </p:nvSpPr>
        <p:spPr>
          <a:xfrm>
            <a:off x="110097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4" name="Google Shape;244;p13"/>
          <p:cNvSpPr txBox="1">
            <a:spLocks noGrp="1"/>
          </p:cNvSpPr>
          <p:nvPr>
            <p:ph type="title" idx="4" hasCustomPrompt="1"/>
          </p:nvPr>
        </p:nvSpPr>
        <p:spPr>
          <a:xfrm>
            <a:off x="3419250"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5" name="Google Shape;245;p13"/>
          <p:cNvSpPr txBox="1">
            <a:spLocks noGrp="1"/>
          </p:cNvSpPr>
          <p:nvPr>
            <p:ph type="title" idx="5" hasCustomPrompt="1"/>
          </p:nvPr>
        </p:nvSpPr>
        <p:spPr>
          <a:xfrm>
            <a:off x="3419250"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6" name="Google Shape;246;p13"/>
          <p:cNvSpPr txBox="1">
            <a:spLocks noGrp="1"/>
          </p:cNvSpPr>
          <p:nvPr>
            <p:ph type="title" idx="6" hasCustomPrompt="1"/>
          </p:nvPr>
        </p:nvSpPr>
        <p:spPr>
          <a:xfrm>
            <a:off x="573752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7" name="Google Shape;247;p13"/>
          <p:cNvSpPr txBox="1">
            <a:spLocks noGrp="1"/>
          </p:cNvSpPr>
          <p:nvPr>
            <p:ph type="title" idx="7" hasCustomPrompt="1"/>
          </p:nvPr>
        </p:nvSpPr>
        <p:spPr>
          <a:xfrm>
            <a:off x="573752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8" name="Google Shape;248;p13"/>
          <p:cNvSpPr txBox="1">
            <a:spLocks noGrp="1"/>
          </p:cNvSpPr>
          <p:nvPr>
            <p:ph type="subTitle" idx="1"/>
          </p:nvPr>
        </p:nvSpPr>
        <p:spPr>
          <a:xfrm>
            <a:off x="110097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49" name="Google Shape;249;p13"/>
          <p:cNvSpPr txBox="1">
            <a:spLocks noGrp="1"/>
          </p:cNvSpPr>
          <p:nvPr>
            <p:ph type="subTitle" idx="8"/>
          </p:nvPr>
        </p:nvSpPr>
        <p:spPr>
          <a:xfrm>
            <a:off x="3419250"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0" name="Google Shape;250;p13"/>
          <p:cNvSpPr txBox="1">
            <a:spLocks noGrp="1"/>
          </p:cNvSpPr>
          <p:nvPr>
            <p:ph type="subTitle" idx="9"/>
          </p:nvPr>
        </p:nvSpPr>
        <p:spPr>
          <a:xfrm>
            <a:off x="573752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1" name="Google Shape;251;p13"/>
          <p:cNvSpPr txBox="1">
            <a:spLocks noGrp="1"/>
          </p:cNvSpPr>
          <p:nvPr>
            <p:ph type="subTitle" idx="13"/>
          </p:nvPr>
        </p:nvSpPr>
        <p:spPr>
          <a:xfrm>
            <a:off x="110097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2" name="Google Shape;252;p13"/>
          <p:cNvSpPr txBox="1">
            <a:spLocks noGrp="1"/>
          </p:cNvSpPr>
          <p:nvPr>
            <p:ph type="subTitle" idx="14"/>
          </p:nvPr>
        </p:nvSpPr>
        <p:spPr>
          <a:xfrm>
            <a:off x="3419250"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3" name="Google Shape;253;p13"/>
          <p:cNvSpPr txBox="1">
            <a:spLocks noGrp="1"/>
          </p:cNvSpPr>
          <p:nvPr>
            <p:ph type="subTitle" idx="15"/>
          </p:nvPr>
        </p:nvSpPr>
        <p:spPr>
          <a:xfrm>
            <a:off x="573752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4" name="Google Shape;254;p13"/>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256;p13"/>
          <p:cNvGrpSpPr/>
          <p:nvPr/>
        </p:nvGrpSpPr>
        <p:grpSpPr>
          <a:xfrm>
            <a:off x="8114970" y="266839"/>
            <a:ext cx="829992" cy="750888"/>
            <a:chOff x="8114596" y="445039"/>
            <a:chExt cx="633002" cy="572716"/>
          </a:xfrm>
        </p:grpSpPr>
        <p:grpSp>
          <p:nvGrpSpPr>
            <p:cNvPr id="257" name="Google Shape;257;p13"/>
            <p:cNvGrpSpPr/>
            <p:nvPr/>
          </p:nvGrpSpPr>
          <p:grpSpPr>
            <a:xfrm>
              <a:off x="8114596" y="445039"/>
              <a:ext cx="633002" cy="572716"/>
              <a:chOff x="7189660" y="520827"/>
              <a:chExt cx="598074" cy="541115"/>
            </a:xfrm>
          </p:grpSpPr>
          <p:sp>
            <p:nvSpPr>
              <p:cNvPr id="258" name="Google Shape;258;p13"/>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59" name="Google Shape;259;p13"/>
              <p:cNvGrpSpPr/>
              <p:nvPr/>
            </p:nvGrpSpPr>
            <p:grpSpPr>
              <a:xfrm>
                <a:off x="7579137" y="551973"/>
                <a:ext cx="164782" cy="41529"/>
                <a:chOff x="7579137" y="551973"/>
                <a:chExt cx="164782" cy="41529"/>
              </a:xfrm>
            </p:grpSpPr>
            <p:sp>
              <p:nvSpPr>
                <p:cNvPr id="260" name="Google Shape;260;p13"/>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13"/>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3"/>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63" name="Google Shape;263;p13"/>
            <p:cNvGrpSpPr/>
            <p:nvPr/>
          </p:nvGrpSpPr>
          <p:grpSpPr>
            <a:xfrm>
              <a:off x="8184962" y="619646"/>
              <a:ext cx="498115" cy="257273"/>
              <a:chOff x="7256144" y="685800"/>
              <a:chExt cx="470630" cy="243077"/>
            </a:xfrm>
          </p:grpSpPr>
          <p:sp>
            <p:nvSpPr>
              <p:cNvPr id="264" name="Google Shape;264;p13"/>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65" name="Google Shape;265;p13"/>
              <p:cNvGrpSpPr/>
              <p:nvPr/>
            </p:nvGrpSpPr>
            <p:grpSpPr>
              <a:xfrm>
                <a:off x="7512843" y="685800"/>
                <a:ext cx="213931" cy="243077"/>
                <a:chOff x="7512843" y="685800"/>
                <a:chExt cx="213931" cy="243077"/>
              </a:xfrm>
            </p:grpSpPr>
            <p:grpSp>
              <p:nvGrpSpPr>
                <p:cNvPr id="266" name="Google Shape;266;p13"/>
                <p:cNvGrpSpPr/>
                <p:nvPr/>
              </p:nvGrpSpPr>
              <p:grpSpPr>
                <a:xfrm>
                  <a:off x="7512843" y="836580"/>
                  <a:ext cx="213931" cy="92297"/>
                  <a:chOff x="7512843" y="836580"/>
                  <a:chExt cx="213931" cy="92297"/>
                </a:xfrm>
              </p:grpSpPr>
              <p:sp>
                <p:nvSpPr>
                  <p:cNvPr id="267" name="Google Shape;267;p13"/>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3"/>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9" name="Google Shape;269;p13"/>
                <p:cNvGrpSpPr/>
                <p:nvPr/>
              </p:nvGrpSpPr>
              <p:grpSpPr>
                <a:xfrm>
                  <a:off x="7512843" y="761238"/>
                  <a:ext cx="213931" cy="92296"/>
                  <a:chOff x="7512843" y="761238"/>
                  <a:chExt cx="213931" cy="92296"/>
                </a:xfrm>
              </p:grpSpPr>
              <p:sp>
                <p:nvSpPr>
                  <p:cNvPr id="270" name="Google Shape;270;p13"/>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13"/>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72" name="Google Shape;272;p13"/>
                <p:cNvGrpSpPr/>
                <p:nvPr/>
              </p:nvGrpSpPr>
              <p:grpSpPr>
                <a:xfrm>
                  <a:off x="7512843" y="685800"/>
                  <a:ext cx="213931" cy="92297"/>
                  <a:chOff x="7512843" y="685800"/>
                  <a:chExt cx="213931" cy="92297"/>
                </a:xfrm>
              </p:grpSpPr>
              <p:sp>
                <p:nvSpPr>
                  <p:cNvPr id="273" name="Google Shape;273;p13"/>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13"/>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
        <p:nvSpPr>
          <p:cNvPr id="275" name="Google Shape;275;p13"/>
          <p:cNvSpPr/>
          <p:nvPr/>
        </p:nvSpPr>
        <p:spPr>
          <a:xfrm>
            <a:off x="62832" y="4828541"/>
            <a:ext cx="734045" cy="45268"/>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76" name="Google Shape;276;p13"/>
          <p:cNvGrpSpPr/>
          <p:nvPr/>
        </p:nvGrpSpPr>
        <p:grpSpPr>
          <a:xfrm>
            <a:off x="103395" y="3891186"/>
            <a:ext cx="668783" cy="959747"/>
            <a:chOff x="10519314" y="4728596"/>
            <a:chExt cx="751780" cy="1078731"/>
          </a:xfrm>
        </p:grpSpPr>
        <p:grpSp>
          <p:nvGrpSpPr>
            <p:cNvPr id="277" name="Google Shape;277;p13"/>
            <p:cNvGrpSpPr/>
            <p:nvPr/>
          </p:nvGrpSpPr>
          <p:grpSpPr>
            <a:xfrm>
              <a:off x="10519314" y="4728596"/>
              <a:ext cx="626662" cy="1078731"/>
              <a:chOff x="10519314" y="4728596"/>
              <a:chExt cx="626662" cy="1078731"/>
            </a:xfrm>
          </p:grpSpPr>
          <p:grpSp>
            <p:nvGrpSpPr>
              <p:cNvPr id="278" name="Google Shape;278;p13"/>
              <p:cNvGrpSpPr/>
              <p:nvPr/>
            </p:nvGrpSpPr>
            <p:grpSpPr>
              <a:xfrm>
                <a:off x="10903220" y="4888205"/>
                <a:ext cx="242756" cy="919122"/>
                <a:chOff x="10903220" y="4888205"/>
                <a:chExt cx="242756" cy="919122"/>
              </a:xfrm>
            </p:grpSpPr>
            <p:sp>
              <p:nvSpPr>
                <p:cNvPr id="279" name="Google Shape;279;p13"/>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13"/>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13"/>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82" name="Google Shape;282;p13"/>
                <p:cNvGrpSpPr/>
                <p:nvPr/>
              </p:nvGrpSpPr>
              <p:grpSpPr>
                <a:xfrm>
                  <a:off x="11014221" y="5588618"/>
                  <a:ext cx="100021" cy="114784"/>
                  <a:chOff x="11014221" y="5588618"/>
                  <a:chExt cx="100021" cy="114784"/>
                </a:xfrm>
              </p:grpSpPr>
              <p:sp>
                <p:nvSpPr>
                  <p:cNvPr id="283" name="Google Shape;283;p13"/>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13"/>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13"/>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13"/>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87" name="Google Shape;287;p13"/>
              <p:cNvGrpSpPr/>
              <p:nvPr/>
            </p:nvGrpSpPr>
            <p:grpSpPr>
              <a:xfrm>
                <a:off x="10718623" y="4728596"/>
                <a:ext cx="229169" cy="1075979"/>
                <a:chOff x="10718623" y="4728596"/>
                <a:chExt cx="229169" cy="1075979"/>
              </a:xfrm>
            </p:grpSpPr>
            <p:sp>
              <p:nvSpPr>
                <p:cNvPr id="288" name="Google Shape;288;p13"/>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13"/>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0" name="Google Shape;290;p13"/>
                <p:cNvGrpSpPr/>
                <p:nvPr/>
              </p:nvGrpSpPr>
              <p:grpSpPr>
                <a:xfrm>
                  <a:off x="10765015" y="5040134"/>
                  <a:ext cx="116314" cy="49775"/>
                  <a:chOff x="10765015" y="5040134"/>
                  <a:chExt cx="116314" cy="49775"/>
                </a:xfrm>
              </p:grpSpPr>
              <p:sp>
                <p:nvSpPr>
                  <p:cNvPr id="291" name="Google Shape;291;p13"/>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13"/>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3" name="Google Shape;293;p13"/>
                <p:cNvGrpSpPr/>
                <p:nvPr/>
              </p:nvGrpSpPr>
              <p:grpSpPr>
                <a:xfrm>
                  <a:off x="10784825" y="5436314"/>
                  <a:ext cx="116414" cy="49961"/>
                  <a:chOff x="10784825" y="5436314"/>
                  <a:chExt cx="116414" cy="49961"/>
                </a:xfrm>
              </p:grpSpPr>
              <p:sp>
                <p:nvSpPr>
                  <p:cNvPr id="294" name="Google Shape;294;p13"/>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13"/>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96" name="Google Shape;296;p13"/>
              <p:cNvGrpSpPr/>
              <p:nvPr/>
            </p:nvGrpSpPr>
            <p:grpSpPr>
              <a:xfrm>
                <a:off x="10519314" y="4813458"/>
                <a:ext cx="202120" cy="992123"/>
                <a:chOff x="10519314" y="4813458"/>
                <a:chExt cx="202120" cy="992123"/>
              </a:xfrm>
            </p:grpSpPr>
            <p:sp>
              <p:nvSpPr>
                <p:cNvPr id="297" name="Google Shape;297;p13"/>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3"/>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9" name="Google Shape;299;p13"/>
                <p:cNvGrpSpPr/>
                <p:nvPr/>
              </p:nvGrpSpPr>
              <p:grpSpPr>
                <a:xfrm>
                  <a:off x="10556176" y="5465730"/>
                  <a:ext cx="128397" cy="44196"/>
                  <a:chOff x="10556176" y="5465730"/>
                  <a:chExt cx="128397" cy="44196"/>
                </a:xfrm>
              </p:grpSpPr>
              <p:sp>
                <p:nvSpPr>
                  <p:cNvPr id="300" name="Google Shape;300;p13"/>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13"/>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 name="Google Shape;302;p13"/>
                <p:cNvGrpSpPr/>
                <p:nvPr/>
              </p:nvGrpSpPr>
              <p:grpSpPr>
                <a:xfrm>
                  <a:off x="10556176" y="5689187"/>
                  <a:ext cx="128397" cy="44196"/>
                  <a:chOff x="10556176" y="5689187"/>
                  <a:chExt cx="128397" cy="44196"/>
                </a:xfrm>
              </p:grpSpPr>
              <p:sp>
                <p:nvSpPr>
                  <p:cNvPr id="303" name="Google Shape;303;p13"/>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13"/>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05" name="Google Shape;305;p13"/>
            <p:cNvGrpSpPr/>
            <p:nvPr/>
          </p:nvGrpSpPr>
          <p:grpSpPr>
            <a:xfrm>
              <a:off x="11058042" y="5088325"/>
              <a:ext cx="213052" cy="717953"/>
              <a:chOff x="11058042" y="5088325"/>
              <a:chExt cx="213052" cy="717953"/>
            </a:xfrm>
          </p:grpSpPr>
          <p:sp>
            <p:nvSpPr>
              <p:cNvPr id="306" name="Google Shape;306;p13"/>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13"/>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08" name="Google Shape;308;p13"/>
          <p:cNvGrpSpPr/>
          <p:nvPr/>
        </p:nvGrpSpPr>
        <p:grpSpPr>
          <a:xfrm>
            <a:off x="150676" y="2823493"/>
            <a:ext cx="516117" cy="779220"/>
            <a:chOff x="10572463" y="3528536"/>
            <a:chExt cx="580168" cy="875823"/>
          </a:xfrm>
        </p:grpSpPr>
        <p:grpSp>
          <p:nvGrpSpPr>
            <p:cNvPr id="309" name="Google Shape;309;p13"/>
            <p:cNvGrpSpPr/>
            <p:nvPr/>
          </p:nvGrpSpPr>
          <p:grpSpPr>
            <a:xfrm>
              <a:off x="10713815" y="3528536"/>
              <a:ext cx="438816" cy="746664"/>
              <a:chOff x="10713815" y="3528536"/>
              <a:chExt cx="438816" cy="746664"/>
            </a:xfrm>
          </p:grpSpPr>
          <p:sp>
            <p:nvSpPr>
              <p:cNvPr id="310" name="Google Shape;310;p13"/>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1" name="Google Shape;311;p13"/>
              <p:cNvGrpSpPr/>
              <p:nvPr/>
            </p:nvGrpSpPr>
            <p:grpSpPr>
              <a:xfrm>
                <a:off x="10776489" y="3625310"/>
                <a:ext cx="313848" cy="288226"/>
                <a:chOff x="10776489" y="3625310"/>
                <a:chExt cx="313848" cy="288226"/>
              </a:xfrm>
            </p:grpSpPr>
            <p:sp>
              <p:nvSpPr>
                <p:cNvPr id="312" name="Google Shape;312;p13"/>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13"/>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13"/>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13"/>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13"/>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13"/>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 name="Google Shape;318;p13"/>
              <p:cNvGrpSpPr/>
              <p:nvPr/>
            </p:nvGrpSpPr>
            <p:grpSpPr>
              <a:xfrm>
                <a:off x="10776489" y="3999547"/>
                <a:ext cx="313848" cy="181546"/>
                <a:chOff x="10776489" y="3999547"/>
                <a:chExt cx="313848" cy="181546"/>
              </a:xfrm>
            </p:grpSpPr>
            <p:sp>
              <p:nvSpPr>
                <p:cNvPr id="319" name="Google Shape;319;p13"/>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13"/>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13"/>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13"/>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3" name="Google Shape;323;p13"/>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4" name="Google Shape;324;p13"/>
            <p:cNvGrpSpPr/>
            <p:nvPr/>
          </p:nvGrpSpPr>
          <p:grpSpPr>
            <a:xfrm>
              <a:off x="10572463" y="3657790"/>
              <a:ext cx="438817" cy="746569"/>
              <a:chOff x="10572463" y="3657790"/>
              <a:chExt cx="438817" cy="746569"/>
            </a:xfrm>
          </p:grpSpPr>
          <p:sp>
            <p:nvSpPr>
              <p:cNvPr id="325" name="Google Shape;325;p13"/>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6" name="Google Shape;326;p13"/>
              <p:cNvGrpSpPr/>
              <p:nvPr/>
            </p:nvGrpSpPr>
            <p:grpSpPr>
              <a:xfrm>
                <a:off x="10635138" y="3754469"/>
                <a:ext cx="313848" cy="288321"/>
                <a:chOff x="10635138" y="3754469"/>
                <a:chExt cx="313848" cy="288321"/>
              </a:xfrm>
            </p:grpSpPr>
            <p:sp>
              <p:nvSpPr>
                <p:cNvPr id="327" name="Google Shape;327;p13"/>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13"/>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13"/>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13"/>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13"/>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13"/>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3" name="Google Shape;333;p13"/>
              <p:cNvGrpSpPr/>
              <p:nvPr/>
            </p:nvGrpSpPr>
            <p:grpSpPr>
              <a:xfrm>
                <a:off x="10635138" y="4128801"/>
                <a:ext cx="313848" cy="181547"/>
                <a:chOff x="10635138" y="4128801"/>
                <a:chExt cx="313848" cy="181547"/>
              </a:xfrm>
            </p:grpSpPr>
            <p:sp>
              <p:nvSpPr>
                <p:cNvPr id="334" name="Google Shape;334;p13"/>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13"/>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13"/>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13"/>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38" name="Google Shape;338;p13"/>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39" name="Google Shape;339;p13"/>
          <p:cNvGrpSpPr/>
          <p:nvPr/>
        </p:nvGrpSpPr>
        <p:grpSpPr>
          <a:xfrm>
            <a:off x="361835" y="3601018"/>
            <a:ext cx="22030" cy="294484"/>
            <a:chOff x="10809827" y="4402455"/>
            <a:chExt cx="24764" cy="330993"/>
          </a:xfrm>
        </p:grpSpPr>
        <p:sp>
          <p:nvSpPr>
            <p:cNvPr id="340" name="Google Shape;340;p13"/>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13"/>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13"/>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355"/>
        <p:cNvGrpSpPr/>
        <p:nvPr/>
      </p:nvGrpSpPr>
      <p:grpSpPr>
        <a:xfrm>
          <a:off x="0" y="0"/>
          <a:ext cx="0" cy="0"/>
          <a:chOff x="0" y="0"/>
          <a:chExt cx="0" cy="0"/>
        </a:xfrm>
      </p:grpSpPr>
      <p:sp>
        <p:nvSpPr>
          <p:cNvPr id="356" name="Google Shape;356;p15"/>
          <p:cNvSpPr txBox="1">
            <a:spLocks noGrp="1"/>
          </p:cNvSpPr>
          <p:nvPr>
            <p:ph type="title"/>
          </p:nvPr>
        </p:nvSpPr>
        <p:spPr>
          <a:xfrm>
            <a:off x="2013850" y="841075"/>
            <a:ext cx="5116200" cy="13905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57" name="Google Shape;357;p15"/>
          <p:cNvSpPr txBox="1">
            <a:spLocks noGrp="1"/>
          </p:cNvSpPr>
          <p:nvPr>
            <p:ph type="subTitle" idx="1"/>
          </p:nvPr>
        </p:nvSpPr>
        <p:spPr>
          <a:xfrm>
            <a:off x="2013850" y="2231525"/>
            <a:ext cx="5116200" cy="2070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358" name="Google Shape;358;p15"/>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15"/>
          <p:cNvGrpSpPr/>
          <p:nvPr/>
        </p:nvGrpSpPr>
        <p:grpSpPr>
          <a:xfrm flipH="1">
            <a:off x="683048" y="4696520"/>
            <a:ext cx="325927" cy="404808"/>
            <a:chOff x="7385113" y="1535430"/>
            <a:chExt cx="435673" cy="541115"/>
          </a:xfrm>
        </p:grpSpPr>
        <p:sp>
          <p:nvSpPr>
            <p:cNvPr id="360" name="Google Shape;360;p15"/>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61" name="Google Shape;361;p15"/>
            <p:cNvGrpSpPr/>
            <p:nvPr/>
          </p:nvGrpSpPr>
          <p:grpSpPr>
            <a:xfrm>
              <a:off x="7612094" y="1566576"/>
              <a:ext cx="164781" cy="41529"/>
              <a:chOff x="7612094" y="1566576"/>
              <a:chExt cx="164781" cy="41529"/>
            </a:xfrm>
          </p:grpSpPr>
          <p:sp>
            <p:nvSpPr>
              <p:cNvPr id="362" name="Google Shape;362;p15"/>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3" name="Google Shape;363;p15"/>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15"/>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65" name="Google Shape;365;p15"/>
          <p:cNvGrpSpPr/>
          <p:nvPr/>
        </p:nvGrpSpPr>
        <p:grpSpPr>
          <a:xfrm flipH="1">
            <a:off x="713902" y="4774546"/>
            <a:ext cx="268636" cy="280965"/>
            <a:chOff x="7420451" y="1639728"/>
            <a:chExt cx="359091" cy="375571"/>
          </a:xfrm>
        </p:grpSpPr>
        <p:sp>
          <p:nvSpPr>
            <p:cNvPr id="366" name="Google Shape;366;p15"/>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7" name="Google Shape;367;p15"/>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8" name="Google Shape;368;p15"/>
          <p:cNvGrpSpPr/>
          <p:nvPr/>
        </p:nvGrpSpPr>
        <p:grpSpPr>
          <a:xfrm flipH="1">
            <a:off x="96200" y="4469347"/>
            <a:ext cx="355444" cy="644072"/>
            <a:chOff x="1945386" y="5582316"/>
            <a:chExt cx="470725" cy="852963"/>
          </a:xfrm>
        </p:grpSpPr>
        <p:grpSp>
          <p:nvGrpSpPr>
            <p:cNvPr id="369" name="Google Shape;369;p15"/>
            <p:cNvGrpSpPr/>
            <p:nvPr/>
          </p:nvGrpSpPr>
          <p:grpSpPr>
            <a:xfrm>
              <a:off x="1945386" y="5582316"/>
              <a:ext cx="470725" cy="852963"/>
              <a:chOff x="1945386" y="5582316"/>
              <a:chExt cx="470725" cy="852963"/>
            </a:xfrm>
          </p:grpSpPr>
          <p:sp>
            <p:nvSpPr>
              <p:cNvPr id="370" name="Google Shape;370;p15"/>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15"/>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72" name="Google Shape;372;p15"/>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3" name="Google Shape;373;p15"/>
          <p:cNvGrpSpPr/>
          <p:nvPr/>
        </p:nvGrpSpPr>
        <p:grpSpPr>
          <a:xfrm>
            <a:off x="7975988" y="116167"/>
            <a:ext cx="1061979" cy="558999"/>
            <a:chOff x="3859815" y="2867310"/>
            <a:chExt cx="1262157" cy="664368"/>
          </a:xfrm>
        </p:grpSpPr>
        <p:sp>
          <p:nvSpPr>
            <p:cNvPr id="374" name="Google Shape;374;p15"/>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75" name="Google Shape;375;p15"/>
            <p:cNvGrpSpPr/>
            <p:nvPr/>
          </p:nvGrpSpPr>
          <p:grpSpPr>
            <a:xfrm>
              <a:off x="4275677" y="3065525"/>
              <a:ext cx="334517" cy="380047"/>
              <a:chOff x="4275677" y="3065525"/>
              <a:chExt cx="334517" cy="380047"/>
            </a:xfrm>
          </p:grpSpPr>
          <p:grpSp>
            <p:nvGrpSpPr>
              <p:cNvPr id="376" name="Google Shape;376;p15"/>
              <p:cNvGrpSpPr/>
              <p:nvPr/>
            </p:nvGrpSpPr>
            <p:grpSpPr>
              <a:xfrm>
                <a:off x="4275677" y="3065525"/>
                <a:ext cx="334517" cy="380047"/>
                <a:chOff x="4275677" y="3065525"/>
                <a:chExt cx="334517" cy="380047"/>
              </a:xfrm>
            </p:grpSpPr>
            <p:grpSp>
              <p:nvGrpSpPr>
                <p:cNvPr id="377" name="Google Shape;377;p15"/>
                <p:cNvGrpSpPr/>
                <p:nvPr/>
              </p:nvGrpSpPr>
              <p:grpSpPr>
                <a:xfrm>
                  <a:off x="4275677" y="3301269"/>
                  <a:ext cx="334422" cy="144303"/>
                  <a:chOff x="4275677" y="3301269"/>
                  <a:chExt cx="334422" cy="144303"/>
                </a:xfrm>
              </p:grpSpPr>
              <p:sp>
                <p:nvSpPr>
                  <p:cNvPr id="378" name="Google Shape;378;p15"/>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15"/>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0" name="Google Shape;380;p15"/>
                <p:cNvGrpSpPr/>
                <p:nvPr/>
              </p:nvGrpSpPr>
              <p:grpSpPr>
                <a:xfrm>
                  <a:off x="4275677" y="3183350"/>
                  <a:ext cx="334422" cy="144302"/>
                  <a:chOff x="4275677" y="3183350"/>
                  <a:chExt cx="334422" cy="144302"/>
                </a:xfrm>
              </p:grpSpPr>
              <p:sp>
                <p:nvSpPr>
                  <p:cNvPr id="381" name="Google Shape;381;p15"/>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15"/>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3" name="Google Shape;383;p15"/>
                <p:cNvGrpSpPr/>
                <p:nvPr/>
              </p:nvGrpSpPr>
              <p:grpSpPr>
                <a:xfrm>
                  <a:off x="4275677" y="3065525"/>
                  <a:ext cx="334517" cy="144303"/>
                  <a:chOff x="4275677" y="3065525"/>
                  <a:chExt cx="334517" cy="144303"/>
                </a:xfrm>
              </p:grpSpPr>
              <p:sp>
                <p:nvSpPr>
                  <p:cNvPr id="384" name="Google Shape;384;p15"/>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 name="Google Shape;385;p15"/>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86" name="Google Shape;386;p15"/>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 name="Google Shape;387;p15"/>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 name="Google Shape;388;p15"/>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89" name="Google Shape;389;p15"/>
          <p:cNvGrpSpPr/>
          <p:nvPr/>
        </p:nvGrpSpPr>
        <p:grpSpPr>
          <a:xfrm rot="5400000" flipH="1">
            <a:off x="557972" y="4696603"/>
            <a:ext cx="16329" cy="218290"/>
            <a:chOff x="10809827" y="4402455"/>
            <a:chExt cx="24764" cy="330993"/>
          </a:xfrm>
        </p:grpSpPr>
        <p:sp>
          <p:nvSpPr>
            <p:cNvPr id="390" name="Google Shape;390;p15"/>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 name="Google Shape;391;p15"/>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 name="Google Shape;392;p15"/>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93" name="Google Shape;393;p15"/>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5"/>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95"/>
        <p:cNvGrpSpPr/>
        <p:nvPr/>
      </p:nvGrpSpPr>
      <p:grpSpPr>
        <a:xfrm>
          <a:off x="0" y="0"/>
          <a:ext cx="0" cy="0"/>
          <a:chOff x="0" y="0"/>
          <a:chExt cx="0" cy="0"/>
        </a:xfrm>
      </p:grpSpPr>
      <p:sp>
        <p:nvSpPr>
          <p:cNvPr id="396" name="Google Shape;39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16"/>
          <p:cNvSpPr txBox="1">
            <a:spLocks noGrp="1"/>
          </p:cNvSpPr>
          <p:nvPr>
            <p:ph type="subTitle" idx="1"/>
          </p:nvPr>
        </p:nvSpPr>
        <p:spPr>
          <a:xfrm>
            <a:off x="93762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8" name="Google Shape;398;p16"/>
          <p:cNvSpPr txBox="1">
            <a:spLocks noGrp="1"/>
          </p:cNvSpPr>
          <p:nvPr>
            <p:ph type="subTitle" idx="2"/>
          </p:nvPr>
        </p:nvSpPr>
        <p:spPr>
          <a:xfrm>
            <a:off x="3484347"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9" name="Google Shape;399;p16"/>
          <p:cNvSpPr txBox="1">
            <a:spLocks noGrp="1"/>
          </p:cNvSpPr>
          <p:nvPr>
            <p:ph type="subTitle" idx="3"/>
          </p:nvPr>
        </p:nvSpPr>
        <p:spPr>
          <a:xfrm>
            <a:off x="603107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0" name="Google Shape;400;p16"/>
          <p:cNvSpPr txBox="1">
            <a:spLocks noGrp="1"/>
          </p:cNvSpPr>
          <p:nvPr>
            <p:ph type="subTitle" idx="4"/>
          </p:nvPr>
        </p:nvSpPr>
        <p:spPr>
          <a:xfrm>
            <a:off x="93762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1" name="Google Shape;401;p16"/>
          <p:cNvSpPr txBox="1">
            <a:spLocks noGrp="1"/>
          </p:cNvSpPr>
          <p:nvPr>
            <p:ph type="subTitle" idx="5"/>
          </p:nvPr>
        </p:nvSpPr>
        <p:spPr>
          <a:xfrm>
            <a:off x="3484350"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2" name="Google Shape;402;p16"/>
          <p:cNvSpPr txBox="1">
            <a:spLocks noGrp="1"/>
          </p:cNvSpPr>
          <p:nvPr>
            <p:ph type="subTitle" idx="6"/>
          </p:nvPr>
        </p:nvSpPr>
        <p:spPr>
          <a:xfrm>
            <a:off x="603107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3" name="Google Shape;403;p16"/>
          <p:cNvSpPr/>
          <p:nvPr/>
        </p:nvSpPr>
        <p:spPr>
          <a:xfrm rot="8800738" flipH="1">
            <a:off x="7902412" y="4181666"/>
            <a:ext cx="1680262" cy="1358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rot="-8942362" flipH="1">
            <a:off x="-983149" y="4040244"/>
            <a:ext cx="2474148" cy="2000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rot="1554271" flipH="1">
            <a:off x="7563507" y="-664049"/>
            <a:ext cx="2112334" cy="200257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62825" y="1725386"/>
            <a:ext cx="606206" cy="37384"/>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07" name="Google Shape;407;p16"/>
          <p:cNvGrpSpPr/>
          <p:nvPr/>
        </p:nvGrpSpPr>
        <p:grpSpPr>
          <a:xfrm>
            <a:off x="96399" y="951293"/>
            <a:ext cx="552408" cy="792759"/>
            <a:chOff x="10519314" y="4728596"/>
            <a:chExt cx="751780" cy="1078731"/>
          </a:xfrm>
        </p:grpSpPr>
        <p:grpSp>
          <p:nvGrpSpPr>
            <p:cNvPr id="408" name="Google Shape;408;p16"/>
            <p:cNvGrpSpPr/>
            <p:nvPr/>
          </p:nvGrpSpPr>
          <p:grpSpPr>
            <a:xfrm>
              <a:off x="10519314" y="4728596"/>
              <a:ext cx="626662" cy="1078731"/>
              <a:chOff x="10519314" y="4728596"/>
              <a:chExt cx="626662" cy="1078731"/>
            </a:xfrm>
          </p:grpSpPr>
          <p:grpSp>
            <p:nvGrpSpPr>
              <p:cNvPr id="409" name="Google Shape;409;p16"/>
              <p:cNvGrpSpPr/>
              <p:nvPr/>
            </p:nvGrpSpPr>
            <p:grpSpPr>
              <a:xfrm>
                <a:off x="10903220" y="4888205"/>
                <a:ext cx="242756" cy="919122"/>
                <a:chOff x="10903220" y="4888205"/>
                <a:chExt cx="242756" cy="919122"/>
              </a:xfrm>
            </p:grpSpPr>
            <p:sp>
              <p:nvSpPr>
                <p:cNvPr id="410" name="Google Shape;410;p16"/>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16"/>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16"/>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3" name="Google Shape;413;p16"/>
                <p:cNvGrpSpPr/>
                <p:nvPr/>
              </p:nvGrpSpPr>
              <p:grpSpPr>
                <a:xfrm>
                  <a:off x="11014221" y="5588618"/>
                  <a:ext cx="100021" cy="114784"/>
                  <a:chOff x="11014221" y="5588618"/>
                  <a:chExt cx="100021" cy="114784"/>
                </a:xfrm>
              </p:grpSpPr>
              <p:sp>
                <p:nvSpPr>
                  <p:cNvPr id="414" name="Google Shape;414;p16"/>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16"/>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16"/>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16"/>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18" name="Google Shape;418;p16"/>
              <p:cNvGrpSpPr/>
              <p:nvPr/>
            </p:nvGrpSpPr>
            <p:grpSpPr>
              <a:xfrm>
                <a:off x="10718623" y="4728596"/>
                <a:ext cx="229169" cy="1075979"/>
                <a:chOff x="10718623" y="4728596"/>
                <a:chExt cx="229169" cy="1075979"/>
              </a:xfrm>
            </p:grpSpPr>
            <p:sp>
              <p:nvSpPr>
                <p:cNvPr id="419" name="Google Shape;419;p16"/>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16"/>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21" name="Google Shape;421;p16"/>
                <p:cNvGrpSpPr/>
                <p:nvPr/>
              </p:nvGrpSpPr>
              <p:grpSpPr>
                <a:xfrm>
                  <a:off x="10765015" y="5040134"/>
                  <a:ext cx="116314" cy="49775"/>
                  <a:chOff x="10765015" y="5040134"/>
                  <a:chExt cx="116314" cy="49775"/>
                </a:xfrm>
              </p:grpSpPr>
              <p:sp>
                <p:nvSpPr>
                  <p:cNvPr id="422" name="Google Shape;422;p16"/>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16"/>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4" name="Google Shape;424;p16"/>
                <p:cNvGrpSpPr/>
                <p:nvPr/>
              </p:nvGrpSpPr>
              <p:grpSpPr>
                <a:xfrm>
                  <a:off x="10784825" y="5436314"/>
                  <a:ext cx="116414" cy="49961"/>
                  <a:chOff x="10784825" y="5436314"/>
                  <a:chExt cx="116414" cy="49961"/>
                </a:xfrm>
              </p:grpSpPr>
              <p:sp>
                <p:nvSpPr>
                  <p:cNvPr id="425" name="Google Shape;425;p16"/>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16"/>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27" name="Google Shape;427;p16"/>
              <p:cNvGrpSpPr/>
              <p:nvPr/>
            </p:nvGrpSpPr>
            <p:grpSpPr>
              <a:xfrm>
                <a:off x="10519314" y="4813458"/>
                <a:ext cx="202120" cy="992123"/>
                <a:chOff x="10519314" y="4813458"/>
                <a:chExt cx="202120" cy="992123"/>
              </a:xfrm>
            </p:grpSpPr>
            <p:sp>
              <p:nvSpPr>
                <p:cNvPr id="428" name="Google Shape;428;p16"/>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16"/>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30" name="Google Shape;430;p16"/>
                <p:cNvGrpSpPr/>
                <p:nvPr/>
              </p:nvGrpSpPr>
              <p:grpSpPr>
                <a:xfrm>
                  <a:off x="10556176" y="5465730"/>
                  <a:ext cx="128397" cy="44196"/>
                  <a:chOff x="10556176" y="5465730"/>
                  <a:chExt cx="128397" cy="44196"/>
                </a:xfrm>
              </p:grpSpPr>
              <p:sp>
                <p:nvSpPr>
                  <p:cNvPr id="431" name="Google Shape;431;p16"/>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16"/>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3" name="Google Shape;433;p16"/>
                <p:cNvGrpSpPr/>
                <p:nvPr/>
              </p:nvGrpSpPr>
              <p:grpSpPr>
                <a:xfrm>
                  <a:off x="10556176" y="5689187"/>
                  <a:ext cx="128397" cy="44196"/>
                  <a:chOff x="10556176" y="5689187"/>
                  <a:chExt cx="128397" cy="44196"/>
                </a:xfrm>
              </p:grpSpPr>
              <p:sp>
                <p:nvSpPr>
                  <p:cNvPr id="434" name="Google Shape;434;p16"/>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16"/>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36" name="Google Shape;436;p16"/>
            <p:cNvGrpSpPr/>
            <p:nvPr/>
          </p:nvGrpSpPr>
          <p:grpSpPr>
            <a:xfrm>
              <a:off x="11058042" y="5088325"/>
              <a:ext cx="213052" cy="717953"/>
              <a:chOff x="11058042" y="5088325"/>
              <a:chExt cx="213052" cy="717953"/>
            </a:xfrm>
          </p:grpSpPr>
          <p:sp>
            <p:nvSpPr>
              <p:cNvPr id="437" name="Google Shape;437;p16"/>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16"/>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39" name="Google Shape;439;p16"/>
          <p:cNvGrpSpPr/>
          <p:nvPr/>
        </p:nvGrpSpPr>
        <p:grpSpPr>
          <a:xfrm>
            <a:off x="135453" y="69369"/>
            <a:ext cx="426307" cy="643642"/>
            <a:chOff x="10572463" y="3528536"/>
            <a:chExt cx="580168" cy="875823"/>
          </a:xfrm>
        </p:grpSpPr>
        <p:grpSp>
          <p:nvGrpSpPr>
            <p:cNvPr id="440" name="Google Shape;440;p16"/>
            <p:cNvGrpSpPr/>
            <p:nvPr/>
          </p:nvGrpSpPr>
          <p:grpSpPr>
            <a:xfrm>
              <a:off x="10713815" y="3528536"/>
              <a:ext cx="438816" cy="746664"/>
              <a:chOff x="10713815" y="3528536"/>
              <a:chExt cx="438816" cy="746664"/>
            </a:xfrm>
          </p:grpSpPr>
          <p:sp>
            <p:nvSpPr>
              <p:cNvPr id="441" name="Google Shape;441;p16"/>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42" name="Google Shape;442;p16"/>
              <p:cNvGrpSpPr/>
              <p:nvPr/>
            </p:nvGrpSpPr>
            <p:grpSpPr>
              <a:xfrm>
                <a:off x="10776489" y="3625310"/>
                <a:ext cx="313848" cy="288226"/>
                <a:chOff x="10776489" y="3625310"/>
                <a:chExt cx="313848" cy="288226"/>
              </a:xfrm>
            </p:grpSpPr>
            <p:sp>
              <p:nvSpPr>
                <p:cNvPr id="443" name="Google Shape;443;p16"/>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16"/>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16"/>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6" name="Google Shape;446;p16"/>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16"/>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16"/>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9" name="Google Shape;449;p16"/>
              <p:cNvGrpSpPr/>
              <p:nvPr/>
            </p:nvGrpSpPr>
            <p:grpSpPr>
              <a:xfrm>
                <a:off x="10776489" y="3999547"/>
                <a:ext cx="313848" cy="181546"/>
                <a:chOff x="10776489" y="3999547"/>
                <a:chExt cx="313848" cy="181546"/>
              </a:xfrm>
            </p:grpSpPr>
            <p:sp>
              <p:nvSpPr>
                <p:cNvPr id="450" name="Google Shape;450;p16"/>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16"/>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16"/>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16"/>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54" name="Google Shape;454;p16"/>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55" name="Google Shape;455;p16"/>
            <p:cNvGrpSpPr/>
            <p:nvPr/>
          </p:nvGrpSpPr>
          <p:grpSpPr>
            <a:xfrm>
              <a:off x="10572463" y="3657790"/>
              <a:ext cx="438817" cy="746569"/>
              <a:chOff x="10572463" y="3657790"/>
              <a:chExt cx="438817" cy="746569"/>
            </a:xfrm>
          </p:grpSpPr>
          <p:sp>
            <p:nvSpPr>
              <p:cNvPr id="456" name="Google Shape;456;p16"/>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7" name="Google Shape;457;p16"/>
              <p:cNvGrpSpPr/>
              <p:nvPr/>
            </p:nvGrpSpPr>
            <p:grpSpPr>
              <a:xfrm>
                <a:off x="10635138" y="3754469"/>
                <a:ext cx="313848" cy="288321"/>
                <a:chOff x="10635138" y="3754469"/>
                <a:chExt cx="313848" cy="288321"/>
              </a:xfrm>
            </p:grpSpPr>
            <p:sp>
              <p:nvSpPr>
                <p:cNvPr id="458" name="Google Shape;458;p16"/>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16"/>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16"/>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16"/>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16"/>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16"/>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4" name="Google Shape;464;p16"/>
              <p:cNvGrpSpPr/>
              <p:nvPr/>
            </p:nvGrpSpPr>
            <p:grpSpPr>
              <a:xfrm>
                <a:off x="10635138" y="4128801"/>
                <a:ext cx="313848" cy="181547"/>
                <a:chOff x="10635138" y="4128801"/>
                <a:chExt cx="313848" cy="181547"/>
              </a:xfrm>
            </p:grpSpPr>
            <p:sp>
              <p:nvSpPr>
                <p:cNvPr id="465" name="Google Shape;465;p16"/>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16"/>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16"/>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16"/>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69" name="Google Shape;469;p16"/>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70" name="Google Shape;470;p16"/>
          <p:cNvGrpSpPr/>
          <p:nvPr/>
        </p:nvGrpSpPr>
        <p:grpSpPr>
          <a:xfrm>
            <a:off x="309868" y="711612"/>
            <a:ext cx="18197" cy="243247"/>
            <a:chOff x="10809827" y="4402455"/>
            <a:chExt cx="24764" cy="330993"/>
          </a:xfrm>
        </p:grpSpPr>
        <p:sp>
          <p:nvSpPr>
            <p:cNvPr id="471" name="Google Shape;471;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4" name="Google Shape;474;p16"/>
          <p:cNvGrpSpPr/>
          <p:nvPr/>
        </p:nvGrpSpPr>
        <p:grpSpPr>
          <a:xfrm>
            <a:off x="8421644" y="1045085"/>
            <a:ext cx="396068" cy="717683"/>
            <a:chOff x="1945386" y="5582316"/>
            <a:chExt cx="470725" cy="852963"/>
          </a:xfrm>
        </p:grpSpPr>
        <p:grpSp>
          <p:nvGrpSpPr>
            <p:cNvPr id="475" name="Google Shape;475;p16"/>
            <p:cNvGrpSpPr/>
            <p:nvPr/>
          </p:nvGrpSpPr>
          <p:grpSpPr>
            <a:xfrm>
              <a:off x="1945386" y="5582316"/>
              <a:ext cx="470725" cy="852963"/>
              <a:chOff x="1945386" y="5582316"/>
              <a:chExt cx="470725" cy="852963"/>
            </a:xfrm>
          </p:grpSpPr>
          <p:sp>
            <p:nvSpPr>
              <p:cNvPr id="476" name="Google Shape;476;p16"/>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16"/>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8" name="Google Shape;478;p16"/>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9" name="Google Shape;479;p16"/>
          <p:cNvGrpSpPr/>
          <p:nvPr/>
        </p:nvGrpSpPr>
        <p:grpSpPr>
          <a:xfrm>
            <a:off x="8088695" y="57742"/>
            <a:ext cx="1061979" cy="558999"/>
            <a:chOff x="3859815" y="2867310"/>
            <a:chExt cx="1262157" cy="664368"/>
          </a:xfrm>
        </p:grpSpPr>
        <p:sp>
          <p:nvSpPr>
            <p:cNvPr id="480" name="Google Shape;480;p16"/>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1" name="Google Shape;481;p16"/>
            <p:cNvGrpSpPr/>
            <p:nvPr/>
          </p:nvGrpSpPr>
          <p:grpSpPr>
            <a:xfrm>
              <a:off x="4275677" y="3065525"/>
              <a:ext cx="334517" cy="380047"/>
              <a:chOff x="4275677" y="3065525"/>
              <a:chExt cx="334517" cy="380047"/>
            </a:xfrm>
          </p:grpSpPr>
          <p:grpSp>
            <p:nvGrpSpPr>
              <p:cNvPr id="482" name="Google Shape;482;p16"/>
              <p:cNvGrpSpPr/>
              <p:nvPr/>
            </p:nvGrpSpPr>
            <p:grpSpPr>
              <a:xfrm>
                <a:off x="4275677" y="3065525"/>
                <a:ext cx="334517" cy="380047"/>
                <a:chOff x="4275677" y="3065525"/>
                <a:chExt cx="334517" cy="380047"/>
              </a:xfrm>
            </p:grpSpPr>
            <p:grpSp>
              <p:nvGrpSpPr>
                <p:cNvPr id="483" name="Google Shape;483;p16"/>
                <p:cNvGrpSpPr/>
                <p:nvPr/>
              </p:nvGrpSpPr>
              <p:grpSpPr>
                <a:xfrm>
                  <a:off x="4275677" y="3301269"/>
                  <a:ext cx="334422" cy="144303"/>
                  <a:chOff x="4275677" y="3301269"/>
                  <a:chExt cx="334422" cy="144303"/>
                </a:xfrm>
              </p:grpSpPr>
              <p:sp>
                <p:nvSpPr>
                  <p:cNvPr id="484" name="Google Shape;484;p16"/>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16"/>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6" name="Google Shape;486;p16"/>
                <p:cNvGrpSpPr/>
                <p:nvPr/>
              </p:nvGrpSpPr>
              <p:grpSpPr>
                <a:xfrm>
                  <a:off x="4275677" y="3183350"/>
                  <a:ext cx="334422" cy="144302"/>
                  <a:chOff x="4275677" y="3183350"/>
                  <a:chExt cx="334422" cy="144302"/>
                </a:xfrm>
              </p:grpSpPr>
              <p:sp>
                <p:nvSpPr>
                  <p:cNvPr id="487" name="Google Shape;487;p16"/>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16"/>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9" name="Google Shape;489;p16"/>
                <p:cNvGrpSpPr/>
                <p:nvPr/>
              </p:nvGrpSpPr>
              <p:grpSpPr>
                <a:xfrm>
                  <a:off x="4275677" y="3065525"/>
                  <a:ext cx="334517" cy="144303"/>
                  <a:chOff x="4275677" y="3065525"/>
                  <a:chExt cx="334517" cy="144303"/>
                </a:xfrm>
              </p:grpSpPr>
              <p:sp>
                <p:nvSpPr>
                  <p:cNvPr id="490" name="Google Shape;490;p16"/>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16"/>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492" name="Google Shape;492;p16"/>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16"/>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16"/>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95" name="Google Shape;495;p16"/>
          <p:cNvGrpSpPr/>
          <p:nvPr/>
        </p:nvGrpSpPr>
        <p:grpSpPr>
          <a:xfrm>
            <a:off x="8582238" y="611818"/>
            <a:ext cx="33124" cy="442802"/>
            <a:chOff x="10809827" y="4402455"/>
            <a:chExt cx="24764" cy="330993"/>
          </a:xfrm>
        </p:grpSpPr>
        <p:sp>
          <p:nvSpPr>
            <p:cNvPr id="496" name="Google Shape;496;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9"/>
        <p:cNvGrpSpPr/>
        <p:nvPr/>
      </p:nvGrpSpPr>
      <p:grpSpPr>
        <a:xfrm>
          <a:off x="0" y="0"/>
          <a:ext cx="0" cy="0"/>
          <a:chOff x="0" y="0"/>
          <a:chExt cx="0" cy="0"/>
        </a:xfrm>
      </p:grpSpPr>
      <p:sp>
        <p:nvSpPr>
          <p:cNvPr id="500" name="Google Shape;50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01" name="Google Shape;501;p17"/>
          <p:cNvSpPr txBox="1">
            <a:spLocks noGrp="1"/>
          </p:cNvSpPr>
          <p:nvPr>
            <p:ph type="subTitle" idx="1"/>
          </p:nvPr>
        </p:nvSpPr>
        <p:spPr>
          <a:xfrm>
            <a:off x="1253225"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2" name="Google Shape;502;p17"/>
          <p:cNvSpPr txBox="1">
            <a:spLocks noGrp="1"/>
          </p:cNvSpPr>
          <p:nvPr>
            <p:ph type="subTitle" idx="2"/>
          </p:nvPr>
        </p:nvSpPr>
        <p:spPr>
          <a:xfrm>
            <a:off x="5079776"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3" name="Google Shape;503;p17"/>
          <p:cNvSpPr txBox="1">
            <a:spLocks noGrp="1"/>
          </p:cNvSpPr>
          <p:nvPr>
            <p:ph type="subTitle" idx="3"/>
          </p:nvPr>
        </p:nvSpPr>
        <p:spPr>
          <a:xfrm>
            <a:off x="1253225"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4" name="Google Shape;504;p17"/>
          <p:cNvSpPr txBox="1">
            <a:spLocks noGrp="1"/>
          </p:cNvSpPr>
          <p:nvPr>
            <p:ph type="subTitle" idx="4"/>
          </p:nvPr>
        </p:nvSpPr>
        <p:spPr>
          <a:xfrm>
            <a:off x="5079776"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5" name="Google Shape;505;p17"/>
          <p:cNvSpPr txBox="1">
            <a:spLocks noGrp="1"/>
          </p:cNvSpPr>
          <p:nvPr>
            <p:ph type="subTitle" idx="5"/>
          </p:nvPr>
        </p:nvSpPr>
        <p:spPr>
          <a:xfrm>
            <a:off x="1253225"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6" name="Google Shape;506;p17"/>
          <p:cNvSpPr txBox="1">
            <a:spLocks noGrp="1"/>
          </p:cNvSpPr>
          <p:nvPr>
            <p:ph type="subTitle" idx="6"/>
          </p:nvPr>
        </p:nvSpPr>
        <p:spPr>
          <a:xfrm>
            <a:off x="1253225"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7" name="Google Shape;507;p17"/>
          <p:cNvSpPr txBox="1">
            <a:spLocks noGrp="1"/>
          </p:cNvSpPr>
          <p:nvPr>
            <p:ph type="subTitle" idx="7"/>
          </p:nvPr>
        </p:nvSpPr>
        <p:spPr>
          <a:xfrm>
            <a:off x="5079750"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8" name="Google Shape;508;p17"/>
          <p:cNvSpPr txBox="1">
            <a:spLocks noGrp="1"/>
          </p:cNvSpPr>
          <p:nvPr>
            <p:ph type="subTitle" idx="8"/>
          </p:nvPr>
        </p:nvSpPr>
        <p:spPr>
          <a:xfrm>
            <a:off x="5079750"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9" name="Google Shape;509;p17"/>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7"/>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1" name="Google Shape;511;p17"/>
          <p:cNvGrpSpPr/>
          <p:nvPr/>
        </p:nvGrpSpPr>
        <p:grpSpPr>
          <a:xfrm>
            <a:off x="65066" y="4373044"/>
            <a:ext cx="878158" cy="654532"/>
            <a:chOff x="1114425" y="4361211"/>
            <a:chExt cx="573023" cy="427101"/>
          </a:xfrm>
        </p:grpSpPr>
        <p:grpSp>
          <p:nvGrpSpPr>
            <p:cNvPr id="512" name="Google Shape;512;p17"/>
            <p:cNvGrpSpPr/>
            <p:nvPr/>
          </p:nvGrpSpPr>
          <p:grpSpPr>
            <a:xfrm>
              <a:off x="1114425" y="4361211"/>
              <a:ext cx="573023" cy="427101"/>
              <a:chOff x="1114425" y="4361211"/>
              <a:chExt cx="573023" cy="427101"/>
            </a:xfrm>
          </p:grpSpPr>
          <p:sp>
            <p:nvSpPr>
              <p:cNvPr id="513" name="Google Shape;513;p1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1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1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16" name="Google Shape;516;p1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7" name="Google Shape;517;p17"/>
          <p:cNvGrpSpPr/>
          <p:nvPr/>
        </p:nvGrpSpPr>
        <p:grpSpPr>
          <a:xfrm>
            <a:off x="8114970" y="266839"/>
            <a:ext cx="829992" cy="750888"/>
            <a:chOff x="8114596" y="445039"/>
            <a:chExt cx="633002" cy="572716"/>
          </a:xfrm>
        </p:grpSpPr>
        <p:grpSp>
          <p:nvGrpSpPr>
            <p:cNvPr id="518" name="Google Shape;518;p17"/>
            <p:cNvGrpSpPr/>
            <p:nvPr/>
          </p:nvGrpSpPr>
          <p:grpSpPr>
            <a:xfrm>
              <a:off x="8114596" y="445039"/>
              <a:ext cx="633002" cy="572716"/>
              <a:chOff x="7189660" y="520827"/>
              <a:chExt cx="598074" cy="541115"/>
            </a:xfrm>
          </p:grpSpPr>
          <p:sp>
            <p:nvSpPr>
              <p:cNvPr id="519" name="Google Shape;519;p17"/>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0" name="Google Shape;520;p17"/>
              <p:cNvGrpSpPr/>
              <p:nvPr/>
            </p:nvGrpSpPr>
            <p:grpSpPr>
              <a:xfrm>
                <a:off x="7579137" y="551973"/>
                <a:ext cx="164782" cy="41529"/>
                <a:chOff x="7579137" y="551973"/>
                <a:chExt cx="164782" cy="41529"/>
              </a:xfrm>
            </p:grpSpPr>
            <p:sp>
              <p:nvSpPr>
                <p:cNvPr id="521" name="Google Shape;521;p17"/>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17"/>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17"/>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24" name="Google Shape;524;p17"/>
            <p:cNvGrpSpPr/>
            <p:nvPr/>
          </p:nvGrpSpPr>
          <p:grpSpPr>
            <a:xfrm>
              <a:off x="8184962" y="619646"/>
              <a:ext cx="498115" cy="257273"/>
              <a:chOff x="7256144" y="685800"/>
              <a:chExt cx="470630" cy="243077"/>
            </a:xfrm>
          </p:grpSpPr>
          <p:sp>
            <p:nvSpPr>
              <p:cNvPr id="525" name="Google Shape;525;p17"/>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6" name="Google Shape;526;p17"/>
              <p:cNvGrpSpPr/>
              <p:nvPr/>
            </p:nvGrpSpPr>
            <p:grpSpPr>
              <a:xfrm>
                <a:off x="7512843" y="685800"/>
                <a:ext cx="213931" cy="243077"/>
                <a:chOff x="7512843" y="685800"/>
                <a:chExt cx="213931" cy="243077"/>
              </a:xfrm>
            </p:grpSpPr>
            <p:grpSp>
              <p:nvGrpSpPr>
                <p:cNvPr id="527" name="Google Shape;527;p17"/>
                <p:cNvGrpSpPr/>
                <p:nvPr/>
              </p:nvGrpSpPr>
              <p:grpSpPr>
                <a:xfrm>
                  <a:off x="7512843" y="836580"/>
                  <a:ext cx="213931" cy="92297"/>
                  <a:chOff x="7512843" y="836580"/>
                  <a:chExt cx="213931" cy="92297"/>
                </a:xfrm>
              </p:grpSpPr>
              <p:sp>
                <p:nvSpPr>
                  <p:cNvPr id="528" name="Google Shape;528;p17"/>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17"/>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0" name="Google Shape;530;p17"/>
                <p:cNvGrpSpPr/>
                <p:nvPr/>
              </p:nvGrpSpPr>
              <p:grpSpPr>
                <a:xfrm>
                  <a:off x="7512843" y="761238"/>
                  <a:ext cx="213931" cy="92296"/>
                  <a:chOff x="7512843" y="761238"/>
                  <a:chExt cx="213931" cy="92296"/>
                </a:xfrm>
              </p:grpSpPr>
              <p:sp>
                <p:nvSpPr>
                  <p:cNvPr id="531" name="Google Shape;531;p17"/>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17"/>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3" name="Google Shape;533;p17"/>
                <p:cNvGrpSpPr/>
                <p:nvPr/>
              </p:nvGrpSpPr>
              <p:grpSpPr>
                <a:xfrm>
                  <a:off x="7512843" y="685800"/>
                  <a:ext cx="213931" cy="92297"/>
                  <a:chOff x="7512843" y="685800"/>
                  <a:chExt cx="213931" cy="92297"/>
                </a:xfrm>
              </p:grpSpPr>
              <p:sp>
                <p:nvSpPr>
                  <p:cNvPr id="534" name="Google Shape;534;p17"/>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17"/>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86"/>
        <p:cNvGrpSpPr/>
        <p:nvPr/>
      </p:nvGrpSpPr>
      <p:grpSpPr>
        <a:xfrm>
          <a:off x="0" y="0"/>
          <a:ext cx="0" cy="0"/>
          <a:chOff x="0" y="0"/>
          <a:chExt cx="0" cy="0"/>
        </a:xfrm>
      </p:grpSpPr>
      <p:sp>
        <p:nvSpPr>
          <p:cNvPr id="587" name="Google Shape;587;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88" name="Google Shape;588;p20"/>
          <p:cNvSpPr/>
          <p:nvPr/>
        </p:nvSpPr>
        <p:spPr>
          <a:xfrm rot="337739" flipH="1">
            <a:off x="8212271" y="3187242"/>
            <a:ext cx="3158465" cy="3518480"/>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9" name="Google Shape;589;p20"/>
          <p:cNvGrpSpPr/>
          <p:nvPr/>
        </p:nvGrpSpPr>
        <p:grpSpPr>
          <a:xfrm>
            <a:off x="90200" y="4214393"/>
            <a:ext cx="516117" cy="779220"/>
            <a:chOff x="10572463" y="3528536"/>
            <a:chExt cx="580168" cy="875823"/>
          </a:xfrm>
        </p:grpSpPr>
        <p:grpSp>
          <p:nvGrpSpPr>
            <p:cNvPr id="590" name="Google Shape;590;p20"/>
            <p:cNvGrpSpPr/>
            <p:nvPr/>
          </p:nvGrpSpPr>
          <p:grpSpPr>
            <a:xfrm>
              <a:off x="10713815" y="3528536"/>
              <a:ext cx="438816" cy="746664"/>
              <a:chOff x="10713815" y="3528536"/>
              <a:chExt cx="438816" cy="746664"/>
            </a:xfrm>
          </p:grpSpPr>
          <p:sp>
            <p:nvSpPr>
              <p:cNvPr id="591" name="Google Shape;591;p20"/>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92" name="Google Shape;592;p20"/>
              <p:cNvGrpSpPr/>
              <p:nvPr/>
            </p:nvGrpSpPr>
            <p:grpSpPr>
              <a:xfrm>
                <a:off x="10776489" y="3625310"/>
                <a:ext cx="313848" cy="288226"/>
                <a:chOff x="10776489" y="3625310"/>
                <a:chExt cx="313848" cy="288226"/>
              </a:xfrm>
            </p:grpSpPr>
            <p:sp>
              <p:nvSpPr>
                <p:cNvPr id="593" name="Google Shape;593;p20"/>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20"/>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20"/>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20"/>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20"/>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20"/>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99" name="Google Shape;599;p20"/>
              <p:cNvGrpSpPr/>
              <p:nvPr/>
            </p:nvGrpSpPr>
            <p:grpSpPr>
              <a:xfrm>
                <a:off x="10776489" y="3999547"/>
                <a:ext cx="313848" cy="181546"/>
                <a:chOff x="10776489" y="3999547"/>
                <a:chExt cx="313848" cy="181546"/>
              </a:xfrm>
            </p:grpSpPr>
            <p:sp>
              <p:nvSpPr>
                <p:cNvPr id="600" name="Google Shape;600;p20"/>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20"/>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20"/>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20"/>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04" name="Google Shape;604;p20"/>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5" name="Google Shape;605;p20"/>
            <p:cNvGrpSpPr/>
            <p:nvPr/>
          </p:nvGrpSpPr>
          <p:grpSpPr>
            <a:xfrm>
              <a:off x="10572463" y="3657790"/>
              <a:ext cx="438817" cy="746569"/>
              <a:chOff x="10572463" y="3657790"/>
              <a:chExt cx="438817" cy="746569"/>
            </a:xfrm>
          </p:grpSpPr>
          <p:sp>
            <p:nvSpPr>
              <p:cNvPr id="606" name="Google Shape;606;p20"/>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07" name="Google Shape;607;p20"/>
              <p:cNvGrpSpPr/>
              <p:nvPr/>
            </p:nvGrpSpPr>
            <p:grpSpPr>
              <a:xfrm>
                <a:off x="10635138" y="3754469"/>
                <a:ext cx="313848" cy="288321"/>
                <a:chOff x="10635138" y="3754469"/>
                <a:chExt cx="313848" cy="288321"/>
              </a:xfrm>
            </p:grpSpPr>
            <p:sp>
              <p:nvSpPr>
                <p:cNvPr id="608" name="Google Shape;608;p20"/>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20"/>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20"/>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20"/>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20"/>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20"/>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4" name="Google Shape;614;p20"/>
              <p:cNvGrpSpPr/>
              <p:nvPr/>
            </p:nvGrpSpPr>
            <p:grpSpPr>
              <a:xfrm>
                <a:off x="10635138" y="4128801"/>
                <a:ext cx="313848" cy="181547"/>
                <a:chOff x="10635138" y="4128801"/>
                <a:chExt cx="313848" cy="181547"/>
              </a:xfrm>
            </p:grpSpPr>
            <p:sp>
              <p:nvSpPr>
                <p:cNvPr id="615" name="Google Shape;615;p20"/>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20"/>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20"/>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20"/>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19" name="Google Shape;619;p20"/>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20" name="Google Shape;620;p20"/>
          <p:cNvSpPr/>
          <p:nvPr/>
        </p:nvSpPr>
        <p:spPr>
          <a:xfrm rot="-3657034" flipH="1">
            <a:off x="-1404232" y="-737971"/>
            <a:ext cx="2746020" cy="16278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20"/>
          <p:cNvGrpSpPr/>
          <p:nvPr/>
        </p:nvGrpSpPr>
        <p:grpSpPr>
          <a:xfrm>
            <a:off x="8114970" y="266839"/>
            <a:ext cx="829992" cy="750888"/>
            <a:chOff x="8114596" y="445039"/>
            <a:chExt cx="633002" cy="572716"/>
          </a:xfrm>
        </p:grpSpPr>
        <p:grpSp>
          <p:nvGrpSpPr>
            <p:cNvPr id="622" name="Google Shape;622;p20"/>
            <p:cNvGrpSpPr/>
            <p:nvPr/>
          </p:nvGrpSpPr>
          <p:grpSpPr>
            <a:xfrm>
              <a:off x="8114596" y="445039"/>
              <a:ext cx="633002" cy="572716"/>
              <a:chOff x="7189660" y="520827"/>
              <a:chExt cx="598074" cy="541115"/>
            </a:xfrm>
          </p:grpSpPr>
          <p:sp>
            <p:nvSpPr>
              <p:cNvPr id="623" name="Google Shape;623;p20"/>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24" name="Google Shape;624;p20"/>
              <p:cNvGrpSpPr/>
              <p:nvPr/>
            </p:nvGrpSpPr>
            <p:grpSpPr>
              <a:xfrm>
                <a:off x="7579137" y="551973"/>
                <a:ext cx="164782" cy="41529"/>
                <a:chOff x="7579137" y="551973"/>
                <a:chExt cx="164782" cy="41529"/>
              </a:xfrm>
            </p:grpSpPr>
            <p:sp>
              <p:nvSpPr>
                <p:cNvPr id="625" name="Google Shape;625;p20"/>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20"/>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20"/>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28" name="Google Shape;628;p20"/>
            <p:cNvGrpSpPr/>
            <p:nvPr/>
          </p:nvGrpSpPr>
          <p:grpSpPr>
            <a:xfrm>
              <a:off x="8184962" y="619646"/>
              <a:ext cx="498115" cy="257273"/>
              <a:chOff x="7256144" y="685800"/>
              <a:chExt cx="470630" cy="243077"/>
            </a:xfrm>
          </p:grpSpPr>
          <p:sp>
            <p:nvSpPr>
              <p:cNvPr id="629" name="Google Shape;629;p20"/>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30" name="Google Shape;630;p20"/>
              <p:cNvGrpSpPr/>
              <p:nvPr/>
            </p:nvGrpSpPr>
            <p:grpSpPr>
              <a:xfrm>
                <a:off x="7512843" y="685800"/>
                <a:ext cx="213931" cy="243077"/>
                <a:chOff x="7512843" y="685800"/>
                <a:chExt cx="213931" cy="243077"/>
              </a:xfrm>
            </p:grpSpPr>
            <p:grpSp>
              <p:nvGrpSpPr>
                <p:cNvPr id="631" name="Google Shape;631;p20"/>
                <p:cNvGrpSpPr/>
                <p:nvPr/>
              </p:nvGrpSpPr>
              <p:grpSpPr>
                <a:xfrm>
                  <a:off x="7512843" y="836580"/>
                  <a:ext cx="213931" cy="92297"/>
                  <a:chOff x="7512843" y="836580"/>
                  <a:chExt cx="213931" cy="92297"/>
                </a:xfrm>
              </p:grpSpPr>
              <p:sp>
                <p:nvSpPr>
                  <p:cNvPr id="632" name="Google Shape;632;p20"/>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20"/>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4" name="Google Shape;634;p20"/>
                <p:cNvGrpSpPr/>
                <p:nvPr/>
              </p:nvGrpSpPr>
              <p:grpSpPr>
                <a:xfrm>
                  <a:off x="7512843" y="761238"/>
                  <a:ext cx="213931" cy="92296"/>
                  <a:chOff x="7512843" y="761238"/>
                  <a:chExt cx="213931" cy="92296"/>
                </a:xfrm>
              </p:grpSpPr>
              <p:sp>
                <p:nvSpPr>
                  <p:cNvPr id="635" name="Google Shape;635;p20"/>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20"/>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7" name="Google Shape;637;p20"/>
                <p:cNvGrpSpPr/>
                <p:nvPr/>
              </p:nvGrpSpPr>
              <p:grpSpPr>
                <a:xfrm>
                  <a:off x="7512843" y="685800"/>
                  <a:ext cx="213931" cy="92297"/>
                  <a:chOff x="7512843" y="685800"/>
                  <a:chExt cx="213931" cy="92297"/>
                </a:xfrm>
              </p:grpSpPr>
              <p:sp>
                <p:nvSpPr>
                  <p:cNvPr id="638" name="Google Shape;638;p20"/>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20"/>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40"/>
        <p:cNvGrpSpPr/>
        <p:nvPr/>
      </p:nvGrpSpPr>
      <p:grpSpPr>
        <a:xfrm>
          <a:off x="0" y="0"/>
          <a:ext cx="0" cy="0"/>
          <a:chOff x="0" y="0"/>
          <a:chExt cx="0" cy="0"/>
        </a:xfrm>
      </p:grpSpPr>
      <p:sp>
        <p:nvSpPr>
          <p:cNvPr id="641" name="Google Shape;641;p21"/>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43" name="Google Shape;643;p21"/>
          <p:cNvGrpSpPr/>
          <p:nvPr/>
        </p:nvGrpSpPr>
        <p:grpSpPr>
          <a:xfrm flipH="1">
            <a:off x="683048" y="4696520"/>
            <a:ext cx="325927" cy="404808"/>
            <a:chOff x="7385113" y="1535430"/>
            <a:chExt cx="435673" cy="541115"/>
          </a:xfrm>
        </p:grpSpPr>
        <p:sp>
          <p:nvSpPr>
            <p:cNvPr id="644" name="Google Shape;644;p21"/>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45" name="Google Shape;645;p21"/>
            <p:cNvGrpSpPr/>
            <p:nvPr/>
          </p:nvGrpSpPr>
          <p:grpSpPr>
            <a:xfrm>
              <a:off x="7612094" y="1566576"/>
              <a:ext cx="164781" cy="41529"/>
              <a:chOff x="7612094" y="1566576"/>
              <a:chExt cx="164781" cy="41529"/>
            </a:xfrm>
          </p:grpSpPr>
          <p:sp>
            <p:nvSpPr>
              <p:cNvPr id="646" name="Google Shape;646;p21"/>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1"/>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1"/>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49" name="Google Shape;649;p21"/>
          <p:cNvGrpSpPr/>
          <p:nvPr/>
        </p:nvGrpSpPr>
        <p:grpSpPr>
          <a:xfrm flipH="1">
            <a:off x="713902" y="4774546"/>
            <a:ext cx="268636" cy="280965"/>
            <a:chOff x="7420451" y="1639728"/>
            <a:chExt cx="359091" cy="375571"/>
          </a:xfrm>
        </p:grpSpPr>
        <p:sp>
          <p:nvSpPr>
            <p:cNvPr id="650" name="Google Shape;650;p21"/>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21"/>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2" name="Google Shape;652;p21"/>
          <p:cNvGrpSpPr/>
          <p:nvPr/>
        </p:nvGrpSpPr>
        <p:grpSpPr>
          <a:xfrm flipH="1">
            <a:off x="96200" y="4469347"/>
            <a:ext cx="355444" cy="644072"/>
            <a:chOff x="1945386" y="5582316"/>
            <a:chExt cx="470725" cy="852963"/>
          </a:xfrm>
        </p:grpSpPr>
        <p:grpSp>
          <p:nvGrpSpPr>
            <p:cNvPr id="653" name="Google Shape;653;p21"/>
            <p:cNvGrpSpPr/>
            <p:nvPr/>
          </p:nvGrpSpPr>
          <p:grpSpPr>
            <a:xfrm>
              <a:off x="1945386" y="5582316"/>
              <a:ext cx="470725" cy="852963"/>
              <a:chOff x="1945386" y="5582316"/>
              <a:chExt cx="470725" cy="852963"/>
            </a:xfrm>
          </p:grpSpPr>
          <p:sp>
            <p:nvSpPr>
              <p:cNvPr id="654" name="Google Shape;654;p21"/>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1"/>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56" name="Google Shape;656;p21"/>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7" name="Google Shape;657;p21"/>
          <p:cNvGrpSpPr/>
          <p:nvPr/>
        </p:nvGrpSpPr>
        <p:grpSpPr>
          <a:xfrm>
            <a:off x="7975988" y="116167"/>
            <a:ext cx="1061979" cy="558999"/>
            <a:chOff x="3859815" y="2867310"/>
            <a:chExt cx="1262157" cy="664368"/>
          </a:xfrm>
        </p:grpSpPr>
        <p:sp>
          <p:nvSpPr>
            <p:cNvPr id="658" name="Google Shape;658;p21"/>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59" name="Google Shape;659;p21"/>
            <p:cNvGrpSpPr/>
            <p:nvPr/>
          </p:nvGrpSpPr>
          <p:grpSpPr>
            <a:xfrm>
              <a:off x="4275677" y="3065525"/>
              <a:ext cx="334517" cy="380047"/>
              <a:chOff x="4275677" y="3065525"/>
              <a:chExt cx="334517" cy="380047"/>
            </a:xfrm>
          </p:grpSpPr>
          <p:grpSp>
            <p:nvGrpSpPr>
              <p:cNvPr id="660" name="Google Shape;660;p21"/>
              <p:cNvGrpSpPr/>
              <p:nvPr/>
            </p:nvGrpSpPr>
            <p:grpSpPr>
              <a:xfrm>
                <a:off x="4275677" y="3065525"/>
                <a:ext cx="334517" cy="380047"/>
                <a:chOff x="4275677" y="3065525"/>
                <a:chExt cx="334517" cy="380047"/>
              </a:xfrm>
            </p:grpSpPr>
            <p:grpSp>
              <p:nvGrpSpPr>
                <p:cNvPr id="661" name="Google Shape;661;p21"/>
                <p:cNvGrpSpPr/>
                <p:nvPr/>
              </p:nvGrpSpPr>
              <p:grpSpPr>
                <a:xfrm>
                  <a:off x="4275677" y="3301269"/>
                  <a:ext cx="334422" cy="144303"/>
                  <a:chOff x="4275677" y="3301269"/>
                  <a:chExt cx="334422" cy="144303"/>
                </a:xfrm>
              </p:grpSpPr>
              <p:sp>
                <p:nvSpPr>
                  <p:cNvPr id="662" name="Google Shape;662;p21"/>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21"/>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4" name="Google Shape;664;p21"/>
                <p:cNvGrpSpPr/>
                <p:nvPr/>
              </p:nvGrpSpPr>
              <p:grpSpPr>
                <a:xfrm>
                  <a:off x="4275677" y="3183350"/>
                  <a:ext cx="334422" cy="144302"/>
                  <a:chOff x="4275677" y="3183350"/>
                  <a:chExt cx="334422" cy="144302"/>
                </a:xfrm>
              </p:grpSpPr>
              <p:sp>
                <p:nvSpPr>
                  <p:cNvPr id="665" name="Google Shape;665;p21"/>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21"/>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7" name="Google Shape;667;p21"/>
                <p:cNvGrpSpPr/>
                <p:nvPr/>
              </p:nvGrpSpPr>
              <p:grpSpPr>
                <a:xfrm>
                  <a:off x="4275677" y="3065525"/>
                  <a:ext cx="334517" cy="144303"/>
                  <a:chOff x="4275677" y="3065525"/>
                  <a:chExt cx="334517" cy="144303"/>
                </a:xfrm>
              </p:grpSpPr>
              <p:sp>
                <p:nvSpPr>
                  <p:cNvPr id="668" name="Google Shape;668;p21"/>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21"/>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70" name="Google Shape;670;p21"/>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1"/>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21"/>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73" name="Google Shape;673;p21"/>
          <p:cNvGrpSpPr/>
          <p:nvPr/>
        </p:nvGrpSpPr>
        <p:grpSpPr>
          <a:xfrm rot="5400000" flipH="1">
            <a:off x="557972" y="4696603"/>
            <a:ext cx="16329" cy="218290"/>
            <a:chOff x="10809827" y="4402455"/>
            <a:chExt cx="24764" cy="330993"/>
          </a:xfrm>
        </p:grpSpPr>
        <p:sp>
          <p:nvSpPr>
            <p:cNvPr id="674" name="Google Shape;674;p21"/>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1"/>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1"/>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77" name="Google Shape;677;p21"/>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1"/>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79"/>
        <p:cNvGrpSpPr/>
        <p:nvPr/>
      </p:nvGrpSpPr>
      <p:grpSpPr>
        <a:xfrm>
          <a:off x="0" y="0"/>
          <a:ext cx="0" cy="0"/>
          <a:chOff x="0" y="0"/>
          <a:chExt cx="0" cy="0"/>
        </a:xfrm>
      </p:grpSpPr>
      <p:sp>
        <p:nvSpPr>
          <p:cNvPr id="680" name="Google Shape;680;p22"/>
          <p:cNvSpPr txBox="1">
            <a:spLocks noGrp="1"/>
          </p:cNvSpPr>
          <p:nvPr>
            <p:ph type="title"/>
          </p:nvPr>
        </p:nvSpPr>
        <p:spPr>
          <a:xfrm>
            <a:off x="2347938" y="997200"/>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1" name="Google Shape;681;p22"/>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2" name="Google Shape;682;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infographics &amp; images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sp>
        <p:nvSpPr>
          <p:cNvPr id="683" name="Google Shape;683;p22"/>
          <p:cNvSpPr/>
          <p:nvPr/>
        </p:nvSpPr>
        <p:spPr>
          <a:xfrm rot="-2493044" flipH="1">
            <a:off x="-1086706" y="-570280"/>
            <a:ext cx="2902912" cy="234728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2"/>
          <p:cNvSpPr/>
          <p:nvPr/>
        </p:nvSpPr>
        <p:spPr>
          <a:xfrm rot="-5051288" flipH="1">
            <a:off x="7227752" y="3451481"/>
            <a:ext cx="2997828" cy="2576307"/>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2"/>
          <p:cNvSpPr/>
          <p:nvPr/>
        </p:nvSpPr>
        <p:spPr>
          <a:xfrm rot="460638" flipH="1">
            <a:off x="178423" y="3742788"/>
            <a:ext cx="1359611" cy="122255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2"/>
          <p:cNvSpPr/>
          <p:nvPr/>
        </p:nvSpPr>
        <p:spPr>
          <a:xfrm rot="460623" flipH="1">
            <a:off x="6683138" y="-2074210"/>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87"/>
        <p:cNvGrpSpPr/>
        <p:nvPr/>
      </p:nvGrpSpPr>
      <p:grpSpPr>
        <a:xfrm>
          <a:off x="0" y="0"/>
          <a:ext cx="0" cy="0"/>
          <a:chOff x="0" y="0"/>
          <a:chExt cx="0" cy="0"/>
        </a:xfrm>
      </p:grpSpPr>
      <p:sp>
        <p:nvSpPr>
          <p:cNvPr id="688" name="Google Shape;688;p23"/>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3"/>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2" name="Google Shape;692;p23"/>
          <p:cNvGrpSpPr/>
          <p:nvPr/>
        </p:nvGrpSpPr>
        <p:grpSpPr>
          <a:xfrm>
            <a:off x="7931872" y="177093"/>
            <a:ext cx="997823" cy="737095"/>
            <a:chOff x="7931872" y="177093"/>
            <a:chExt cx="997823" cy="737095"/>
          </a:xfrm>
        </p:grpSpPr>
        <p:grpSp>
          <p:nvGrpSpPr>
            <p:cNvPr id="693" name="Google Shape;693;p23"/>
            <p:cNvGrpSpPr/>
            <p:nvPr/>
          </p:nvGrpSpPr>
          <p:grpSpPr>
            <a:xfrm>
              <a:off x="7931872" y="177093"/>
              <a:ext cx="919725" cy="318025"/>
              <a:chOff x="7230903" y="4635722"/>
              <a:chExt cx="652843" cy="225742"/>
            </a:xfrm>
          </p:grpSpPr>
          <p:sp>
            <p:nvSpPr>
              <p:cNvPr id="694" name="Google Shape;694;p23"/>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3"/>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96" name="Google Shape;696;p23"/>
              <p:cNvGrpSpPr/>
              <p:nvPr/>
            </p:nvGrpSpPr>
            <p:grpSpPr>
              <a:xfrm>
                <a:off x="7487126" y="4676394"/>
                <a:ext cx="332041" cy="142684"/>
                <a:chOff x="7487126" y="4676394"/>
                <a:chExt cx="332041" cy="142684"/>
              </a:xfrm>
            </p:grpSpPr>
            <p:sp>
              <p:nvSpPr>
                <p:cNvPr id="697" name="Google Shape;697;p23"/>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3"/>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3"/>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3"/>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01" name="Google Shape;701;p23"/>
            <p:cNvGrpSpPr/>
            <p:nvPr/>
          </p:nvGrpSpPr>
          <p:grpSpPr>
            <a:xfrm>
              <a:off x="7931872" y="596163"/>
              <a:ext cx="919725" cy="318025"/>
              <a:chOff x="7230903" y="4933188"/>
              <a:chExt cx="652843" cy="225742"/>
            </a:xfrm>
          </p:grpSpPr>
          <p:grpSp>
            <p:nvGrpSpPr>
              <p:cNvPr id="702" name="Google Shape;702;p23"/>
              <p:cNvGrpSpPr/>
              <p:nvPr/>
            </p:nvGrpSpPr>
            <p:grpSpPr>
              <a:xfrm>
                <a:off x="7230903" y="4933188"/>
                <a:ext cx="652843" cy="225742"/>
                <a:chOff x="7230903" y="4933188"/>
                <a:chExt cx="652843" cy="225742"/>
              </a:xfrm>
            </p:grpSpPr>
            <p:sp>
              <p:nvSpPr>
                <p:cNvPr id="703" name="Google Shape;703;p23"/>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3"/>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05" name="Google Shape;705;p23"/>
                <p:cNvGrpSpPr/>
                <p:nvPr/>
              </p:nvGrpSpPr>
              <p:grpSpPr>
                <a:xfrm>
                  <a:off x="7487126" y="4973859"/>
                  <a:ext cx="332041" cy="142684"/>
                  <a:chOff x="7487126" y="4973859"/>
                  <a:chExt cx="332041" cy="142684"/>
                </a:xfrm>
              </p:grpSpPr>
              <p:sp>
                <p:nvSpPr>
                  <p:cNvPr id="706" name="Google Shape;706;p23"/>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3"/>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3"/>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3"/>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710" name="Google Shape;710;p23"/>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11" name="Google Shape;711;p23"/>
            <p:cNvGrpSpPr/>
            <p:nvPr/>
          </p:nvGrpSpPr>
          <p:grpSpPr>
            <a:xfrm>
              <a:off x="8756326" y="539537"/>
              <a:ext cx="173370" cy="112691"/>
              <a:chOff x="7816120" y="4892994"/>
              <a:chExt cx="123062" cy="79991"/>
            </a:xfrm>
          </p:grpSpPr>
          <p:grpSp>
            <p:nvGrpSpPr>
              <p:cNvPr id="712" name="Google Shape;712;p23"/>
              <p:cNvGrpSpPr/>
              <p:nvPr/>
            </p:nvGrpSpPr>
            <p:grpSpPr>
              <a:xfrm>
                <a:off x="7816120" y="4902803"/>
                <a:ext cx="123062" cy="63817"/>
                <a:chOff x="7816120" y="4902803"/>
                <a:chExt cx="123062" cy="63817"/>
              </a:xfrm>
            </p:grpSpPr>
            <p:sp>
              <p:nvSpPr>
                <p:cNvPr id="713" name="Google Shape;713;p23"/>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3"/>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15" name="Google Shape;715;p23"/>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16"/>
        <p:cNvGrpSpPr/>
        <p:nvPr/>
      </p:nvGrpSpPr>
      <p:grpSpPr>
        <a:xfrm>
          <a:off x="0" y="0"/>
          <a:ext cx="0" cy="0"/>
          <a:chOff x="0" y="0"/>
          <a:chExt cx="0" cy="0"/>
        </a:xfrm>
      </p:grpSpPr>
      <p:sp>
        <p:nvSpPr>
          <p:cNvPr id="717" name="Google Shape;717;p24"/>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24"/>
          <p:cNvGrpSpPr/>
          <p:nvPr/>
        </p:nvGrpSpPr>
        <p:grpSpPr>
          <a:xfrm>
            <a:off x="65066" y="4373044"/>
            <a:ext cx="878158" cy="654532"/>
            <a:chOff x="1114425" y="4361211"/>
            <a:chExt cx="573023" cy="427101"/>
          </a:xfrm>
        </p:grpSpPr>
        <p:grpSp>
          <p:nvGrpSpPr>
            <p:cNvPr id="720" name="Google Shape;720;p24"/>
            <p:cNvGrpSpPr/>
            <p:nvPr/>
          </p:nvGrpSpPr>
          <p:grpSpPr>
            <a:xfrm>
              <a:off x="1114425" y="4361211"/>
              <a:ext cx="573023" cy="427101"/>
              <a:chOff x="1114425" y="4361211"/>
              <a:chExt cx="573023" cy="427101"/>
            </a:xfrm>
          </p:grpSpPr>
          <p:sp>
            <p:nvSpPr>
              <p:cNvPr id="721" name="Google Shape;721;p2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24" name="Google Shape;724;p2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5" name="Google Shape;725;p24"/>
          <p:cNvGrpSpPr/>
          <p:nvPr/>
        </p:nvGrpSpPr>
        <p:grpSpPr>
          <a:xfrm>
            <a:off x="8114970" y="266839"/>
            <a:ext cx="829992" cy="750888"/>
            <a:chOff x="8114596" y="445039"/>
            <a:chExt cx="633002" cy="572716"/>
          </a:xfrm>
        </p:grpSpPr>
        <p:grpSp>
          <p:nvGrpSpPr>
            <p:cNvPr id="726" name="Google Shape;726;p24"/>
            <p:cNvGrpSpPr/>
            <p:nvPr/>
          </p:nvGrpSpPr>
          <p:grpSpPr>
            <a:xfrm>
              <a:off x="8114596" y="445039"/>
              <a:ext cx="633002" cy="572716"/>
              <a:chOff x="7189660" y="520827"/>
              <a:chExt cx="598074" cy="541115"/>
            </a:xfrm>
          </p:grpSpPr>
          <p:sp>
            <p:nvSpPr>
              <p:cNvPr id="727" name="Google Shape;727;p2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28" name="Google Shape;728;p24"/>
              <p:cNvGrpSpPr/>
              <p:nvPr/>
            </p:nvGrpSpPr>
            <p:grpSpPr>
              <a:xfrm>
                <a:off x="7579137" y="551973"/>
                <a:ext cx="164782" cy="41529"/>
                <a:chOff x="7579137" y="551973"/>
                <a:chExt cx="164782" cy="41529"/>
              </a:xfrm>
            </p:grpSpPr>
            <p:sp>
              <p:nvSpPr>
                <p:cNvPr id="729" name="Google Shape;729;p2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32" name="Google Shape;732;p24"/>
            <p:cNvGrpSpPr/>
            <p:nvPr/>
          </p:nvGrpSpPr>
          <p:grpSpPr>
            <a:xfrm>
              <a:off x="8184962" y="619646"/>
              <a:ext cx="498115" cy="257273"/>
              <a:chOff x="7256144" y="685800"/>
              <a:chExt cx="470630" cy="243077"/>
            </a:xfrm>
          </p:grpSpPr>
          <p:sp>
            <p:nvSpPr>
              <p:cNvPr id="733" name="Google Shape;733;p2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34" name="Google Shape;734;p24"/>
              <p:cNvGrpSpPr/>
              <p:nvPr/>
            </p:nvGrpSpPr>
            <p:grpSpPr>
              <a:xfrm>
                <a:off x="7512843" y="685800"/>
                <a:ext cx="213931" cy="243077"/>
                <a:chOff x="7512843" y="685800"/>
                <a:chExt cx="213931" cy="243077"/>
              </a:xfrm>
            </p:grpSpPr>
            <p:grpSp>
              <p:nvGrpSpPr>
                <p:cNvPr id="735" name="Google Shape;735;p24"/>
                <p:cNvGrpSpPr/>
                <p:nvPr/>
              </p:nvGrpSpPr>
              <p:grpSpPr>
                <a:xfrm>
                  <a:off x="7512843" y="836580"/>
                  <a:ext cx="213931" cy="92297"/>
                  <a:chOff x="7512843" y="836580"/>
                  <a:chExt cx="213931" cy="92297"/>
                </a:xfrm>
              </p:grpSpPr>
              <p:sp>
                <p:nvSpPr>
                  <p:cNvPr id="736" name="Google Shape;736;p2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8" name="Google Shape;738;p24"/>
                <p:cNvGrpSpPr/>
                <p:nvPr/>
              </p:nvGrpSpPr>
              <p:grpSpPr>
                <a:xfrm>
                  <a:off x="7512843" y="761238"/>
                  <a:ext cx="213931" cy="92296"/>
                  <a:chOff x="7512843" y="761238"/>
                  <a:chExt cx="213931" cy="92296"/>
                </a:xfrm>
              </p:grpSpPr>
              <p:sp>
                <p:nvSpPr>
                  <p:cNvPr id="739" name="Google Shape;739;p2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1" name="Google Shape;741;p24"/>
                <p:cNvGrpSpPr/>
                <p:nvPr/>
              </p:nvGrpSpPr>
              <p:grpSpPr>
                <a:xfrm>
                  <a:off x="7512843" y="685800"/>
                  <a:ext cx="213931" cy="92297"/>
                  <a:chOff x="7512843" y="685800"/>
                  <a:chExt cx="213931" cy="92297"/>
                </a:xfrm>
              </p:grpSpPr>
              <p:sp>
                <p:nvSpPr>
                  <p:cNvPr id="742" name="Google Shape;742;p2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1pPr>
            <a:lvl2pPr lvl="1"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2pPr>
            <a:lvl3pPr lvl="2"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3pPr>
            <a:lvl4pPr lvl="3"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4pPr>
            <a:lvl5pPr lvl="4"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5pPr>
            <a:lvl6pPr lvl="5"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6pPr>
            <a:lvl7pPr lvl="6"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7pPr>
            <a:lvl8pPr lvl="7"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8pPr>
            <a:lvl9pPr lvl="8"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8" r:id="rId9"/>
    <p:sldLayoutId id="2147483659" r:id="rId10"/>
    <p:sldLayoutId id="2147483661" r:id="rId11"/>
    <p:sldLayoutId id="2147483662" r:id="rId12"/>
    <p:sldLayoutId id="2147483663" r:id="rId13"/>
    <p:sldLayoutId id="2147483666" r:id="rId14"/>
    <p:sldLayoutId id="2147483667" r:id="rId15"/>
    <p:sldLayoutId id="2147483668" r:id="rId16"/>
    <p:sldLayoutId id="2147483669" r:id="rId17"/>
    <p:sldLayoutId id="2147483670"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9.png"/><Relationship Id="rId12" Type="http://schemas.microsoft.com/office/2007/relationships/hdphoto" Target="../media/hdphoto5.wdp"/><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microsoft.com/office/2007/relationships/hdphoto" Target="../media/hdphoto2.wdp"/><Relationship Id="rId11" Type="http://schemas.openxmlformats.org/officeDocument/2006/relationships/image" Target="../media/image11.png"/><Relationship Id="rId5" Type="http://schemas.openxmlformats.org/officeDocument/2006/relationships/image" Target="../media/image8.png"/><Relationship Id="rId10" Type="http://schemas.microsoft.com/office/2007/relationships/hdphoto" Target="../media/hdphoto4.wdp"/><Relationship Id="rId4" Type="http://schemas.openxmlformats.org/officeDocument/2006/relationships/image" Target="../media/image2.svg"/><Relationship Id="rId9" Type="http://schemas.openxmlformats.org/officeDocument/2006/relationships/image" Target="../media/image10.png"/><Relationship Id="rId14" Type="http://schemas.microsoft.com/office/2007/relationships/hdphoto" Target="../media/hdphoto6.wdp"/></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28"/>
          <p:cNvSpPr/>
          <p:nvPr/>
        </p:nvSpPr>
        <p:spPr>
          <a:xfrm rot="1053742">
            <a:off x="4909608" y="421118"/>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7" name="Google Shape;757;p28"/>
          <p:cNvGrpSpPr/>
          <p:nvPr/>
        </p:nvGrpSpPr>
        <p:grpSpPr>
          <a:xfrm>
            <a:off x="5165167" y="656304"/>
            <a:ext cx="3841017" cy="3831227"/>
            <a:chOff x="5165167" y="656304"/>
            <a:chExt cx="3841017" cy="3831227"/>
          </a:xfrm>
        </p:grpSpPr>
        <p:grpSp>
          <p:nvGrpSpPr>
            <p:cNvPr id="758" name="Google Shape;758;p28"/>
            <p:cNvGrpSpPr/>
            <p:nvPr/>
          </p:nvGrpSpPr>
          <p:grpSpPr>
            <a:xfrm>
              <a:off x="5631673" y="1763897"/>
              <a:ext cx="2961645" cy="1992933"/>
              <a:chOff x="5311140" y="3874579"/>
              <a:chExt cx="2693384" cy="1812416"/>
            </a:xfrm>
          </p:grpSpPr>
          <p:grpSp>
            <p:nvGrpSpPr>
              <p:cNvPr id="759" name="Google Shape;759;p28"/>
              <p:cNvGrpSpPr/>
              <p:nvPr/>
            </p:nvGrpSpPr>
            <p:grpSpPr>
              <a:xfrm>
                <a:off x="6183439" y="5359431"/>
                <a:ext cx="948880" cy="327564"/>
                <a:chOff x="6183439" y="5359431"/>
                <a:chExt cx="948880" cy="327564"/>
              </a:xfrm>
            </p:grpSpPr>
            <p:sp>
              <p:nvSpPr>
                <p:cNvPr id="760" name="Google Shape;760;p28"/>
                <p:cNvSpPr/>
                <p:nvPr/>
              </p:nvSpPr>
              <p:spPr>
                <a:xfrm>
                  <a:off x="6459569" y="5359431"/>
                  <a:ext cx="396621" cy="291274"/>
                </a:xfrm>
                <a:custGeom>
                  <a:avLst/>
                  <a:gdLst/>
                  <a:ahLst/>
                  <a:cxnLst/>
                  <a:rect l="l" t="t" r="r" b="b"/>
                  <a:pathLst>
                    <a:path w="396621" h="291274" extrusionOk="0">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8"/>
                <p:cNvSpPr/>
                <p:nvPr/>
              </p:nvSpPr>
              <p:spPr>
                <a:xfrm>
                  <a:off x="6459569" y="5359431"/>
                  <a:ext cx="140303" cy="59054"/>
                </a:xfrm>
                <a:custGeom>
                  <a:avLst/>
                  <a:gdLst/>
                  <a:ahLst/>
                  <a:cxnLst/>
                  <a:rect l="l" t="t" r="r" b="b"/>
                  <a:pathLst>
                    <a:path w="140303" h="59054" extrusionOk="0">
                      <a:moveTo>
                        <a:pt x="0" y="0"/>
                      </a:moveTo>
                      <a:lnTo>
                        <a:pt x="140304" y="0"/>
                      </a:lnTo>
                      <a:lnTo>
                        <a:pt x="140304" y="59055"/>
                      </a:lnTo>
                      <a:lnTo>
                        <a:pt x="0" y="42862"/>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28"/>
                <p:cNvSpPr/>
                <p:nvPr/>
              </p:nvSpPr>
              <p:spPr>
                <a:xfrm>
                  <a:off x="6715982" y="5359431"/>
                  <a:ext cx="140207" cy="88391"/>
                </a:xfrm>
                <a:custGeom>
                  <a:avLst/>
                  <a:gdLst/>
                  <a:ahLst/>
                  <a:cxnLst/>
                  <a:rect l="l" t="t" r="r" b="b"/>
                  <a:pathLst>
                    <a:path w="140207" h="88391" extrusionOk="0">
                      <a:moveTo>
                        <a:pt x="140208" y="0"/>
                      </a:moveTo>
                      <a:lnTo>
                        <a:pt x="140208" y="88392"/>
                      </a:lnTo>
                      <a:lnTo>
                        <a:pt x="0" y="72295"/>
                      </a:lnTo>
                      <a:lnTo>
                        <a:pt x="0" y="0"/>
                      </a:lnTo>
                      <a:lnTo>
                        <a:pt x="14020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28"/>
                <p:cNvSpPr/>
                <p:nvPr/>
              </p:nvSpPr>
              <p:spPr>
                <a:xfrm>
                  <a:off x="6183439" y="5647467"/>
                  <a:ext cx="948880" cy="39528"/>
                </a:xfrm>
                <a:custGeom>
                  <a:avLst/>
                  <a:gdLst/>
                  <a:ahLst/>
                  <a:cxnLst/>
                  <a:rect l="l" t="t" r="r" b="b"/>
                  <a:pathLst>
                    <a:path w="948880" h="39528" extrusionOk="0">
                      <a:moveTo>
                        <a:pt x="0" y="0"/>
                      </a:moveTo>
                      <a:lnTo>
                        <a:pt x="948880" y="0"/>
                      </a:lnTo>
                      <a:lnTo>
                        <a:pt x="948880" y="39529"/>
                      </a:lnTo>
                      <a:lnTo>
                        <a:pt x="0" y="395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64" name="Google Shape;764;p28"/>
              <p:cNvSpPr/>
              <p:nvPr/>
            </p:nvSpPr>
            <p:spPr>
              <a:xfrm>
                <a:off x="5311140" y="3874579"/>
                <a:ext cx="2693384" cy="1517428"/>
              </a:xfrm>
              <a:custGeom>
                <a:avLst/>
                <a:gdLst/>
                <a:ahLst/>
                <a:cxnLst/>
                <a:rect l="l" t="t" r="r" b="b"/>
                <a:pathLst>
                  <a:path w="2693384" h="1517428" extrusionOk="0">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28"/>
              <p:cNvSpPr/>
              <p:nvPr/>
            </p:nvSpPr>
            <p:spPr>
              <a:xfrm>
                <a:off x="5311140" y="4009739"/>
                <a:ext cx="2693384" cy="1223295"/>
              </a:xfrm>
              <a:custGeom>
                <a:avLst/>
                <a:gdLst/>
                <a:ahLst/>
                <a:cxnLst/>
                <a:rect l="l" t="t" r="r" b="b"/>
                <a:pathLst>
                  <a:path w="2693384" h="1223295" extrusionOk="0">
                    <a:moveTo>
                      <a:pt x="0" y="0"/>
                    </a:moveTo>
                    <a:lnTo>
                      <a:pt x="2693384" y="0"/>
                    </a:lnTo>
                    <a:lnTo>
                      <a:pt x="2693384" y="1223296"/>
                    </a:lnTo>
                    <a:lnTo>
                      <a:pt x="0" y="1223296"/>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28"/>
              <p:cNvSpPr/>
              <p:nvPr/>
            </p:nvSpPr>
            <p:spPr>
              <a:xfrm>
                <a:off x="6619875" y="5273611"/>
                <a:ext cx="76009" cy="76009"/>
              </a:xfrm>
              <a:custGeom>
                <a:avLst/>
                <a:gdLst/>
                <a:ahLst/>
                <a:cxnLst/>
                <a:rect l="l" t="t" r="r" b="b"/>
                <a:pathLst>
                  <a:path w="76009" h="76009" extrusionOk="0">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7" name="Google Shape;767;p28"/>
            <p:cNvGrpSpPr/>
            <p:nvPr/>
          </p:nvGrpSpPr>
          <p:grpSpPr>
            <a:xfrm>
              <a:off x="6285440" y="656304"/>
              <a:ext cx="1654423" cy="835905"/>
              <a:chOff x="5905690" y="2867310"/>
              <a:chExt cx="1504568" cy="760190"/>
            </a:xfrm>
          </p:grpSpPr>
          <p:sp>
            <p:nvSpPr>
              <p:cNvPr id="768" name="Google Shape;768;p28"/>
              <p:cNvSpPr/>
              <p:nvPr/>
            </p:nvSpPr>
            <p:spPr>
              <a:xfrm>
                <a:off x="5905690" y="2867310"/>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8"/>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0" name="Google Shape;770;p28"/>
            <p:cNvGrpSpPr/>
            <p:nvPr/>
          </p:nvGrpSpPr>
          <p:grpSpPr>
            <a:xfrm>
              <a:off x="8276803" y="1327941"/>
              <a:ext cx="387944" cy="273258"/>
              <a:chOff x="7716678" y="3270218"/>
              <a:chExt cx="352805" cy="248507"/>
            </a:xfrm>
          </p:grpSpPr>
          <p:sp>
            <p:nvSpPr>
              <p:cNvPr id="771" name="Google Shape;771;p28"/>
              <p:cNvSpPr/>
              <p:nvPr/>
            </p:nvSpPr>
            <p:spPr>
              <a:xfrm>
                <a:off x="7716678" y="3270218"/>
                <a:ext cx="352805" cy="248507"/>
              </a:xfrm>
              <a:custGeom>
                <a:avLst/>
                <a:gdLst/>
                <a:ahLst/>
                <a:cxnLst/>
                <a:rect l="l" t="t" r="r" b="b"/>
                <a:pathLst>
                  <a:path w="352805" h="248507" extrusionOk="0">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28"/>
              <p:cNvSpPr/>
              <p:nvPr/>
            </p:nvSpPr>
            <p:spPr>
              <a:xfrm>
                <a:off x="7783353" y="3331749"/>
                <a:ext cx="219455" cy="59054"/>
              </a:xfrm>
              <a:custGeom>
                <a:avLst/>
                <a:gdLst/>
                <a:ahLst/>
                <a:cxnLst/>
                <a:rect l="l" t="t" r="r" b="b"/>
                <a:pathLst>
                  <a:path w="219455" h="59054" extrusionOk="0">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73" name="Google Shape;773;p28"/>
            <p:cNvSpPr/>
            <p:nvPr/>
          </p:nvSpPr>
          <p:spPr>
            <a:xfrm>
              <a:off x="7148815" y="1542896"/>
              <a:ext cx="10501" cy="432759"/>
            </a:xfrm>
            <a:custGeom>
              <a:avLst/>
              <a:gdLst/>
              <a:ahLst/>
              <a:cxnLst/>
              <a:rect l="l" t="t" r="r" b="b"/>
              <a:pathLst>
                <a:path w="9525" h="392525" extrusionOk="0">
                  <a:moveTo>
                    <a:pt x="0" y="0"/>
                  </a:moveTo>
                  <a:lnTo>
                    <a:pt x="0" y="392525"/>
                  </a:lnTo>
                </a:path>
              </a:pathLst>
            </a:custGeom>
            <a:noFill/>
            <a:ln w="29900" cap="rnd"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74" name="Google Shape;774;p28"/>
            <p:cNvGrpSpPr/>
            <p:nvPr/>
          </p:nvGrpSpPr>
          <p:grpSpPr>
            <a:xfrm>
              <a:off x="5483130" y="2415465"/>
              <a:ext cx="27232" cy="532378"/>
              <a:chOff x="3534917" y="4467129"/>
              <a:chExt cx="24765" cy="484156"/>
            </a:xfrm>
          </p:grpSpPr>
          <p:sp>
            <p:nvSpPr>
              <p:cNvPr id="775" name="Google Shape;775;p2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2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2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8" name="Google Shape;778;p28"/>
            <p:cNvGrpSpPr/>
            <p:nvPr/>
          </p:nvGrpSpPr>
          <p:grpSpPr>
            <a:xfrm>
              <a:off x="5643247" y="2277185"/>
              <a:ext cx="749418" cy="303868"/>
              <a:chOff x="3680531" y="4341375"/>
              <a:chExt cx="681537" cy="276344"/>
            </a:xfrm>
          </p:grpSpPr>
          <p:sp>
            <p:nvSpPr>
              <p:cNvPr id="779" name="Google Shape;779;p28"/>
              <p:cNvSpPr/>
              <p:nvPr/>
            </p:nvSpPr>
            <p:spPr>
              <a:xfrm>
                <a:off x="3692461" y="4353401"/>
                <a:ext cx="657796" cy="251936"/>
              </a:xfrm>
              <a:custGeom>
                <a:avLst/>
                <a:gdLst/>
                <a:ahLst/>
                <a:cxnLst/>
                <a:rect l="l" t="t" r="r" b="b"/>
                <a:pathLst>
                  <a:path w="657796" h="251936" extrusionOk="0">
                    <a:moveTo>
                      <a:pt x="0" y="0"/>
                    </a:moveTo>
                    <a:lnTo>
                      <a:pt x="217075" y="217075"/>
                    </a:lnTo>
                    <a:cubicBezTo>
                      <a:pt x="239363" y="239363"/>
                      <a:pt x="269653" y="251936"/>
                      <a:pt x="301180" y="251936"/>
                    </a:cubicBezTo>
                    <a:lnTo>
                      <a:pt x="657797" y="251936"/>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28"/>
              <p:cNvSpPr/>
              <p:nvPr/>
            </p:nvSpPr>
            <p:spPr>
              <a:xfrm>
                <a:off x="3680531" y="4341375"/>
                <a:ext cx="24812" cy="24812"/>
              </a:xfrm>
              <a:custGeom>
                <a:avLst/>
                <a:gdLst/>
                <a:ahLst/>
                <a:cxnLst/>
                <a:rect l="l" t="t" r="r" b="b"/>
                <a:pathLst>
                  <a:path w="24812" h="24812" extrusionOk="0">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28"/>
              <p:cNvSpPr/>
              <p:nvPr/>
            </p:nvSpPr>
            <p:spPr>
              <a:xfrm>
                <a:off x="4337303" y="4592955"/>
                <a:ext cx="24765" cy="24764"/>
              </a:xfrm>
              <a:custGeom>
                <a:avLst/>
                <a:gdLst/>
                <a:ahLst/>
                <a:cxnLst/>
                <a:rect l="l" t="t" r="r" b="b"/>
                <a:pathLst>
                  <a:path w="24765" h="24764" extrusionOk="0">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2" name="Google Shape;782;p28"/>
            <p:cNvGrpSpPr/>
            <p:nvPr/>
          </p:nvGrpSpPr>
          <p:grpSpPr>
            <a:xfrm>
              <a:off x="8163164" y="4027994"/>
              <a:ext cx="202142" cy="355685"/>
              <a:chOff x="7613332" y="5933598"/>
              <a:chExt cx="183832" cy="323468"/>
            </a:xfrm>
          </p:grpSpPr>
          <p:sp>
            <p:nvSpPr>
              <p:cNvPr id="783" name="Google Shape;783;p28"/>
              <p:cNvSpPr/>
              <p:nvPr/>
            </p:nvSpPr>
            <p:spPr>
              <a:xfrm>
                <a:off x="7613332" y="5933598"/>
                <a:ext cx="183832" cy="323468"/>
              </a:xfrm>
              <a:custGeom>
                <a:avLst/>
                <a:gdLst/>
                <a:ahLst/>
                <a:cxnLst/>
                <a:rect l="l" t="t" r="r" b="b"/>
                <a:pathLst>
                  <a:path w="183832" h="323468" extrusionOk="0">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28"/>
              <p:cNvSpPr/>
              <p:nvPr/>
            </p:nvSpPr>
            <p:spPr>
              <a:xfrm>
                <a:off x="7699533" y="5961602"/>
                <a:ext cx="11430" cy="54101"/>
              </a:xfrm>
              <a:custGeom>
                <a:avLst/>
                <a:gdLst/>
                <a:ahLst/>
                <a:cxnLst/>
                <a:rect l="l" t="t" r="r" b="b"/>
                <a:pathLst>
                  <a:path w="11430" h="54101" extrusionOk="0">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5" name="Google Shape;785;p28"/>
            <p:cNvGrpSpPr/>
            <p:nvPr/>
          </p:nvGrpSpPr>
          <p:grpSpPr>
            <a:xfrm>
              <a:off x="6427831" y="3923439"/>
              <a:ext cx="1533857" cy="564092"/>
              <a:chOff x="6546554" y="3679108"/>
              <a:chExt cx="1256642" cy="462143"/>
            </a:xfrm>
          </p:grpSpPr>
          <p:sp>
            <p:nvSpPr>
              <p:cNvPr id="786" name="Google Shape;786;p28"/>
              <p:cNvSpPr/>
              <p:nvPr/>
            </p:nvSpPr>
            <p:spPr>
              <a:xfrm>
                <a:off x="6546554" y="3679108"/>
                <a:ext cx="1256642" cy="462143"/>
              </a:xfrm>
              <a:custGeom>
                <a:avLst/>
                <a:gdLst/>
                <a:ahLst/>
                <a:cxnLst/>
                <a:rect l="l" t="t" r="r" b="b"/>
                <a:pathLst>
                  <a:path w="1396269" h="513492" extrusionOk="0">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28"/>
              <p:cNvSpPr/>
              <p:nvPr/>
            </p:nvSpPr>
            <p:spPr>
              <a:xfrm>
                <a:off x="6661108" y="3712144"/>
                <a:ext cx="69522" cy="69522"/>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88" name="Google Shape;788;p28"/>
              <p:cNvGrpSpPr/>
              <p:nvPr/>
            </p:nvGrpSpPr>
            <p:grpSpPr>
              <a:xfrm>
                <a:off x="6805960" y="3712311"/>
                <a:ext cx="391811" cy="69592"/>
                <a:chOff x="6322885" y="5875210"/>
                <a:chExt cx="434911" cy="77247"/>
              </a:xfrm>
            </p:grpSpPr>
            <p:sp>
              <p:nvSpPr>
                <p:cNvPr id="789" name="Google Shape;789;p28"/>
                <p:cNvSpPr/>
                <p:nvPr/>
              </p:nvSpPr>
              <p:spPr>
                <a:xfrm>
                  <a:off x="632288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28"/>
                <p:cNvSpPr/>
                <p:nvPr/>
              </p:nvSpPr>
              <p:spPr>
                <a:xfrm>
                  <a:off x="641232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8"/>
                <p:cNvSpPr/>
                <p:nvPr/>
              </p:nvSpPr>
              <p:spPr>
                <a:xfrm>
                  <a:off x="6501765"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8"/>
                <p:cNvSpPr/>
                <p:nvPr/>
              </p:nvSpPr>
              <p:spPr>
                <a:xfrm>
                  <a:off x="6591109"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28"/>
                <p:cNvSpPr/>
                <p:nvPr/>
              </p:nvSpPr>
              <p:spPr>
                <a:xfrm>
                  <a:off x="6680549"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94" name="Google Shape;794;p28"/>
              <p:cNvGrpSpPr/>
              <p:nvPr/>
            </p:nvGrpSpPr>
            <p:grpSpPr>
              <a:xfrm>
                <a:off x="7285642" y="3712311"/>
                <a:ext cx="391897" cy="69592"/>
                <a:chOff x="6855333" y="5875210"/>
                <a:chExt cx="435006" cy="77247"/>
              </a:xfrm>
            </p:grpSpPr>
            <p:sp>
              <p:nvSpPr>
                <p:cNvPr id="795" name="Google Shape;795;p28"/>
                <p:cNvSpPr/>
                <p:nvPr/>
              </p:nvSpPr>
              <p:spPr>
                <a:xfrm>
                  <a:off x="6855333"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28"/>
                <p:cNvSpPr/>
                <p:nvPr/>
              </p:nvSpPr>
              <p:spPr>
                <a:xfrm>
                  <a:off x="6944772"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28"/>
                <p:cNvSpPr/>
                <p:nvPr/>
              </p:nvSpPr>
              <p:spPr>
                <a:xfrm>
                  <a:off x="703421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28"/>
                <p:cNvSpPr/>
                <p:nvPr/>
              </p:nvSpPr>
              <p:spPr>
                <a:xfrm>
                  <a:off x="712365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28"/>
                <p:cNvSpPr/>
                <p:nvPr/>
              </p:nvSpPr>
              <p:spPr>
                <a:xfrm>
                  <a:off x="721309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00" name="Google Shape;800;p28"/>
              <p:cNvGrpSpPr/>
              <p:nvPr/>
            </p:nvGrpSpPr>
            <p:grpSpPr>
              <a:xfrm>
                <a:off x="6577103" y="3819746"/>
                <a:ext cx="1198690" cy="70794"/>
                <a:chOff x="6068853" y="5994463"/>
                <a:chExt cx="1330547" cy="78581"/>
              </a:xfrm>
            </p:grpSpPr>
            <p:sp>
              <p:nvSpPr>
                <p:cNvPr id="801" name="Google Shape;801;p28"/>
                <p:cNvSpPr/>
                <p:nvPr/>
              </p:nvSpPr>
              <p:spPr>
                <a:xfrm>
                  <a:off x="6068853"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28"/>
                <p:cNvSpPr/>
                <p:nvPr/>
              </p:nvSpPr>
              <p:spPr>
                <a:xfrm>
                  <a:off x="617315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28"/>
                <p:cNvSpPr/>
                <p:nvPr/>
              </p:nvSpPr>
              <p:spPr>
                <a:xfrm>
                  <a:off x="6277451"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28"/>
                <p:cNvSpPr/>
                <p:nvPr/>
              </p:nvSpPr>
              <p:spPr>
                <a:xfrm>
                  <a:off x="638184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28"/>
                <p:cNvSpPr/>
                <p:nvPr/>
              </p:nvSpPr>
              <p:spPr>
                <a:xfrm>
                  <a:off x="648614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28"/>
                <p:cNvSpPr/>
                <p:nvPr/>
              </p:nvSpPr>
              <p:spPr>
                <a:xfrm>
                  <a:off x="659044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28"/>
                <p:cNvSpPr/>
                <p:nvPr/>
              </p:nvSpPr>
              <p:spPr>
                <a:xfrm>
                  <a:off x="669483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28"/>
                <p:cNvSpPr/>
                <p:nvPr/>
              </p:nvSpPr>
              <p:spPr>
                <a:xfrm>
                  <a:off x="679913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28"/>
                <p:cNvSpPr/>
                <p:nvPr/>
              </p:nvSpPr>
              <p:spPr>
                <a:xfrm>
                  <a:off x="690343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8"/>
                <p:cNvSpPr/>
                <p:nvPr/>
              </p:nvSpPr>
              <p:spPr>
                <a:xfrm>
                  <a:off x="7007828"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28"/>
                <p:cNvSpPr/>
                <p:nvPr/>
              </p:nvSpPr>
              <p:spPr>
                <a:xfrm>
                  <a:off x="711212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28"/>
                <p:cNvSpPr/>
                <p:nvPr/>
              </p:nvSpPr>
              <p:spPr>
                <a:xfrm>
                  <a:off x="721642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8"/>
                <p:cNvSpPr/>
                <p:nvPr/>
              </p:nvSpPr>
              <p:spPr>
                <a:xfrm>
                  <a:off x="7320819" y="5994463"/>
                  <a:ext cx="78581" cy="78581"/>
                </a:xfrm>
                <a:custGeom>
                  <a:avLst/>
                  <a:gdLst/>
                  <a:ahLst/>
                  <a:cxnLst/>
                  <a:rect l="l" t="t" r="r" b="b"/>
                  <a:pathLst>
                    <a:path w="78581" h="78581" extrusionOk="0">
                      <a:moveTo>
                        <a:pt x="0" y="0"/>
                      </a:moveTo>
                      <a:lnTo>
                        <a:pt x="78582" y="0"/>
                      </a:lnTo>
                      <a:lnTo>
                        <a:pt x="78582"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14" name="Google Shape;814;p28"/>
              <p:cNvGrpSpPr/>
              <p:nvPr/>
            </p:nvGrpSpPr>
            <p:grpSpPr>
              <a:xfrm>
                <a:off x="6577103" y="3995572"/>
                <a:ext cx="1198690" cy="70794"/>
                <a:chOff x="6068853" y="6189630"/>
                <a:chExt cx="1330547" cy="78581"/>
              </a:xfrm>
            </p:grpSpPr>
            <p:sp>
              <p:nvSpPr>
                <p:cNvPr id="815" name="Google Shape;815;p28"/>
                <p:cNvSpPr/>
                <p:nvPr/>
              </p:nvSpPr>
              <p:spPr>
                <a:xfrm>
                  <a:off x="6068853"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8"/>
                <p:cNvSpPr/>
                <p:nvPr/>
              </p:nvSpPr>
              <p:spPr>
                <a:xfrm>
                  <a:off x="6173152"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28"/>
                <p:cNvSpPr/>
                <p:nvPr/>
              </p:nvSpPr>
              <p:spPr>
                <a:xfrm>
                  <a:off x="6277451" y="6189630"/>
                  <a:ext cx="497300" cy="78581"/>
                </a:xfrm>
                <a:custGeom>
                  <a:avLst/>
                  <a:gdLst/>
                  <a:ahLst/>
                  <a:cxnLst/>
                  <a:rect l="l" t="t" r="r" b="b"/>
                  <a:pathLst>
                    <a:path w="497300" h="78581" extrusionOk="0">
                      <a:moveTo>
                        <a:pt x="0" y="0"/>
                      </a:moveTo>
                      <a:lnTo>
                        <a:pt x="497300" y="0"/>
                      </a:lnTo>
                      <a:lnTo>
                        <a:pt x="497300"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28"/>
                <p:cNvSpPr/>
                <p:nvPr/>
              </p:nvSpPr>
              <p:spPr>
                <a:xfrm>
                  <a:off x="679913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28"/>
                <p:cNvSpPr/>
                <p:nvPr/>
              </p:nvSpPr>
              <p:spPr>
                <a:xfrm>
                  <a:off x="6903434"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28"/>
                <p:cNvSpPr/>
                <p:nvPr/>
              </p:nvSpPr>
              <p:spPr>
                <a:xfrm>
                  <a:off x="7007828"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28"/>
                <p:cNvSpPr/>
                <p:nvPr/>
              </p:nvSpPr>
              <p:spPr>
                <a:xfrm>
                  <a:off x="7112126"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28"/>
                <p:cNvSpPr/>
                <p:nvPr/>
              </p:nvSpPr>
              <p:spPr>
                <a:xfrm>
                  <a:off x="721642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28"/>
                <p:cNvSpPr/>
                <p:nvPr/>
              </p:nvSpPr>
              <p:spPr>
                <a:xfrm>
                  <a:off x="7320819" y="6189630"/>
                  <a:ext cx="78581" cy="78581"/>
                </a:xfrm>
                <a:custGeom>
                  <a:avLst/>
                  <a:gdLst/>
                  <a:ahLst/>
                  <a:cxnLst/>
                  <a:rect l="l" t="t" r="r" b="b"/>
                  <a:pathLst>
                    <a:path w="78581" h="78581" extrusionOk="0">
                      <a:moveTo>
                        <a:pt x="0" y="0"/>
                      </a:moveTo>
                      <a:lnTo>
                        <a:pt x="78582" y="0"/>
                      </a:lnTo>
                      <a:lnTo>
                        <a:pt x="78582"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4" name="Google Shape;824;p28"/>
              <p:cNvGrpSpPr/>
              <p:nvPr/>
            </p:nvGrpSpPr>
            <p:grpSpPr>
              <a:xfrm>
                <a:off x="6622239" y="3908904"/>
                <a:ext cx="1104727" cy="70794"/>
                <a:chOff x="6118955" y="6093428"/>
                <a:chExt cx="1226248" cy="78581"/>
              </a:xfrm>
            </p:grpSpPr>
            <p:sp>
              <p:nvSpPr>
                <p:cNvPr id="825" name="Google Shape;825;p28"/>
                <p:cNvSpPr/>
                <p:nvPr/>
              </p:nvSpPr>
              <p:spPr>
                <a:xfrm>
                  <a:off x="611895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8"/>
                <p:cNvSpPr/>
                <p:nvPr/>
              </p:nvSpPr>
              <p:spPr>
                <a:xfrm>
                  <a:off x="6223254"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28"/>
                <p:cNvSpPr/>
                <p:nvPr/>
              </p:nvSpPr>
              <p:spPr>
                <a:xfrm>
                  <a:off x="632764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28"/>
                <p:cNvSpPr/>
                <p:nvPr/>
              </p:nvSpPr>
              <p:spPr>
                <a:xfrm>
                  <a:off x="6431946"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8"/>
                <p:cNvSpPr/>
                <p:nvPr/>
              </p:nvSpPr>
              <p:spPr>
                <a:xfrm>
                  <a:off x="653624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28"/>
                <p:cNvSpPr/>
                <p:nvPr/>
              </p:nvSpPr>
              <p:spPr>
                <a:xfrm>
                  <a:off x="664063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28"/>
                <p:cNvSpPr/>
                <p:nvPr/>
              </p:nvSpPr>
              <p:spPr>
                <a:xfrm>
                  <a:off x="674493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8"/>
                <p:cNvSpPr/>
                <p:nvPr/>
              </p:nvSpPr>
              <p:spPr>
                <a:xfrm>
                  <a:off x="6849237"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28"/>
                <p:cNvSpPr/>
                <p:nvPr/>
              </p:nvSpPr>
              <p:spPr>
                <a:xfrm>
                  <a:off x="6953631"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28"/>
                <p:cNvSpPr/>
                <p:nvPr/>
              </p:nvSpPr>
              <p:spPr>
                <a:xfrm>
                  <a:off x="705792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8"/>
                <p:cNvSpPr/>
                <p:nvPr/>
              </p:nvSpPr>
              <p:spPr>
                <a:xfrm>
                  <a:off x="716222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28"/>
                <p:cNvSpPr/>
                <p:nvPr/>
              </p:nvSpPr>
              <p:spPr>
                <a:xfrm>
                  <a:off x="7266622"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37" name="Google Shape;837;p28"/>
              <p:cNvSpPr/>
              <p:nvPr/>
            </p:nvSpPr>
            <p:spPr>
              <a:xfrm>
                <a:off x="7740658" y="3711543"/>
                <a:ext cx="33604" cy="33604"/>
              </a:xfrm>
              <a:custGeom>
                <a:avLst/>
                <a:gdLst/>
                <a:ahLst/>
                <a:cxnLst/>
                <a:rect l="l" t="t" r="r" b="b"/>
                <a:pathLst>
                  <a:path w="37338" h="37338" extrusionOk="0">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38" name="Google Shape;838;p28"/>
            <p:cNvGrpSpPr/>
            <p:nvPr/>
          </p:nvGrpSpPr>
          <p:grpSpPr>
            <a:xfrm>
              <a:off x="6367914" y="2012818"/>
              <a:ext cx="1448168" cy="1250722"/>
              <a:chOff x="6497466" y="2113795"/>
              <a:chExt cx="1186439" cy="1024678"/>
            </a:xfrm>
          </p:grpSpPr>
          <p:sp>
            <p:nvSpPr>
              <p:cNvPr id="839" name="Google Shape;839;p28"/>
              <p:cNvSpPr/>
              <p:nvPr/>
            </p:nvSpPr>
            <p:spPr>
              <a:xfrm>
                <a:off x="6497466" y="2113795"/>
                <a:ext cx="1186433" cy="1024678"/>
              </a:xfrm>
              <a:custGeom>
                <a:avLst/>
                <a:gdLst/>
                <a:ahLst/>
                <a:cxnLst/>
                <a:rect l="l" t="t" r="r" b="b"/>
                <a:pathLst>
                  <a:path w="1318259" h="1915286" extrusionOk="0">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28"/>
              <p:cNvSpPr/>
              <p:nvPr/>
            </p:nvSpPr>
            <p:spPr>
              <a:xfrm>
                <a:off x="6497472" y="2113798"/>
                <a:ext cx="1186433" cy="84696"/>
              </a:xfrm>
              <a:custGeom>
                <a:avLst/>
                <a:gdLst/>
                <a:ahLst/>
                <a:cxnLst/>
                <a:rect l="l" t="t" r="r" b="b"/>
                <a:pathLst>
                  <a:path w="1318259" h="94107" extrusionOk="0">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41" name="Google Shape;841;p28"/>
              <p:cNvGrpSpPr/>
              <p:nvPr/>
            </p:nvGrpSpPr>
            <p:grpSpPr>
              <a:xfrm>
                <a:off x="7512268" y="2145579"/>
                <a:ext cx="126741" cy="28145"/>
                <a:chOff x="7106888" y="4136136"/>
                <a:chExt cx="140683" cy="31241"/>
              </a:xfrm>
            </p:grpSpPr>
            <p:sp>
              <p:nvSpPr>
                <p:cNvPr id="842" name="Google Shape;842;p28"/>
                <p:cNvSpPr/>
                <p:nvPr/>
              </p:nvSpPr>
              <p:spPr>
                <a:xfrm>
                  <a:off x="7216330"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28"/>
                <p:cNvSpPr/>
                <p:nvPr/>
              </p:nvSpPr>
              <p:spPr>
                <a:xfrm>
                  <a:off x="7161561"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28"/>
                <p:cNvSpPr/>
                <p:nvPr/>
              </p:nvSpPr>
              <p:spPr>
                <a:xfrm>
                  <a:off x="7106888" y="4136136"/>
                  <a:ext cx="31241" cy="31241"/>
                </a:xfrm>
                <a:custGeom>
                  <a:avLst/>
                  <a:gdLst/>
                  <a:ahLst/>
                  <a:cxnLst/>
                  <a:rect l="l" t="t" r="r" b="b"/>
                  <a:pathLst>
                    <a:path w="31241" h="31241" extrusionOk="0">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45" name="Google Shape;845;p28"/>
              <p:cNvSpPr/>
              <p:nvPr/>
            </p:nvSpPr>
            <p:spPr>
              <a:xfrm>
                <a:off x="6515578" y="2215995"/>
                <a:ext cx="1150258" cy="460514"/>
              </a:xfrm>
              <a:custGeom>
                <a:avLst/>
                <a:gdLst/>
                <a:ahLst/>
                <a:cxnLst/>
                <a:rect l="l" t="t" r="r" b="b"/>
                <a:pathLst>
                  <a:path w="1278064" h="511682" extrusionOk="0">
                    <a:moveTo>
                      <a:pt x="0" y="0"/>
                    </a:moveTo>
                    <a:lnTo>
                      <a:pt x="1278064" y="0"/>
                    </a:lnTo>
                    <a:lnTo>
                      <a:pt x="1278064" y="511683"/>
                    </a:lnTo>
                    <a:lnTo>
                      <a:pt x="0" y="51168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28"/>
              <p:cNvSpPr/>
              <p:nvPr/>
            </p:nvSpPr>
            <p:spPr>
              <a:xfrm>
                <a:off x="6548699" y="2724580"/>
                <a:ext cx="316840" cy="275091"/>
              </a:xfrm>
              <a:custGeom>
                <a:avLst/>
                <a:gdLst/>
                <a:ahLst/>
                <a:cxnLst/>
                <a:rect l="l" t="t" r="r" b="b"/>
                <a:pathLst>
                  <a:path w="352044" h="305657" extrusionOk="0">
                    <a:moveTo>
                      <a:pt x="0" y="0"/>
                    </a:moveTo>
                    <a:lnTo>
                      <a:pt x="352044" y="0"/>
                    </a:lnTo>
                    <a:lnTo>
                      <a:pt x="352044" y="305657"/>
                    </a:lnTo>
                    <a:lnTo>
                      <a:pt x="0" y="305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8"/>
              <p:cNvSpPr/>
              <p:nvPr/>
            </p:nvSpPr>
            <p:spPr>
              <a:xfrm>
                <a:off x="6896308" y="2724580"/>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8"/>
              <p:cNvSpPr/>
              <p:nvPr/>
            </p:nvSpPr>
            <p:spPr>
              <a:xfrm>
                <a:off x="6896308" y="2775721"/>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8"/>
              <p:cNvSpPr/>
              <p:nvPr/>
            </p:nvSpPr>
            <p:spPr>
              <a:xfrm>
                <a:off x="6896308" y="2826777"/>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8"/>
              <p:cNvSpPr/>
              <p:nvPr/>
            </p:nvSpPr>
            <p:spPr>
              <a:xfrm>
                <a:off x="6896308" y="2877919"/>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51" name="Google Shape;851;p28"/>
              <p:cNvGrpSpPr/>
              <p:nvPr/>
            </p:nvGrpSpPr>
            <p:grpSpPr>
              <a:xfrm>
                <a:off x="7422424" y="2953744"/>
                <a:ext cx="216586" cy="46337"/>
                <a:chOff x="7007161" y="5033200"/>
                <a:chExt cx="240411" cy="51434"/>
              </a:xfrm>
            </p:grpSpPr>
            <p:sp>
              <p:nvSpPr>
                <p:cNvPr id="852" name="Google Shape;852;p28"/>
                <p:cNvSpPr/>
                <p:nvPr/>
              </p:nvSpPr>
              <p:spPr>
                <a:xfrm>
                  <a:off x="7007161" y="5033200"/>
                  <a:ext cx="240411" cy="51434"/>
                </a:xfrm>
                <a:custGeom>
                  <a:avLst/>
                  <a:gdLst/>
                  <a:ahLst/>
                  <a:cxnLst/>
                  <a:rect l="l" t="t" r="r" b="b"/>
                  <a:pathLst>
                    <a:path w="240411" h="51434" extrusionOk="0">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8"/>
                <p:cNvSpPr/>
                <p:nvPr/>
              </p:nvSpPr>
              <p:spPr>
                <a:xfrm>
                  <a:off x="7073264" y="5047202"/>
                  <a:ext cx="108204" cy="23240"/>
                </a:xfrm>
                <a:custGeom>
                  <a:avLst/>
                  <a:gdLst/>
                  <a:ahLst/>
                  <a:cxnLst/>
                  <a:rect l="l" t="t" r="r" b="b"/>
                  <a:pathLst>
                    <a:path w="108204" h="23240" extrusionOk="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4" name="Google Shape;854;p28"/>
              <p:cNvGrpSpPr/>
              <p:nvPr/>
            </p:nvGrpSpPr>
            <p:grpSpPr>
              <a:xfrm>
                <a:off x="6548871" y="2408331"/>
                <a:ext cx="1090139" cy="89414"/>
                <a:chOff x="6037516" y="4427791"/>
                <a:chExt cx="1210056" cy="99250"/>
              </a:xfrm>
            </p:grpSpPr>
            <p:sp>
              <p:nvSpPr>
                <p:cNvPr id="855" name="Google Shape;855;p28"/>
                <p:cNvSpPr/>
                <p:nvPr/>
              </p:nvSpPr>
              <p:spPr>
                <a:xfrm>
                  <a:off x="6037516" y="4427791"/>
                  <a:ext cx="49625" cy="99250"/>
                </a:xfrm>
                <a:custGeom>
                  <a:avLst/>
                  <a:gdLst/>
                  <a:ahLst/>
                  <a:cxnLst/>
                  <a:rect l="l" t="t" r="r" b="b"/>
                  <a:pathLst>
                    <a:path w="49625" h="99250" extrusionOk="0">
                      <a:moveTo>
                        <a:pt x="0" y="49625"/>
                      </a:moveTo>
                      <a:lnTo>
                        <a:pt x="49625" y="99251"/>
                      </a:lnTo>
                      <a:lnTo>
                        <a:pt x="49625" y="0"/>
                      </a:lnTo>
                      <a:lnTo>
                        <a:pt x="0" y="496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8"/>
                <p:cNvSpPr/>
                <p:nvPr/>
              </p:nvSpPr>
              <p:spPr>
                <a:xfrm>
                  <a:off x="7197947" y="4427791"/>
                  <a:ext cx="49625" cy="99250"/>
                </a:xfrm>
                <a:custGeom>
                  <a:avLst/>
                  <a:gdLst/>
                  <a:ahLst/>
                  <a:cxnLst/>
                  <a:rect l="l" t="t" r="r" b="b"/>
                  <a:pathLst>
                    <a:path w="49625" h="99250" extrusionOk="0">
                      <a:moveTo>
                        <a:pt x="0" y="0"/>
                      </a:moveTo>
                      <a:lnTo>
                        <a:pt x="0" y="99251"/>
                      </a:lnTo>
                      <a:lnTo>
                        <a:pt x="49625" y="49625"/>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7" name="Google Shape;857;p28"/>
              <p:cNvGrpSpPr/>
              <p:nvPr/>
            </p:nvGrpSpPr>
            <p:grpSpPr>
              <a:xfrm>
                <a:off x="7012935" y="2651519"/>
                <a:ext cx="157033" cy="16304"/>
                <a:chOff x="6552628" y="4697730"/>
                <a:chExt cx="174307" cy="18097"/>
              </a:xfrm>
            </p:grpSpPr>
            <p:sp>
              <p:nvSpPr>
                <p:cNvPr id="858" name="Google Shape;858;p28"/>
                <p:cNvSpPr/>
                <p:nvPr/>
              </p:nvSpPr>
              <p:spPr>
                <a:xfrm>
                  <a:off x="6552628" y="4697730"/>
                  <a:ext cx="18097" cy="18097"/>
                </a:xfrm>
                <a:custGeom>
                  <a:avLst/>
                  <a:gdLst/>
                  <a:ahLst/>
                  <a:cxnLst/>
                  <a:rect l="l" t="t" r="r" b="b"/>
                  <a:pathLst>
                    <a:path w="18097" h="18097" extrusionOk="0">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28"/>
                <p:cNvSpPr/>
                <p:nvPr/>
              </p:nvSpPr>
              <p:spPr>
                <a:xfrm>
                  <a:off x="65916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28"/>
                <p:cNvSpPr/>
                <p:nvPr/>
              </p:nvSpPr>
              <p:spPr>
                <a:xfrm>
                  <a:off x="6630733" y="4697730"/>
                  <a:ext cx="18097" cy="18097"/>
                </a:xfrm>
                <a:custGeom>
                  <a:avLst/>
                  <a:gdLst/>
                  <a:ahLst/>
                  <a:cxnLst/>
                  <a:rect l="l" t="t" r="r" b="b"/>
                  <a:pathLst>
                    <a:path w="18097" h="18097" extrusionOk="0">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28"/>
                <p:cNvSpPr/>
                <p:nvPr/>
              </p:nvSpPr>
              <p:spPr>
                <a:xfrm>
                  <a:off x="66698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28"/>
                <p:cNvSpPr/>
                <p:nvPr/>
              </p:nvSpPr>
              <p:spPr>
                <a:xfrm>
                  <a:off x="6708838" y="4697730"/>
                  <a:ext cx="18097" cy="18097"/>
                </a:xfrm>
                <a:custGeom>
                  <a:avLst/>
                  <a:gdLst/>
                  <a:ahLst/>
                  <a:cxnLst/>
                  <a:rect l="l" t="t" r="r" b="b"/>
                  <a:pathLst>
                    <a:path w="18097" h="18097" extrusionOk="0">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63" name="Google Shape;863;p28"/>
              <p:cNvSpPr/>
              <p:nvPr/>
            </p:nvSpPr>
            <p:spPr>
              <a:xfrm>
                <a:off x="6548699" y="3046960"/>
                <a:ext cx="1089050" cy="8572"/>
              </a:xfrm>
              <a:custGeom>
                <a:avLst/>
                <a:gdLst/>
                <a:ahLst/>
                <a:cxnLst/>
                <a:rect l="l" t="t" r="r" b="b"/>
                <a:pathLst>
                  <a:path w="1210055" h="9525" extrusionOk="0">
                    <a:moveTo>
                      <a:pt x="0" y="0"/>
                    </a:moveTo>
                    <a:lnTo>
                      <a:pt x="1210056" y="0"/>
                    </a:lnTo>
                  </a:path>
                </a:pathLst>
              </a:custGeom>
              <a:no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64" name="Google Shape;864;p28"/>
              <p:cNvGrpSpPr/>
              <p:nvPr/>
            </p:nvGrpSpPr>
            <p:grpSpPr>
              <a:xfrm>
                <a:off x="6505708" y="2659414"/>
                <a:ext cx="413779" cy="413778"/>
                <a:chOff x="5989605" y="4706493"/>
                <a:chExt cx="459295" cy="459294"/>
              </a:xfrm>
            </p:grpSpPr>
            <p:grpSp>
              <p:nvGrpSpPr>
                <p:cNvPr id="865" name="Google Shape;865;p28"/>
                <p:cNvGrpSpPr/>
                <p:nvPr/>
              </p:nvGrpSpPr>
              <p:grpSpPr>
                <a:xfrm>
                  <a:off x="6001893" y="4718780"/>
                  <a:ext cx="444150" cy="444151"/>
                  <a:chOff x="6001893" y="4718780"/>
                  <a:chExt cx="444150" cy="444151"/>
                </a:xfrm>
              </p:grpSpPr>
              <p:sp>
                <p:nvSpPr>
                  <p:cNvPr id="866" name="Google Shape;866;p28"/>
                  <p:cNvSpPr/>
                  <p:nvPr/>
                </p:nvSpPr>
                <p:spPr>
                  <a:xfrm>
                    <a:off x="6017418" y="5153406"/>
                    <a:ext cx="388048" cy="9525"/>
                  </a:xfrm>
                  <a:custGeom>
                    <a:avLst/>
                    <a:gdLst/>
                    <a:ahLst/>
                    <a:cxnLst/>
                    <a:rect l="l" t="t" r="r" b="b"/>
                    <a:pathLst>
                      <a:path w="388048" h="9525" extrusionOk="0">
                        <a:moveTo>
                          <a:pt x="388048" y="0"/>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28"/>
                  <p:cNvSpPr/>
                  <p:nvPr/>
                </p:nvSpPr>
                <p:spPr>
                  <a:xfrm>
                    <a:off x="6001893" y="4734306"/>
                    <a:ext cx="9525" cy="388048"/>
                  </a:xfrm>
                  <a:custGeom>
                    <a:avLst/>
                    <a:gdLst/>
                    <a:ahLst/>
                    <a:cxnLst/>
                    <a:rect l="l" t="t" r="r" b="b"/>
                    <a:pathLst>
                      <a:path w="9525" h="388048" extrusionOk="0">
                        <a:moveTo>
                          <a:pt x="0" y="388049"/>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28"/>
                  <p:cNvSpPr/>
                  <p:nvPr/>
                </p:nvSpPr>
                <p:spPr>
                  <a:xfrm>
                    <a:off x="6032944" y="4718780"/>
                    <a:ext cx="388048" cy="9525"/>
                  </a:xfrm>
                  <a:custGeom>
                    <a:avLst/>
                    <a:gdLst/>
                    <a:ahLst/>
                    <a:cxnLst/>
                    <a:rect l="l" t="t" r="r" b="b"/>
                    <a:pathLst>
                      <a:path w="388048" h="9525" extrusionOk="0">
                        <a:moveTo>
                          <a:pt x="0" y="0"/>
                        </a:moveTo>
                        <a:lnTo>
                          <a:pt x="388048"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28"/>
                  <p:cNvSpPr/>
                  <p:nvPr/>
                </p:nvSpPr>
                <p:spPr>
                  <a:xfrm>
                    <a:off x="6436518" y="4749831"/>
                    <a:ext cx="9525" cy="388048"/>
                  </a:xfrm>
                  <a:custGeom>
                    <a:avLst/>
                    <a:gdLst/>
                    <a:ahLst/>
                    <a:cxnLst/>
                    <a:rect l="l" t="t" r="r" b="b"/>
                    <a:pathLst>
                      <a:path w="9525" h="388048" extrusionOk="0">
                        <a:moveTo>
                          <a:pt x="0" y="0"/>
                        </a:moveTo>
                        <a:lnTo>
                          <a:pt x="0" y="388049"/>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0" name="Google Shape;870;p28"/>
                <p:cNvGrpSpPr/>
                <p:nvPr/>
              </p:nvGrpSpPr>
              <p:grpSpPr>
                <a:xfrm>
                  <a:off x="5989605" y="4706493"/>
                  <a:ext cx="459295" cy="459294"/>
                  <a:chOff x="5989605" y="4706493"/>
                  <a:chExt cx="459295" cy="459294"/>
                </a:xfrm>
              </p:grpSpPr>
              <p:grpSp>
                <p:nvGrpSpPr>
                  <p:cNvPr id="871" name="Google Shape;871;p28"/>
                  <p:cNvGrpSpPr/>
                  <p:nvPr/>
                </p:nvGrpSpPr>
                <p:grpSpPr>
                  <a:xfrm>
                    <a:off x="5989605" y="4706493"/>
                    <a:ext cx="459295" cy="24669"/>
                    <a:chOff x="5989605" y="4706493"/>
                    <a:chExt cx="459295" cy="24669"/>
                  </a:xfrm>
                </p:grpSpPr>
                <p:sp>
                  <p:nvSpPr>
                    <p:cNvPr id="872" name="Google Shape;872;p28"/>
                    <p:cNvSpPr/>
                    <p:nvPr/>
                  </p:nvSpPr>
                  <p:spPr>
                    <a:xfrm>
                      <a:off x="5989605"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8"/>
                    <p:cNvSpPr/>
                    <p:nvPr/>
                  </p:nvSpPr>
                  <p:spPr>
                    <a:xfrm>
                      <a:off x="620687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8"/>
                    <p:cNvSpPr/>
                    <p:nvPr/>
                  </p:nvSpPr>
                  <p:spPr>
                    <a:xfrm>
                      <a:off x="642423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5" name="Google Shape;875;p28"/>
                  <p:cNvGrpSpPr/>
                  <p:nvPr/>
                </p:nvGrpSpPr>
                <p:grpSpPr>
                  <a:xfrm>
                    <a:off x="5989605" y="4923758"/>
                    <a:ext cx="459295" cy="24669"/>
                    <a:chOff x="5989605" y="4923758"/>
                    <a:chExt cx="459295" cy="24669"/>
                  </a:xfrm>
                </p:grpSpPr>
                <p:sp>
                  <p:nvSpPr>
                    <p:cNvPr id="876" name="Google Shape;876;p28"/>
                    <p:cNvSpPr/>
                    <p:nvPr/>
                  </p:nvSpPr>
                  <p:spPr>
                    <a:xfrm>
                      <a:off x="5989605"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28"/>
                    <p:cNvSpPr/>
                    <p:nvPr/>
                  </p:nvSpPr>
                  <p:spPr>
                    <a:xfrm>
                      <a:off x="6424231"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8" name="Google Shape;878;p28"/>
                  <p:cNvGrpSpPr/>
                  <p:nvPr/>
                </p:nvGrpSpPr>
                <p:grpSpPr>
                  <a:xfrm>
                    <a:off x="5989605" y="5141118"/>
                    <a:ext cx="459295" cy="24669"/>
                    <a:chOff x="5989605" y="5141118"/>
                    <a:chExt cx="459295" cy="24669"/>
                  </a:xfrm>
                </p:grpSpPr>
                <p:sp>
                  <p:nvSpPr>
                    <p:cNvPr id="879" name="Google Shape;879;p28"/>
                    <p:cNvSpPr/>
                    <p:nvPr/>
                  </p:nvSpPr>
                  <p:spPr>
                    <a:xfrm>
                      <a:off x="5989605"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28"/>
                    <p:cNvSpPr/>
                    <p:nvPr/>
                  </p:nvSpPr>
                  <p:spPr>
                    <a:xfrm>
                      <a:off x="620687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28"/>
                    <p:cNvSpPr/>
                    <p:nvPr/>
                  </p:nvSpPr>
                  <p:spPr>
                    <a:xfrm>
                      <a:off x="642423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882" name="Google Shape;882;p28"/>
            <p:cNvGrpSpPr/>
            <p:nvPr/>
          </p:nvGrpSpPr>
          <p:grpSpPr>
            <a:xfrm>
              <a:off x="5248799" y="1817418"/>
              <a:ext cx="479083" cy="595031"/>
              <a:chOff x="5580610" y="1953710"/>
              <a:chExt cx="392498" cy="487491"/>
            </a:xfrm>
          </p:grpSpPr>
          <p:grpSp>
            <p:nvGrpSpPr>
              <p:cNvPr id="883" name="Google Shape;883;p28"/>
              <p:cNvGrpSpPr/>
              <p:nvPr/>
            </p:nvGrpSpPr>
            <p:grpSpPr>
              <a:xfrm>
                <a:off x="5580610" y="1953710"/>
                <a:ext cx="392498" cy="487491"/>
                <a:chOff x="7385113" y="1535430"/>
                <a:chExt cx="435673" cy="541115"/>
              </a:xfrm>
            </p:grpSpPr>
            <p:sp>
              <p:nvSpPr>
                <p:cNvPr id="884" name="Google Shape;884;p2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85" name="Google Shape;885;p28"/>
                <p:cNvGrpSpPr/>
                <p:nvPr/>
              </p:nvGrpSpPr>
              <p:grpSpPr>
                <a:xfrm>
                  <a:off x="7612094" y="1566576"/>
                  <a:ext cx="164781" cy="41529"/>
                  <a:chOff x="7612094" y="1566576"/>
                  <a:chExt cx="164781" cy="41529"/>
                </a:xfrm>
              </p:grpSpPr>
              <p:sp>
                <p:nvSpPr>
                  <p:cNvPr id="886" name="Google Shape;886;p2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2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2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89" name="Google Shape;889;p28"/>
              <p:cNvGrpSpPr/>
              <p:nvPr/>
            </p:nvGrpSpPr>
            <p:grpSpPr>
              <a:xfrm>
                <a:off x="5612446" y="2047672"/>
                <a:ext cx="323505" cy="338352"/>
                <a:chOff x="7420451" y="1639728"/>
                <a:chExt cx="359091" cy="375571"/>
              </a:xfrm>
            </p:grpSpPr>
            <p:sp>
              <p:nvSpPr>
                <p:cNvPr id="890" name="Google Shape;890;p2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2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92" name="Google Shape;892;p28"/>
            <p:cNvGrpSpPr/>
            <p:nvPr/>
          </p:nvGrpSpPr>
          <p:grpSpPr>
            <a:xfrm>
              <a:off x="7810967" y="2543174"/>
              <a:ext cx="1047787" cy="27232"/>
              <a:chOff x="7384446" y="3573113"/>
              <a:chExt cx="952880" cy="24765"/>
            </a:xfrm>
          </p:grpSpPr>
          <p:sp>
            <p:nvSpPr>
              <p:cNvPr id="893" name="Google Shape;893;p28"/>
              <p:cNvSpPr/>
              <p:nvPr/>
            </p:nvSpPr>
            <p:spPr>
              <a:xfrm>
                <a:off x="7396162" y="3585495"/>
                <a:ext cx="929354" cy="9525"/>
              </a:xfrm>
              <a:custGeom>
                <a:avLst/>
                <a:gdLst/>
                <a:ahLst/>
                <a:cxnLst/>
                <a:rect l="l" t="t" r="r" b="b"/>
                <a:pathLst>
                  <a:path w="929354" h="9525" extrusionOk="0">
                    <a:moveTo>
                      <a:pt x="929354" y="0"/>
                    </a:moveTo>
                    <a:lnTo>
                      <a:pt x="0"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28"/>
              <p:cNvSpPr/>
              <p:nvPr/>
            </p:nvSpPr>
            <p:spPr>
              <a:xfrm>
                <a:off x="8312562" y="3573113"/>
                <a:ext cx="24764" cy="24765"/>
              </a:xfrm>
              <a:custGeom>
                <a:avLst/>
                <a:gdLst/>
                <a:ahLst/>
                <a:cxnLst/>
                <a:rect l="l" t="t" r="r" b="b"/>
                <a:pathLst>
                  <a:path w="24764" h="24765" extrusionOk="0">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28"/>
              <p:cNvSpPr/>
              <p:nvPr/>
            </p:nvSpPr>
            <p:spPr>
              <a:xfrm>
                <a:off x="7384446" y="3573113"/>
                <a:ext cx="24764" cy="24765"/>
              </a:xfrm>
              <a:custGeom>
                <a:avLst/>
                <a:gdLst/>
                <a:ahLst/>
                <a:cxnLst/>
                <a:rect l="l" t="t" r="r" b="b"/>
                <a:pathLst>
                  <a:path w="24764" h="24765" extrusionOk="0">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96" name="Google Shape;896;p28"/>
            <p:cNvGrpSpPr/>
            <p:nvPr/>
          </p:nvGrpSpPr>
          <p:grpSpPr>
            <a:xfrm>
              <a:off x="8348540" y="2013384"/>
              <a:ext cx="657643" cy="856749"/>
              <a:chOff x="-2" y="3134666"/>
              <a:chExt cx="498554" cy="649495"/>
            </a:xfrm>
          </p:grpSpPr>
          <p:grpSp>
            <p:nvGrpSpPr>
              <p:cNvPr id="897" name="Google Shape;897;p28"/>
              <p:cNvGrpSpPr/>
              <p:nvPr/>
            </p:nvGrpSpPr>
            <p:grpSpPr>
              <a:xfrm>
                <a:off x="-2" y="3134666"/>
                <a:ext cx="498554" cy="649495"/>
                <a:chOff x="895350" y="4265199"/>
                <a:chExt cx="598074" cy="779145"/>
              </a:xfrm>
            </p:grpSpPr>
            <p:sp>
              <p:nvSpPr>
                <p:cNvPr id="898" name="Google Shape;898;p28"/>
                <p:cNvSpPr/>
                <p:nvPr/>
              </p:nvSpPr>
              <p:spPr>
                <a:xfrm>
                  <a:off x="895350" y="4265199"/>
                  <a:ext cx="598074" cy="779145"/>
                </a:xfrm>
                <a:custGeom>
                  <a:avLst/>
                  <a:gdLst/>
                  <a:ahLst/>
                  <a:cxnLst/>
                  <a:rect l="l" t="t" r="r" b="b"/>
                  <a:pathLst>
                    <a:path w="598074" h="779145" extrusionOk="0">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99" name="Google Shape;899;p28"/>
                <p:cNvGrpSpPr/>
                <p:nvPr/>
              </p:nvGrpSpPr>
              <p:grpSpPr>
                <a:xfrm>
                  <a:off x="1284732" y="4296441"/>
                  <a:ext cx="164876" cy="41528"/>
                  <a:chOff x="1284732" y="4296441"/>
                  <a:chExt cx="164876" cy="41528"/>
                </a:xfrm>
              </p:grpSpPr>
              <p:sp>
                <p:nvSpPr>
                  <p:cNvPr id="900" name="Google Shape;900;p28"/>
                  <p:cNvSpPr/>
                  <p:nvPr/>
                </p:nvSpPr>
                <p:spPr>
                  <a:xfrm>
                    <a:off x="1408080" y="4296441"/>
                    <a:ext cx="41528" cy="41528"/>
                  </a:xfrm>
                  <a:custGeom>
                    <a:avLst/>
                    <a:gdLst/>
                    <a:ahLst/>
                    <a:cxnLst/>
                    <a:rect l="l" t="t" r="r" b="b"/>
                    <a:pathLst>
                      <a:path w="41528" h="41528" extrusionOk="0">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901;p28"/>
                  <p:cNvSpPr/>
                  <p:nvPr/>
                </p:nvSpPr>
                <p:spPr>
                  <a:xfrm>
                    <a:off x="1346358" y="4296441"/>
                    <a:ext cx="41529" cy="41528"/>
                  </a:xfrm>
                  <a:custGeom>
                    <a:avLst/>
                    <a:gdLst/>
                    <a:ahLst/>
                    <a:cxnLst/>
                    <a:rect l="l" t="t" r="r" b="b"/>
                    <a:pathLst>
                      <a:path w="41529" h="41528" extrusionOk="0">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902;p28"/>
                  <p:cNvSpPr/>
                  <p:nvPr/>
                </p:nvSpPr>
                <p:spPr>
                  <a:xfrm>
                    <a:off x="1284732" y="4296441"/>
                    <a:ext cx="41529" cy="41528"/>
                  </a:xfrm>
                  <a:custGeom>
                    <a:avLst/>
                    <a:gdLst/>
                    <a:ahLst/>
                    <a:cxnLst/>
                    <a:rect l="l" t="t" r="r" b="b"/>
                    <a:pathLst>
                      <a:path w="41529" h="41528" extrusionOk="0">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3" name="Google Shape;903;p28"/>
              <p:cNvGrpSpPr/>
              <p:nvPr/>
            </p:nvGrpSpPr>
            <p:grpSpPr>
              <a:xfrm>
                <a:off x="59230" y="3269171"/>
                <a:ext cx="382391" cy="400019"/>
                <a:chOff x="966406" y="4426553"/>
                <a:chExt cx="458723" cy="479869"/>
              </a:xfrm>
            </p:grpSpPr>
            <p:sp>
              <p:nvSpPr>
                <p:cNvPr id="904" name="Google Shape;904;p28"/>
                <p:cNvSpPr/>
                <p:nvPr/>
              </p:nvSpPr>
              <p:spPr>
                <a:xfrm>
                  <a:off x="966406" y="4697825"/>
                  <a:ext cx="456723" cy="208597"/>
                </a:xfrm>
                <a:custGeom>
                  <a:avLst/>
                  <a:gdLst/>
                  <a:ahLst/>
                  <a:cxnLst/>
                  <a:rect l="l" t="t" r="r" b="b"/>
                  <a:pathLst>
                    <a:path w="456723" h="208597" extrusionOk="0">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28"/>
                <p:cNvSpPr/>
                <p:nvPr/>
              </p:nvSpPr>
              <p:spPr>
                <a:xfrm>
                  <a:off x="972883" y="4426553"/>
                  <a:ext cx="452246" cy="230219"/>
                </a:xfrm>
                <a:custGeom>
                  <a:avLst/>
                  <a:gdLst/>
                  <a:ahLst/>
                  <a:cxnLst/>
                  <a:rect l="l" t="t" r="r" b="b"/>
                  <a:pathLst>
                    <a:path w="452246" h="230219" extrusionOk="0">
                      <a:moveTo>
                        <a:pt x="0" y="0"/>
                      </a:moveTo>
                      <a:lnTo>
                        <a:pt x="452247" y="0"/>
                      </a:lnTo>
                      <a:lnTo>
                        <a:pt x="452247" y="230219"/>
                      </a:lnTo>
                      <a:lnTo>
                        <a:pt x="0" y="2302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6" name="Google Shape;906;p28"/>
            <p:cNvGrpSpPr/>
            <p:nvPr/>
          </p:nvGrpSpPr>
          <p:grpSpPr>
            <a:xfrm>
              <a:off x="5165167" y="2950875"/>
              <a:ext cx="645598" cy="1166771"/>
              <a:chOff x="5165167" y="2950875"/>
              <a:chExt cx="645598" cy="1166771"/>
            </a:xfrm>
          </p:grpSpPr>
          <p:grpSp>
            <p:nvGrpSpPr>
              <p:cNvPr id="907" name="Google Shape;907;p28"/>
              <p:cNvGrpSpPr/>
              <p:nvPr/>
            </p:nvGrpSpPr>
            <p:grpSpPr>
              <a:xfrm>
                <a:off x="5165167" y="2950875"/>
                <a:ext cx="645598" cy="1166771"/>
                <a:chOff x="1024660" y="3708890"/>
                <a:chExt cx="489423" cy="884520"/>
              </a:xfrm>
            </p:grpSpPr>
            <p:grpSp>
              <p:nvGrpSpPr>
                <p:cNvPr id="908" name="Google Shape;908;p28"/>
                <p:cNvGrpSpPr/>
                <p:nvPr/>
              </p:nvGrpSpPr>
              <p:grpSpPr>
                <a:xfrm>
                  <a:off x="1024660" y="3708890"/>
                  <a:ext cx="489423" cy="884520"/>
                  <a:chOff x="2124551" y="4954047"/>
                  <a:chExt cx="587120" cy="1061085"/>
                </a:xfrm>
              </p:grpSpPr>
              <p:sp>
                <p:nvSpPr>
                  <p:cNvPr id="909" name="Google Shape;909;p2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2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11" name="Google Shape;911;p2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12" name="Google Shape;912;p28"/>
                <p:cNvGrpSpPr/>
                <p:nvPr/>
              </p:nvGrpSpPr>
              <p:grpSpPr>
                <a:xfrm>
                  <a:off x="1108189" y="4182116"/>
                  <a:ext cx="322524" cy="131011"/>
                  <a:chOff x="2224754" y="5521737"/>
                  <a:chExt cx="386905" cy="157163"/>
                </a:xfrm>
              </p:grpSpPr>
              <p:grpSp>
                <p:nvGrpSpPr>
                  <p:cNvPr id="913" name="Google Shape;913;p28"/>
                  <p:cNvGrpSpPr/>
                  <p:nvPr/>
                </p:nvGrpSpPr>
                <p:grpSpPr>
                  <a:xfrm>
                    <a:off x="2224754" y="5521737"/>
                    <a:ext cx="386905" cy="157163"/>
                    <a:chOff x="2224754" y="5521737"/>
                    <a:chExt cx="386905" cy="157163"/>
                  </a:xfrm>
                </p:grpSpPr>
                <p:grpSp>
                  <p:nvGrpSpPr>
                    <p:cNvPr id="914" name="Google Shape;914;p28"/>
                    <p:cNvGrpSpPr/>
                    <p:nvPr/>
                  </p:nvGrpSpPr>
                  <p:grpSpPr>
                    <a:xfrm>
                      <a:off x="2224754" y="5521737"/>
                      <a:ext cx="386905" cy="65532"/>
                      <a:chOff x="2224754" y="5521737"/>
                      <a:chExt cx="386905" cy="65532"/>
                    </a:xfrm>
                  </p:grpSpPr>
                  <p:sp>
                    <p:nvSpPr>
                      <p:cNvPr id="915" name="Google Shape;915;p2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2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7" name="Google Shape;917;p28"/>
                    <p:cNvGrpSpPr/>
                    <p:nvPr/>
                  </p:nvGrpSpPr>
                  <p:grpSpPr>
                    <a:xfrm>
                      <a:off x="2224754" y="5613368"/>
                      <a:ext cx="386905" cy="65532"/>
                      <a:chOff x="2224754" y="5613368"/>
                      <a:chExt cx="386905" cy="65532"/>
                    </a:xfrm>
                  </p:grpSpPr>
                  <p:sp>
                    <p:nvSpPr>
                      <p:cNvPr id="918" name="Google Shape;918;p2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2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20" name="Google Shape;920;p28"/>
                  <p:cNvGrpSpPr/>
                  <p:nvPr/>
                </p:nvGrpSpPr>
                <p:grpSpPr>
                  <a:xfrm>
                    <a:off x="2336863" y="5554217"/>
                    <a:ext cx="177355" cy="15050"/>
                    <a:chOff x="2336863" y="5554217"/>
                    <a:chExt cx="177355" cy="15050"/>
                  </a:xfrm>
                </p:grpSpPr>
                <p:sp>
                  <p:nvSpPr>
                    <p:cNvPr id="921" name="Google Shape;921;p2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2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2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2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2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26" name="Google Shape;926;p28"/>
                  <p:cNvGrpSpPr/>
                  <p:nvPr/>
                </p:nvGrpSpPr>
                <p:grpSpPr>
                  <a:xfrm>
                    <a:off x="2336863" y="5641848"/>
                    <a:ext cx="177355" cy="15049"/>
                    <a:chOff x="2336863" y="5641848"/>
                    <a:chExt cx="177355" cy="15049"/>
                  </a:xfrm>
                </p:grpSpPr>
                <p:sp>
                  <p:nvSpPr>
                    <p:cNvPr id="927" name="Google Shape;927;p2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2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2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2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2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32" name="Google Shape;932;p28"/>
                <p:cNvGrpSpPr/>
                <p:nvPr/>
              </p:nvGrpSpPr>
              <p:grpSpPr>
                <a:xfrm>
                  <a:off x="1161625" y="3903897"/>
                  <a:ext cx="215413" cy="215333"/>
                  <a:chOff x="2288857" y="5187981"/>
                  <a:chExt cx="258413" cy="258317"/>
                </a:xfrm>
              </p:grpSpPr>
              <p:sp>
                <p:nvSpPr>
                  <p:cNvPr id="933" name="Google Shape;933;p2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2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935" name="Google Shape;935;p28"/>
              <p:cNvSpPr/>
              <p:nvPr/>
            </p:nvSpPr>
            <p:spPr>
              <a:xfrm>
                <a:off x="5401558" y="4012919"/>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 name="Freeform 19">
            <a:extLst>
              <a:ext uri="{FF2B5EF4-FFF2-40B4-BE49-F238E27FC236}">
                <a16:creationId xmlns:a16="http://schemas.microsoft.com/office/drawing/2014/main" id="{DED1A1A5-362D-4EA4-5596-5B30D620C00F}"/>
              </a:ext>
            </a:extLst>
          </p:cNvPr>
          <p:cNvSpPr/>
          <p:nvPr/>
        </p:nvSpPr>
        <p:spPr>
          <a:xfrm>
            <a:off x="620354" y="712443"/>
            <a:ext cx="577729" cy="434871"/>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p>
        </p:txBody>
      </p:sp>
      <p:sp>
        <p:nvSpPr>
          <p:cNvPr id="3" name="Freeform 25">
            <a:extLst>
              <a:ext uri="{FF2B5EF4-FFF2-40B4-BE49-F238E27FC236}">
                <a16:creationId xmlns:a16="http://schemas.microsoft.com/office/drawing/2014/main" id="{AE3FBD23-C539-D9A5-BEAF-D7BA90ADF717}"/>
              </a:ext>
            </a:extLst>
          </p:cNvPr>
          <p:cNvSpPr/>
          <p:nvPr/>
        </p:nvSpPr>
        <p:spPr>
          <a:xfrm>
            <a:off x="492176" y="3673342"/>
            <a:ext cx="387676" cy="410081"/>
          </a:xfrm>
          <a:custGeom>
            <a:avLst/>
            <a:gdLst/>
            <a:ahLst/>
            <a:cxnLst/>
            <a:rect l="l" t="t" r="r" b="b"/>
            <a:pathLst>
              <a:path w="455076" h="455076">
                <a:moveTo>
                  <a:pt x="0" y="0"/>
                </a:moveTo>
                <a:lnTo>
                  <a:pt x="455076" y="0"/>
                </a:lnTo>
                <a:lnTo>
                  <a:pt x="455076" y="455076"/>
                </a:lnTo>
                <a:lnTo>
                  <a:pt x="0" y="4550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MY"/>
          </a:p>
        </p:txBody>
      </p:sp>
      <p:sp>
        <p:nvSpPr>
          <p:cNvPr id="4" name="Freeform 26">
            <a:extLst>
              <a:ext uri="{FF2B5EF4-FFF2-40B4-BE49-F238E27FC236}">
                <a16:creationId xmlns:a16="http://schemas.microsoft.com/office/drawing/2014/main" id="{20ADA016-6986-FEDD-5E1D-991C562260F9}"/>
              </a:ext>
            </a:extLst>
          </p:cNvPr>
          <p:cNvSpPr/>
          <p:nvPr/>
        </p:nvSpPr>
        <p:spPr>
          <a:xfrm>
            <a:off x="2246516" y="3660558"/>
            <a:ext cx="387676" cy="410081"/>
          </a:xfrm>
          <a:custGeom>
            <a:avLst/>
            <a:gdLst/>
            <a:ahLst/>
            <a:cxnLst/>
            <a:rect l="l" t="t" r="r" b="b"/>
            <a:pathLst>
              <a:path w="455076" h="455076">
                <a:moveTo>
                  <a:pt x="0" y="0"/>
                </a:moveTo>
                <a:lnTo>
                  <a:pt x="455076" y="0"/>
                </a:lnTo>
                <a:lnTo>
                  <a:pt x="455076" y="455077"/>
                </a:lnTo>
                <a:lnTo>
                  <a:pt x="0" y="4550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MY"/>
          </a:p>
        </p:txBody>
      </p:sp>
      <p:sp>
        <p:nvSpPr>
          <p:cNvPr id="5" name="TextBox 28">
            <a:extLst>
              <a:ext uri="{FF2B5EF4-FFF2-40B4-BE49-F238E27FC236}">
                <a16:creationId xmlns:a16="http://schemas.microsoft.com/office/drawing/2014/main" id="{0BE98067-E017-BB15-A962-78445CEAACBE}"/>
              </a:ext>
            </a:extLst>
          </p:cNvPr>
          <p:cNvSpPr txBox="1"/>
          <p:nvPr/>
        </p:nvSpPr>
        <p:spPr>
          <a:xfrm>
            <a:off x="1204137" y="915445"/>
            <a:ext cx="4206826" cy="230832"/>
          </a:xfrm>
          <a:prstGeom prst="rect">
            <a:avLst/>
          </a:prstGeom>
        </p:spPr>
        <p:txBody>
          <a:bodyPr wrap="square" lIns="0" tIns="0" rIns="0" bIns="0" rtlCol="0" anchor="t">
            <a:spAutoFit/>
          </a:bodyPr>
          <a:lstStyle/>
          <a:p>
            <a:pPr>
              <a:lnSpc>
                <a:spcPts val="1763"/>
              </a:lnSpc>
            </a:pPr>
            <a:r>
              <a:rPr lang="en-US" sz="1781" b="1" dirty="0">
                <a:solidFill>
                  <a:srgbClr val="31828F"/>
                </a:solidFill>
                <a:latin typeface="Roboto Bold"/>
                <a:ea typeface="Roboto Bold"/>
                <a:cs typeface="Roboto Bold"/>
                <a:sym typeface="Roboto Bold"/>
              </a:rPr>
              <a:t>ZAZ DIGITAL SOLUTIONS SDN BHD</a:t>
            </a:r>
          </a:p>
        </p:txBody>
      </p:sp>
      <p:sp>
        <p:nvSpPr>
          <p:cNvPr id="6" name="TextBox 31">
            <a:extLst>
              <a:ext uri="{FF2B5EF4-FFF2-40B4-BE49-F238E27FC236}">
                <a16:creationId xmlns:a16="http://schemas.microsoft.com/office/drawing/2014/main" id="{D41E3033-4CF6-4556-666B-F42EC0FD2B5A}"/>
              </a:ext>
            </a:extLst>
          </p:cNvPr>
          <p:cNvSpPr txBox="1"/>
          <p:nvPr/>
        </p:nvSpPr>
        <p:spPr>
          <a:xfrm>
            <a:off x="913734" y="3727862"/>
            <a:ext cx="606055" cy="142860"/>
          </a:xfrm>
          <a:prstGeom prst="rect">
            <a:avLst/>
          </a:prstGeom>
        </p:spPr>
        <p:txBody>
          <a:bodyPr lIns="0" tIns="0" rIns="0" bIns="0" rtlCol="0" anchor="t">
            <a:spAutoFit/>
          </a:bodyPr>
          <a:lstStyle/>
          <a:p>
            <a:pPr>
              <a:lnSpc>
                <a:spcPts val="1144"/>
              </a:lnSpc>
            </a:pPr>
            <a:r>
              <a:rPr lang="en-US" sz="1000" dirty="0">
                <a:solidFill>
                  <a:srgbClr val="1A6976"/>
                </a:solidFill>
                <a:latin typeface="Roboto"/>
                <a:ea typeface="Roboto"/>
                <a:cs typeface="Roboto"/>
                <a:sym typeface="Roboto"/>
              </a:rPr>
              <a:t>Phone</a:t>
            </a:r>
          </a:p>
        </p:txBody>
      </p:sp>
      <p:sp>
        <p:nvSpPr>
          <p:cNvPr id="7" name="TextBox 32">
            <a:extLst>
              <a:ext uri="{FF2B5EF4-FFF2-40B4-BE49-F238E27FC236}">
                <a16:creationId xmlns:a16="http://schemas.microsoft.com/office/drawing/2014/main" id="{67066868-5430-E76E-A280-F3BD7CF18F9B}"/>
              </a:ext>
            </a:extLst>
          </p:cNvPr>
          <p:cNvSpPr txBox="1"/>
          <p:nvPr/>
        </p:nvSpPr>
        <p:spPr>
          <a:xfrm>
            <a:off x="913734" y="3913545"/>
            <a:ext cx="1466765" cy="157094"/>
          </a:xfrm>
          <a:prstGeom prst="rect">
            <a:avLst/>
          </a:prstGeom>
        </p:spPr>
        <p:txBody>
          <a:bodyPr lIns="0" tIns="0" rIns="0" bIns="0" rtlCol="0" anchor="t">
            <a:spAutoFit/>
          </a:bodyPr>
          <a:lstStyle/>
          <a:p>
            <a:pPr>
              <a:lnSpc>
                <a:spcPts val="1252"/>
              </a:lnSpc>
            </a:pPr>
            <a:r>
              <a:rPr lang="en-US" sz="1000" b="1" dirty="0">
                <a:solidFill>
                  <a:srgbClr val="1A6976"/>
                </a:solidFill>
                <a:latin typeface="Roboto Bold"/>
                <a:ea typeface="Roboto Bold"/>
                <a:cs typeface="Roboto Bold"/>
                <a:sym typeface="Roboto Bold"/>
              </a:rPr>
              <a:t>+6013-603 7534</a:t>
            </a:r>
          </a:p>
        </p:txBody>
      </p:sp>
      <p:sp>
        <p:nvSpPr>
          <p:cNvPr id="8" name="TextBox 33">
            <a:extLst>
              <a:ext uri="{FF2B5EF4-FFF2-40B4-BE49-F238E27FC236}">
                <a16:creationId xmlns:a16="http://schemas.microsoft.com/office/drawing/2014/main" id="{22A4ACCB-273F-393B-9C70-E3B4DE7F36B4}"/>
              </a:ext>
            </a:extLst>
          </p:cNvPr>
          <p:cNvSpPr txBox="1"/>
          <p:nvPr/>
        </p:nvSpPr>
        <p:spPr>
          <a:xfrm>
            <a:off x="2689718" y="3685039"/>
            <a:ext cx="831949" cy="142860"/>
          </a:xfrm>
          <a:prstGeom prst="rect">
            <a:avLst/>
          </a:prstGeom>
        </p:spPr>
        <p:txBody>
          <a:bodyPr lIns="0" tIns="0" rIns="0" bIns="0" rtlCol="0" anchor="t">
            <a:spAutoFit/>
          </a:bodyPr>
          <a:lstStyle/>
          <a:p>
            <a:pPr>
              <a:lnSpc>
                <a:spcPts val="1144"/>
              </a:lnSpc>
            </a:pPr>
            <a:r>
              <a:rPr lang="en-US" sz="1000" dirty="0">
                <a:solidFill>
                  <a:srgbClr val="1A6976"/>
                </a:solidFill>
                <a:latin typeface="Roboto"/>
                <a:ea typeface="Roboto"/>
                <a:cs typeface="Roboto"/>
                <a:sym typeface="Roboto"/>
              </a:rPr>
              <a:t>Address</a:t>
            </a:r>
          </a:p>
        </p:txBody>
      </p:sp>
      <p:sp>
        <p:nvSpPr>
          <p:cNvPr id="9" name="TextBox 34">
            <a:extLst>
              <a:ext uri="{FF2B5EF4-FFF2-40B4-BE49-F238E27FC236}">
                <a16:creationId xmlns:a16="http://schemas.microsoft.com/office/drawing/2014/main" id="{959F5D09-C377-5342-03CC-66713532C600}"/>
              </a:ext>
            </a:extLst>
          </p:cNvPr>
          <p:cNvSpPr txBox="1"/>
          <p:nvPr/>
        </p:nvSpPr>
        <p:spPr>
          <a:xfrm>
            <a:off x="2689718" y="3870722"/>
            <a:ext cx="2354206" cy="157094"/>
          </a:xfrm>
          <a:prstGeom prst="rect">
            <a:avLst/>
          </a:prstGeom>
        </p:spPr>
        <p:txBody>
          <a:bodyPr lIns="0" tIns="0" rIns="0" bIns="0" rtlCol="0" anchor="t">
            <a:spAutoFit/>
          </a:bodyPr>
          <a:lstStyle/>
          <a:p>
            <a:pPr>
              <a:lnSpc>
                <a:spcPts val="1252"/>
              </a:lnSpc>
            </a:pPr>
            <a:r>
              <a:rPr lang="en-US" sz="1000" b="1">
                <a:solidFill>
                  <a:srgbClr val="1A6976"/>
                </a:solidFill>
                <a:latin typeface="Roboto Bold"/>
                <a:ea typeface="Roboto Bold"/>
                <a:cs typeface="Roboto Bold"/>
                <a:sym typeface="Roboto Bold"/>
              </a:rPr>
              <a:t>2, SS 2/8, BTHO, 43200, Cheras</a:t>
            </a:r>
          </a:p>
        </p:txBody>
      </p:sp>
      <p:sp>
        <p:nvSpPr>
          <p:cNvPr id="10" name="Google Shape;824;p26">
            <a:extLst>
              <a:ext uri="{FF2B5EF4-FFF2-40B4-BE49-F238E27FC236}">
                <a16:creationId xmlns:a16="http://schemas.microsoft.com/office/drawing/2014/main" id="{4CDD65A0-972C-FC74-6258-2EB37D03D156}"/>
              </a:ext>
            </a:extLst>
          </p:cNvPr>
          <p:cNvSpPr txBox="1">
            <a:spLocks/>
          </p:cNvSpPr>
          <p:nvPr/>
        </p:nvSpPr>
        <p:spPr>
          <a:xfrm>
            <a:off x="157567" y="1819312"/>
            <a:ext cx="4969085" cy="118803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pPr algn="ctr"/>
            <a:r>
              <a:rPr lang="en-GB" sz="2400" b="0" dirty="0" err="1">
                <a:solidFill>
                  <a:schemeClr val="accent2">
                    <a:lumMod val="50000"/>
                  </a:schemeClr>
                </a:solidFill>
                <a:latin typeface="Roboto Medium"/>
                <a:ea typeface="Roboto Medium"/>
                <a:cs typeface="Roboto Medium"/>
                <a:sym typeface="Roboto Medium"/>
              </a:rPr>
              <a:t>LamaNiaga</a:t>
            </a:r>
            <a:r>
              <a:rPr lang="en-GB" sz="2400" b="0" dirty="0">
                <a:solidFill>
                  <a:schemeClr val="accent2">
                    <a:lumMod val="50000"/>
                  </a:schemeClr>
                </a:solidFill>
                <a:latin typeface="Roboto Medium"/>
                <a:ea typeface="Roboto Medium"/>
                <a:cs typeface="Roboto Medium"/>
                <a:sym typeface="Roboto Medium"/>
              </a:rPr>
              <a:t> Application Development Proposal for CIP Spark Cradle Fund Grant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30"/>
          <p:cNvSpPr txBox="1">
            <a:spLocks noGrp="1"/>
          </p:cNvSpPr>
          <p:nvPr>
            <p:ph type="title"/>
          </p:nvPr>
        </p:nvSpPr>
        <p:spPr>
          <a:xfrm>
            <a:off x="720000" y="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Table of Contents</a:t>
            </a:r>
            <a:endParaRPr dirty="0">
              <a:latin typeface="Lato" panose="020F0502020204030203" pitchFamily="34" charset="0"/>
              <a:ea typeface="Lato" panose="020F0502020204030203" pitchFamily="34" charset="0"/>
              <a:cs typeface="Lato" panose="020F0502020204030203" pitchFamily="34" charset="0"/>
            </a:endParaRPr>
          </a:p>
        </p:txBody>
      </p:sp>
      <p:sp>
        <p:nvSpPr>
          <p:cNvPr id="950" name="Google Shape;950;p30"/>
          <p:cNvSpPr txBox="1">
            <a:spLocks noGrp="1"/>
          </p:cNvSpPr>
          <p:nvPr>
            <p:ph type="title" idx="2"/>
          </p:nvPr>
        </p:nvSpPr>
        <p:spPr>
          <a:xfrm>
            <a:off x="829755" y="872327"/>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dirty="0">
                <a:latin typeface="Lato" panose="020F0502020204030203" pitchFamily="34" charset="0"/>
                <a:ea typeface="Lato" panose="020F0502020204030203" pitchFamily="34" charset="0"/>
                <a:cs typeface="Lato" panose="020F0502020204030203" pitchFamily="34" charset="0"/>
              </a:rPr>
              <a:t>01</a:t>
            </a:r>
            <a:endParaRPr sz="1600" dirty="0">
              <a:latin typeface="Lato" panose="020F0502020204030203" pitchFamily="34" charset="0"/>
              <a:ea typeface="Lato" panose="020F0502020204030203" pitchFamily="34" charset="0"/>
              <a:cs typeface="Lato" panose="020F0502020204030203" pitchFamily="34" charset="0"/>
            </a:endParaRPr>
          </a:p>
        </p:txBody>
      </p:sp>
      <p:sp>
        <p:nvSpPr>
          <p:cNvPr id="952" name="Google Shape;952;p30"/>
          <p:cNvSpPr txBox="1">
            <a:spLocks noGrp="1"/>
          </p:cNvSpPr>
          <p:nvPr>
            <p:ph type="title" idx="4"/>
          </p:nvPr>
        </p:nvSpPr>
        <p:spPr>
          <a:xfrm>
            <a:off x="829755" y="1351377"/>
            <a:ext cx="479852" cy="45445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dirty="0">
                <a:latin typeface="Lato" panose="020F0502020204030203" pitchFamily="34" charset="0"/>
                <a:ea typeface="Lato" panose="020F0502020204030203" pitchFamily="34" charset="0"/>
                <a:cs typeface="Lato" panose="020F0502020204030203" pitchFamily="34" charset="0"/>
              </a:rPr>
              <a:t>02</a:t>
            </a:r>
            <a:endParaRPr sz="1600" dirty="0">
              <a:latin typeface="Lato" panose="020F0502020204030203" pitchFamily="34" charset="0"/>
              <a:ea typeface="Lato" panose="020F0502020204030203" pitchFamily="34" charset="0"/>
              <a:cs typeface="Lato" panose="020F0502020204030203" pitchFamily="34" charset="0"/>
            </a:endParaRPr>
          </a:p>
        </p:txBody>
      </p:sp>
      <p:sp>
        <p:nvSpPr>
          <p:cNvPr id="956" name="Google Shape;956;p30"/>
          <p:cNvSpPr txBox="1">
            <a:spLocks noGrp="1"/>
          </p:cNvSpPr>
          <p:nvPr>
            <p:ph type="subTitle" idx="1"/>
          </p:nvPr>
        </p:nvSpPr>
        <p:spPr>
          <a:xfrm>
            <a:off x="1197105" y="1005903"/>
            <a:ext cx="2277656" cy="4544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latin typeface="Lato" panose="020F0502020204030203" pitchFamily="34" charset="0"/>
                <a:ea typeface="Lato" panose="020F0502020204030203" pitchFamily="34" charset="0"/>
                <a:cs typeface="Lato" panose="020F0502020204030203" pitchFamily="34" charset="0"/>
              </a:rPr>
              <a:t>Executive Summary</a:t>
            </a:r>
            <a:endParaRPr sz="1600" dirty="0">
              <a:latin typeface="Lato" panose="020F0502020204030203" pitchFamily="34" charset="0"/>
              <a:ea typeface="Lato" panose="020F0502020204030203" pitchFamily="34" charset="0"/>
              <a:cs typeface="Lato" panose="020F0502020204030203" pitchFamily="34" charset="0"/>
            </a:endParaRPr>
          </a:p>
        </p:txBody>
      </p:sp>
      <p:cxnSp>
        <p:nvCxnSpPr>
          <p:cNvPr id="2" name="Straight Connector 1">
            <a:extLst>
              <a:ext uri="{FF2B5EF4-FFF2-40B4-BE49-F238E27FC236}">
                <a16:creationId xmlns:a16="http://schemas.microsoft.com/office/drawing/2014/main" id="{FC9ADBE9-7433-F432-C8A7-FE6FCB96C34D}"/>
              </a:ext>
            </a:extLst>
          </p:cNvPr>
          <p:cNvCxnSpPr>
            <a:cxnSpLocks/>
          </p:cNvCxnSpPr>
          <p:nvPr/>
        </p:nvCxnSpPr>
        <p:spPr>
          <a:xfrm>
            <a:off x="1089329" y="4715123"/>
            <a:ext cx="6265628"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62DAF45F-F1D1-B9FC-7490-EB132101BF05}"/>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4" name="Freeform 19">
            <a:extLst>
              <a:ext uri="{FF2B5EF4-FFF2-40B4-BE49-F238E27FC236}">
                <a16:creationId xmlns:a16="http://schemas.microsoft.com/office/drawing/2014/main" id="{A6E6291A-5F87-4951-8733-C99FC9298241}"/>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p>
        </p:txBody>
      </p:sp>
      <p:sp>
        <p:nvSpPr>
          <p:cNvPr id="21" name="Google Shape;956;p30">
            <a:extLst>
              <a:ext uri="{FF2B5EF4-FFF2-40B4-BE49-F238E27FC236}">
                <a16:creationId xmlns:a16="http://schemas.microsoft.com/office/drawing/2014/main" id="{E14BD99B-B51A-C929-7C19-F96CAE8D3601}"/>
              </a:ext>
            </a:extLst>
          </p:cNvPr>
          <p:cNvSpPr txBox="1">
            <a:spLocks/>
          </p:cNvSpPr>
          <p:nvPr/>
        </p:nvSpPr>
        <p:spPr>
          <a:xfrm>
            <a:off x="1197105" y="1381892"/>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Introduction</a:t>
            </a:r>
          </a:p>
        </p:txBody>
      </p:sp>
      <p:sp>
        <p:nvSpPr>
          <p:cNvPr id="26" name="Google Shape;952;p30">
            <a:extLst>
              <a:ext uri="{FF2B5EF4-FFF2-40B4-BE49-F238E27FC236}">
                <a16:creationId xmlns:a16="http://schemas.microsoft.com/office/drawing/2014/main" id="{16B5E93A-FAD9-F5FF-ED9A-D1C2E8B7C135}"/>
              </a:ext>
            </a:extLst>
          </p:cNvPr>
          <p:cNvSpPr txBox="1">
            <a:spLocks/>
          </p:cNvSpPr>
          <p:nvPr/>
        </p:nvSpPr>
        <p:spPr>
          <a:xfrm>
            <a:off x="829755" y="1727366"/>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03</a:t>
            </a:r>
          </a:p>
        </p:txBody>
      </p:sp>
      <p:sp>
        <p:nvSpPr>
          <p:cNvPr id="27" name="Google Shape;956;p30">
            <a:extLst>
              <a:ext uri="{FF2B5EF4-FFF2-40B4-BE49-F238E27FC236}">
                <a16:creationId xmlns:a16="http://schemas.microsoft.com/office/drawing/2014/main" id="{04EC9C7B-42D2-B85B-6AA9-F27C04A2CEE6}"/>
              </a:ext>
            </a:extLst>
          </p:cNvPr>
          <p:cNvSpPr txBox="1">
            <a:spLocks/>
          </p:cNvSpPr>
          <p:nvPr/>
        </p:nvSpPr>
        <p:spPr>
          <a:xfrm>
            <a:off x="1197105" y="1757881"/>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Problem Statement</a:t>
            </a:r>
          </a:p>
        </p:txBody>
      </p:sp>
      <p:sp>
        <p:nvSpPr>
          <p:cNvPr id="28" name="Google Shape;952;p30">
            <a:extLst>
              <a:ext uri="{FF2B5EF4-FFF2-40B4-BE49-F238E27FC236}">
                <a16:creationId xmlns:a16="http://schemas.microsoft.com/office/drawing/2014/main" id="{C5311379-BA2C-A93A-3EBA-3D709EBFB885}"/>
              </a:ext>
            </a:extLst>
          </p:cNvPr>
          <p:cNvSpPr txBox="1">
            <a:spLocks/>
          </p:cNvSpPr>
          <p:nvPr/>
        </p:nvSpPr>
        <p:spPr>
          <a:xfrm>
            <a:off x="829754" y="2088167"/>
            <a:ext cx="903453"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04 - 05</a:t>
            </a:r>
          </a:p>
        </p:txBody>
      </p:sp>
      <p:sp>
        <p:nvSpPr>
          <p:cNvPr id="29" name="Google Shape;956;p30">
            <a:extLst>
              <a:ext uri="{FF2B5EF4-FFF2-40B4-BE49-F238E27FC236}">
                <a16:creationId xmlns:a16="http://schemas.microsoft.com/office/drawing/2014/main" id="{6618F564-AA1D-3ACF-4C7B-B14FBA77A62F}"/>
              </a:ext>
            </a:extLst>
          </p:cNvPr>
          <p:cNvSpPr txBox="1">
            <a:spLocks/>
          </p:cNvSpPr>
          <p:nvPr/>
        </p:nvSpPr>
        <p:spPr>
          <a:xfrm>
            <a:off x="1637475" y="2133870"/>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Solutions</a:t>
            </a:r>
          </a:p>
        </p:txBody>
      </p:sp>
      <p:sp>
        <p:nvSpPr>
          <p:cNvPr id="30" name="Google Shape;952;p30">
            <a:extLst>
              <a:ext uri="{FF2B5EF4-FFF2-40B4-BE49-F238E27FC236}">
                <a16:creationId xmlns:a16="http://schemas.microsoft.com/office/drawing/2014/main" id="{8D9EBD82-A398-0B7F-0585-20719B0786FA}"/>
              </a:ext>
            </a:extLst>
          </p:cNvPr>
          <p:cNvSpPr txBox="1">
            <a:spLocks/>
          </p:cNvSpPr>
          <p:nvPr/>
        </p:nvSpPr>
        <p:spPr>
          <a:xfrm>
            <a:off x="829755" y="2432268"/>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06</a:t>
            </a:r>
          </a:p>
        </p:txBody>
      </p:sp>
      <p:sp>
        <p:nvSpPr>
          <p:cNvPr id="31" name="Google Shape;956;p30">
            <a:extLst>
              <a:ext uri="{FF2B5EF4-FFF2-40B4-BE49-F238E27FC236}">
                <a16:creationId xmlns:a16="http://schemas.microsoft.com/office/drawing/2014/main" id="{FA05913B-6731-4940-48C3-F2BC91B51D39}"/>
              </a:ext>
            </a:extLst>
          </p:cNvPr>
          <p:cNvSpPr txBox="1">
            <a:spLocks/>
          </p:cNvSpPr>
          <p:nvPr/>
        </p:nvSpPr>
        <p:spPr>
          <a:xfrm>
            <a:off x="1197105" y="2462783"/>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Benefits</a:t>
            </a:r>
          </a:p>
        </p:txBody>
      </p:sp>
      <p:sp>
        <p:nvSpPr>
          <p:cNvPr id="32" name="Google Shape;952;p30">
            <a:extLst>
              <a:ext uri="{FF2B5EF4-FFF2-40B4-BE49-F238E27FC236}">
                <a16:creationId xmlns:a16="http://schemas.microsoft.com/office/drawing/2014/main" id="{D5CBB09A-CB59-C486-1D7F-8C86DD8FF2D2}"/>
              </a:ext>
            </a:extLst>
          </p:cNvPr>
          <p:cNvSpPr txBox="1">
            <a:spLocks/>
          </p:cNvSpPr>
          <p:nvPr/>
        </p:nvSpPr>
        <p:spPr>
          <a:xfrm>
            <a:off x="829754" y="2745755"/>
            <a:ext cx="903453"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07 - 08</a:t>
            </a:r>
          </a:p>
        </p:txBody>
      </p:sp>
      <p:sp>
        <p:nvSpPr>
          <p:cNvPr id="33" name="Google Shape;956;p30">
            <a:extLst>
              <a:ext uri="{FF2B5EF4-FFF2-40B4-BE49-F238E27FC236}">
                <a16:creationId xmlns:a16="http://schemas.microsoft.com/office/drawing/2014/main" id="{EB69B3D2-417F-C8E2-1761-E055BA79C8E5}"/>
              </a:ext>
            </a:extLst>
          </p:cNvPr>
          <p:cNvSpPr txBox="1">
            <a:spLocks/>
          </p:cNvSpPr>
          <p:nvPr/>
        </p:nvSpPr>
        <p:spPr>
          <a:xfrm>
            <a:off x="1637474" y="2791458"/>
            <a:ext cx="2585814"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Competitions Comparison</a:t>
            </a:r>
          </a:p>
        </p:txBody>
      </p:sp>
      <p:sp>
        <p:nvSpPr>
          <p:cNvPr id="34" name="Google Shape;952;p30">
            <a:extLst>
              <a:ext uri="{FF2B5EF4-FFF2-40B4-BE49-F238E27FC236}">
                <a16:creationId xmlns:a16="http://schemas.microsoft.com/office/drawing/2014/main" id="{496CB626-F963-9733-AC35-5B99B8983573}"/>
              </a:ext>
            </a:extLst>
          </p:cNvPr>
          <p:cNvSpPr txBox="1">
            <a:spLocks/>
          </p:cNvSpPr>
          <p:nvPr/>
        </p:nvSpPr>
        <p:spPr>
          <a:xfrm>
            <a:off x="836222" y="3096916"/>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09</a:t>
            </a:r>
          </a:p>
        </p:txBody>
      </p:sp>
      <p:sp>
        <p:nvSpPr>
          <p:cNvPr id="35" name="Google Shape;956;p30">
            <a:extLst>
              <a:ext uri="{FF2B5EF4-FFF2-40B4-BE49-F238E27FC236}">
                <a16:creationId xmlns:a16="http://schemas.microsoft.com/office/drawing/2014/main" id="{6A7E8C7D-67A0-0C8D-29D0-5BFDA925F92A}"/>
              </a:ext>
            </a:extLst>
          </p:cNvPr>
          <p:cNvSpPr txBox="1">
            <a:spLocks/>
          </p:cNvSpPr>
          <p:nvPr/>
        </p:nvSpPr>
        <p:spPr>
          <a:xfrm>
            <a:off x="1203572" y="3127431"/>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Market Overview</a:t>
            </a:r>
          </a:p>
        </p:txBody>
      </p:sp>
      <p:sp>
        <p:nvSpPr>
          <p:cNvPr id="36" name="Google Shape;952;p30">
            <a:extLst>
              <a:ext uri="{FF2B5EF4-FFF2-40B4-BE49-F238E27FC236}">
                <a16:creationId xmlns:a16="http://schemas.microsoft.com/office/drawing/2014/main" id="{A972C274-9990-3944-230D-96C708DE71F6}"/>
              </a:ext>
            </a:extLst>
          </p:cNvPr>
          <p:cNvSpPr txBox="1">
            <a:spLocks/>
          </p:cNvSpPr>
          <p:nvPr/>
        </p:nvSpPr>
        <p:spPr>
          <a:xfrm>
            <a:off x="836222" y="3418531"/>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10</a:t>
            </a:r>
          </a:p>
        </p:txBody>
      </p:sp>
      <p:sp>
        <p:nvSpPr>
          <p:cNvPr id="37" name="Google Shape;956;p30">
            <a:extLst>
              <a:ext uri="{FF2B5EF4-FFF2-40B4-BE49-F238E27FC236}">
                <a16:creationId xmlns:a16="http://schemas.microsoft.com/office/drawing/2014/main" id="{8D3B98AA-809E-B67F-A62A-C6C23F59FEE0}"/>
              </a:ext>
            </a:extLst>
          </p:cNvPr>
          <p:cNvSpPr txBox="1">
            <a:spLocks/>
          </p:cNvSpPr>
          <p:nvPr/>
        </p:nvSpPr>
        <p:spPr>
          <a:xfrm>
            <a:off x="1203572" y="3449046"/>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Market Strategy</a:t>
            </a:r>
          </a:p>
        </p:txBody>
      </p:sp>
      <p:sp>
        <p:nvSpPr>
          <p:cNvPr id="38" name="Google Shape;952;p30">
            <a:extLst>
              <a:ext uri="{FF2B5EF4-FFF2-40B4-BE49-F238E27FC236}">
                <a16:creationId xmlns:a16="http://schemas.microsoft.com/office/drawing/2014/main" id="{551A12A7-9421-35A7-CA72-6257D0332BBF}"/>
              </a:ext>
            </a:extLst>
          </p:cNvPr>
          <p:cNvSpPr txBox="1">
            <a:spLocks/>
          </p:cNvSpPr>
          <p:nvPr/>
        </p:nvSpPr>
        <p:spPr>
          <a:xfrm>
            <a:off x="836222" y="3739585"/>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11</a:t>
            </a:r>
          </a:p>
        </p:txBody>
      </p:sp>
      <p:sp>
        <p:nvSpPr>
          <p:cNvPr id="39" name="Google Shape;956;p30">
            <a:extLst>
              <a:ext uri="{FF2B5EF4-FFF2-40B4-BE49-F238E27FC236}">
                <a16:creationId xmlns:a16="http://schemas.microsoft.com/office/drawing/2014/main" id="{DA6E3CD6-0811-EFA3-46D1-821B0A733E2F}"/>
              </a:ext>
            </a:extLst>
          </p:cNvPr>
          <p:cNvSpPr txBox="1">
            <a:spLocks/>
          </p:cNvSpPr>
          <p:nvPr/>
        </p:nvSpPr>
        <p:spPr>
          <a:xfrm>
            <a:off x="1203572" y="3770100"/>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Revenue Model</a:t>
            </a:r>
          </a:p>
        </p:txBody>
      </p:sp>
      <p:sp>
        <p:nvSpPr>
          <p:cNvPr id="40" name="Google Shape;952;p30">
            <a:extLst>
              <a:ext uri="{FF2B5EF4-FFF2-40B4-BE49-F238E27FC236}">
                <a16:creationId xmlns:a16="http://schemas.microsoft.com/office/drawing/2014/main" id="{4CFD769F-14A3-CB4F-7B0C-627F2CE9B9BD}"/>
              </a:ext>
            </a:extLst>
          </p:cNvPr>
          <p:cNvSpPr txBox="1">
            <a:spLocks/>
          </p:cNvSpPr>
          <p:nvPr/>
        </p:nvSpPr>
        <p:spPr>
          <a:xfrm>
            <a:off x="4506737" y="954630"/>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12</a:t>
            </a:r>
          </a:p>
        </p:txBody>
      </p:sp>
      <p:sp>
        <p:nvSpPr>
          <p:cNvPr id="41" name="Google Shape;956;p30">
            <a:extLst>
              <a:ext uri="{FF2B5EF4-FFF2-40B4-BE49-F238E27FC236}">
                <a16:creationId xmlns:a16="http://schemas.microsoft.com/office/drawing/2014/main" id="{CA7BB0C1-663B-13C2-6BC3-8EE0931230FC}"/>
              </a:ext>
            </a:extLst>
          </p:cNvPr>
          <p:cNvSpPr txBox="1">
            <a:spLocks/>
          </p:cNvSpPr>
          <p:nvPr/>
        </p:nvSpPr>
        <p:spPr>
          <a:xfrm>
            <a:off x="4874087" y="985145"/>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Organization Chart</a:t>
            </a:r>
          </a:p>
        </p:txBody>
      </p:sp>
      <p:sp>
        <p:nvSpPr>
          <p:cNvPr id="42" name="Google Shape;952;p30">
            <a:extLst>
              <a:ext uri="{FF2B5EF4-FFF2-40B4-BE49-F238E27FC236}">
                <a16:creationId xmlns:a16="http://schemas.microsoft.com/office/drawing/2014/main" id="{A8E0A266-B955-0F4D-453D-7E2FEEA06AF4}"/>
              </a:ext>
            </a:extLst>
          </p:cNvPr>
          <p:cNvSpPr txBox="1">
            <a:spLocks/>
          </p:cNvSpPr>
          <p:nvPr/>
        </p:nvSpPr>
        <p:spPr>
          <a:xfrm>
            <a:off x="4512387" y="1320862"/>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13</a:t>
            </a:r>
          </a:p>
        </p:txBody>
      </p:sp>
      <p:sp>
        <p:nvSpPr>
          <p:cNvPr id="43" name="Google Shape;956;p30">
            <a:extLst>
              <a:ext uri="{FF2B5EF4-FFF2-40B4-BE49-F238E27FC236}">
                <a16:creationId xmlns:a16="http://schemas.microsoft.com/office/drawing/2014/main" id="{61CF5F6D-3FE3-F996-9973-DBB402D3E62B}"/>
              </a:ext>
            </a:extLst>
          </p:cNvPr>
          <p:cNvSpPr txBox="1">
            <a:spLocks/>
          </p:cNvSpPr>
          <p:nvPr/>
        </p:nvSpPr>
        <p:spPr>
          <a:xfrm>
            <a:off x="4879737" y="1351377"/>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Key Personnel</a:t>
            </a:r>
          </a:p>
        </p:txBody>
      </p:sp>
      <p:sp>
        <p:nvSpPr>
          <p:cNvPr id="44" name="Google Shape;952;p30">
            <a:extLst>
              <a:ext uri="{FF2B5EF4-FFF2-40B4-BE49-F238E27FC236}">
                <a16:creationId xmlns:a16="http://schemas.microsoft.com/office/drawing/2014/main" id="{1193F705-A682-D2E4-2FA8-70006D58503B}"/>
              </a:ext>
            </a:extLst>
          </p:cNvPr>
          <p:cNvSpPr txBox="1">
            <a:spLocks/>
          </p:cNvSpPr>
          <p:nvPr/>
        </p:nvSpPr>
        <p:spPr>
          <a:xfrm>
            <a:off x="4518037" y="1687094"/>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14</a:t>
            </a:r>
          </a:p>
        </p:txBody>
      </p:sp>
      <p:sp>
        <p:nvSpPr>
          <p:cNvPr id="45" name="Google Shape;956;p30">
            <a:extLst>
              <a:ext uri="{FF2B5EF4-FFF2-40B4-BE49-F238E27FC236}">
                <a16:creationId xmlns:a16="http://schemas.microsoft.com/office/drawing/2014/main" id="{B9C3165D-CEC8-36A8-C98D-F7D48B4CE108}"/>
              </a:ext>
            </a:extLst>
          </p:cNvPr>
          <p:cNvSpPr txBox="1">
            <a:spLocks/>
          </p:cNvSpPr>
          <p:nvPr/>
        </p:nvSpPr>
        <p:spPr>
          <a:xfrm>
            <a:off x="4885387" y="1717609"/>
            <a:ext cx="2277656"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Product Roadmap</a:t>
            </a:r>
          </a:p>
        </p:txBody>
      </p:sp>
      <p:sp>
        <p:nvSpPr>
          <p:cNvPr id="46" name="Google Shape;952;p30">
            <a:extLst>
              <a:ext uri="{FF2B5EF4-FFF2-40B4-BE49-F238E27FC236}">
                <a16:creationId xmlns:a16="http://schemas.microsoft.com/office/drawing/2014/main" id="{CF2EDBFB-1BDC-3243-24FC-5EB0608804D4}"/>
              </a:ext>
            </a:extLst>
          </p:cNvPr>
          <p:cNvSpPr txBox="1">
            <a:spLocks/>
          </p:cNvSpPr>
          <p:nvPr/>
        </p:nvSpPr>
        <p:spPr>
          <a:xfrm>
            <a:off x="4518037" y="2069024"/>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15</a:t>
            </a:r>
          </a:p>
        </p:txBody>
      </p:sp>
      <p:sp>
        <p:nvSpPr>
          <p:cNvPr id="47" name="Google Shape;956;p30">
            <a:extLst>
              <a:ext uri="{FF2B5EF4-FFF2-40B4-BE49-F238E27FC236}">
                <a16:creationId xmlns:a16="http://schemas.microsoft.com/office/drawing/2014/main" id="{C68E94CF-A352-B4F0-0AE7-E08BF0BA73BE}"/>
              </a:ext>
            </a:extLst>
          </p:cNvPr>
          <p:cNvSpPr txBox="1">
            <a:spLocks/>
          </p:cNvSpPr>
          <p:nvPr/>
        </p:nvSpPr>
        <p:spPr>
          <a:xfrm>
            <a:off x="4885387" y="2099539"/>
            <a:ext cx="2825020"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Business Model Canvas</a:t>
            </a:r>
          </a:p>
        </p:txBody>
      </p:sp>
      <p:sp>
        <p:nvSpPr>
          <p:cNvPr id="48" name="Google Shape;952;p30">
            <a:extLst>
              <a:ext uri="{FF2B5EF4-FFF2-40B4-BE49-F238E27FC236}">
                <a16:creationId xmlns:a16="http://schemas.microsoft.com/office/drawing/2014/main" id="{27052C78-F9C8-F596-68AE-C070D7D46F6D}"/>
              </a:ext>
            </a:extLst>
          </p:cNvPr>
          <p:cNvSpPr txBox="1">
            <a:spLocks/>
          </p:cNvSpPr>
          <p:nvPr/>
        </p:nvSpPr>
        <p:spPr>
          <a:xfrm>
            <a:off x="4518037" y="2420439"/>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16</a:t>
            </a:r>
          </a:p>
        </p:txBody>
      </p:sp>
      <p:sp>
        <p:nvSpPr>
          <p:cNvPr id="49" name="Google Shape;956;p30">
            <a:extLst>
              <a:ext uri="{FF2B5EF4-FFF2-40B4-BE49-F238E27FC236}">
                <a16:creationId xmlns:a16="http://schemas.microsoft.com/office/drawing/2014/main" id="{E397C2FE-E1EB-C728-4704-7D45E6FBE994}"/>
              </a:ext>
            </a:extLst>
          </p:cNvPr>
          <p:cNvSpPr txBox="1">
            <a:spLocks/>
          </p:cNvSpPr>
          <p:nvPr/>
        </p:nvSpPr>
        <p:spPr>
          <a:xfrm>
            <a:off x="4885387" y="2450954"/>
            <a:ext cx="2825020"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Funding</a:t>
            </a:r>
          </a:p>
        </p:txBody>
      </p:sp>
      <p:sp>
        <p:nvSpPr>
          <p:cNvPr id="50" name="Google Shape;952;p30">
            <a:extLst>
              <a:ext uri="{FF2B5EF4-FFF2-40B4-BE49-F238E27FC236}">
                <a16:creationId xmlns:a16="http://schemas.microsoft.com/office/drawing/2014/main" id="{C22A169C-94AE-5FD9-05D9-15A4A8615235}"/>
              </a:ext>
            </a:extLst>
          </p:cNvPr>
          <p:cNvSpPr txBox="1">
            <a:spLocks/>
          </p:cNvSpPr>
          <p:nvPr/>
        </p:nvSpPr>
        <p:spPr>
          <a:xfrm>
            <a:off x="4524504" y="2759561"/>
            <a:ext cx="479852" cy="4544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 sz="1600" dirty="0">
                <a:latin typeface="Lato" panose="020F0502020204030203" pitchFamily="34" charset="0"/>
                <a:ea typeface="Lato" panose="020F0502020204030203" pitchFamily="34" charset="0"/>
                <a:cs typeface="Lato" panose="020F0502020204030203" pitchFamily="34" charset="0"/>
              </a:rPr>
              <a:t>17</a:t>
            </a:r>
          </a:p>
        </p:txBody>
      </p:sp>
      <p:sp>
        <p:nvSpPr>
          <p:cNvPr id="51" name="Google Shape;956;p30">
            <a:extLst>
              <a:ext uri="{FF2B5EF4-FFF2-40B4-BE49-F238E27FC236}">
                <a16:creationId xmlns:a16="http://schemas.microsoft.com/office/drawing/2014/main" id="{D9A3BB2E-F91B-7208-F8E3-6E63924CD262}"/>
              </a:ext>
            </a:extLst>
          </p:cNvPr>
          <p:cNvSpPr txBox="1">
            <a:spLocks/>
          </p:cNvSpPr>
          <p:nvPr/>
        </p:nvSpPr>
        <p:spPr>
          <a:xfrm>
            <a:off x="4891854" y="2790076"/>
            <a:ext cx="2825020" cy="454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MY" sz="1600" dirty="0">
                <a:latin typeface="Lato" panose="020F0502020204030203" pitchFamily="34" charset="0"/>
                <a:ea typeface="Lato" panose="020F0502020204030203" pitchFamily="34" charset="0"/>
                <a:cs typeface="Lato" panose="020F0502020204030203" pitchFamily="34" charset="0"/>
              </a:rPr>
              <a:t>Future Development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33"/>
          <p:cNvSpPr txBox="1">
            <a:spLocks noGrp="1"/>
          </p:cNvSpPr>
          <p:nvPr>
            <p:ph type="title"/>
          </p:nvPr>
        </p:nvSpPr>
        <p:spPr>
          <a:xfrm>
            <a:off x="2486730" y="0"/>
            <a:ext cx="5116200" cy="65721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Executive Summary</a:t>
            </a:r>
            <a:endParaRPr dirty="0">
              <a:latin typeface="Lato" panose="020F0502020204030203" pitchFamily="34" charset="0"/>
              <a:ea typeface="Lato" panose="020F0502020204030203" pitchFamily="34" charset="0"/>
              <a:cs typeface="Lato" panose="020F0502020204030203" pitchFamily="34" charset="0"/>
            </a:endParaRPr>
          </a:p>
        </p:txBody>
      </p:sp>
      <p:sp>
        <p:nvSpPr>
          <p:cNvPr id="1104" name="Google Shape;1104;p33"/>
          <p:cNvSpPr txBox="1">
            <a:spLocks noGrp="1"/>
          </p:cNvSpPr>
          <p:nvPr>
            <p:ph type="subTitle" idx="1"/>
          </p:nvPr>
        </p:nvSpPr>
        <p:spPr>
          <a:xfrm>
            <a:off x="1026802" y="992022"/>
            <a:ext cx="7090395" cy="362948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GB" dirty="0"/>
              <a:t>Through a comprehensive study of current real estate applications, we identified a critical gap: lack of existing platform offers a seamless transition from property listing to end-to-end rental management and for the whole area. This fragmentation leads to frequent disputes between landlords and tenants, often exacerbated by a lack of legally admissible digital evidence. Landlords are particularly vulnerable to payment defaults, 'absconding' tenants, and arduous eviction processes because notifications are manual and evidence is difficult to aggregate quickly. </a:t>
            </a:r>
          </a:p>
          <a:p>
            <a:pPr marL="0" lvl="0" indent="0" algn="just" rtl="0">
              <a:spcBef>
                <a:spcPts val="0"/>
              </a:spcBef>
              <a:spcAft>
                <a:spcPts val="0"/>
              </a:spcAft>
              <a:buNone/>
            </a:pPr>
            <a:endParaRPr lang="en-GB" dirty="0"/>
          </a:p>
          <a:p>
            <a:pPr marL="0" lvl="0" indent="0" algn="just" rtl="0">
              <a:spcBef>
                <a:spcPts val="0"/>
              </a:spcBef>
              <a:spcAft>
                <a:spcPts val="0"/>
              </a:spcAft>
              <a:buNone/>
            </a:pPr>
            <a:r>
              <a:rPr lang="en-GB" dirty="0"/>
              <a:t>To address this, we developed </a:t>
            </a:r>
            <a:r>
              <a:rPr lang="en-GB" dirty="0" err="1"/>
              <a:t>LamaNiaga</a:t>
            </a:r>
            <a:r>
              <a:rPr lang="en-GB" dirty="0"/>
              <a:t>, a hybrid mobile application designed to revolutionize the rental market. Unlike competitors that focus solely on the initial search, </a:t>
            </a:r>
            <a:r>
              <a:rPr lang="en-GB" dirty="0" err="1"/>
              <a:t>LamaNiaga</a:t>
            </a:r>
            <a:r>
              <a:rPr lang="en-GB" dirty="0"/>
              <a:t> serves as both a marketplace and a smart management system. By collaborating with real estate agents, we have integrated essential requirements that existing systems overlook. </a:t>
            </a:r>
          </a:p>
          <a:p>
            <a:pPr marL="0" lvl="0" indent="0" algn="just" rtl="0">
              <a:spcBef>
                <a:spcPts val="0"/>
              </a:spcBef>
              <a:spcAft>
                <a:spcPts val="0"/>
              </a:spcAft>
              <a:buNone/>
            </a:pPr>
            <a:endParaRPr lang="en-GB" dirty="0"/>
          </a:p>
          <a:p>
            <a:pPr marL="0" lvl="0" indent="0" algn="just" rtl="0">
              <a:spcBef>
                <a:spcPts val="0"/>
              </a:spcBef>
              <a:spcAft>
                <a:spcPts val="0"/>
              </a:spcAft>
              <a:buNone/>
            </a:pPr>
            <a:r>
              <a:rPr lang="en-GB" dirty="0"/>
              <a:t>While scalable for all rental types, our initial phase focuses exclusively on Residential Property Rentals. </a:t>
            </a:r>
            <a:r>
              <a:rPr lang="en-GB" dirty="0" err="1"/>
              <a:t>LamaNiaga</a:t>
            </a:r>
            <a:r>
              <a:rPr lang="en-GB" dirty="0"/>
              <a:t> aims to eliminate the trust deficit, mitigate financial risks, and provide legal security through digitized documentation and automated financial tracking. Our development team brings extensive experience in delivering robust applications for various organizations, ensuring a high-quality, reliable platform.</a:t>
            </a:r>
          </a:p>
        </p:txBody>
      </p:sp>
      <p:cxnSp>
        <p:nvCxnSpPr>
          <p:cNvPr id="3" name="Straight Connector 2">
            <a:extLst>
              <a:ext uri="{FF2B5EF4-FFF2-40B4-BE49-F238E27FC236}">
                <a16:creationId xmlns:a16="http://schemas.microsoft.com/office/drawing/2014/main" id="{31078AE5-4521-BF5F-FE68-B2385F6F85F2}"/>
              </a:ext>
            </a:extLst>
          </p:cNvPr>
          <p:cNvCxnSpPr>
            <a:cxnSpLocks/>
          </p:cNvCxnSpPr>
          <p:nvPr/>
        </p:nvCxnSpPr>
        <p:spPr>
          <a:xfrm>
            <a:off x="1089329" y="4715123"/>
            <a:ext cx="6265628"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8BD9F8F5-D4A6-5849-6D47-1C085BB1707C}"/>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6" name="Freeform 19">
            <a:extLst>
              <a:ext uri="{FF2B5EF4-FFF2-40B4-BE49-F238E27FC236}">
                <a16:creationId xmlns:a16="http://schemas.microsoft.com/office/drawing/2014/main" id="{8D28C8AA-D33A-19F9-8F7B-FE384F4DC9AD}"/>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p>
        </p:txBody>
      </p:sp>
      <p:sp>
        <p:nvSpPr>
          <p:cNvPr id="8" name="TextBox 22">
            <a:extLst>
              <a:ext uri="{FF2B5EF4-FFF2-40B4-BE49-F238E27FC236}">
                <a16:creationId xmlns:a16="http://schemas.microsoft.com/office/drawing/2014/main" id="{6655E9E0-E7CF-8477-4CF6-1F7335DC5093}"/>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Roboto Bold"/>
                <a:ea typeface="Roboto Bold"/>
                <a:cs typeface="Roboto Bold"/>
                <a:sym typeface="Roboto Bold"/>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p32"/>
          <p:cNvSpPr/>
          <p:nvPr/>
        </p:nvSpPr>
        <p:spPr>
          <a:xfrm rot="-7219687" flipH="1">
            <a:off x="-1274660" y="720574"/>
            <a:ext cx="4625798" cy="395274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9999">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2"/>
          <p:cNvSpPr txBox="1">
            <a:spLocks noGrp="1"/>
          </p:cNvSpPr>
          <p:nvPr>
            <p:ph type="title"/>
          </p:nvPr>
        </p:nvSpPr>
        <p:spPr>
          <a:xfrm>
            <a:off x="3193690" y="5623"/>
            <a:ext cx="3170237"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latin typeface="Lato" panose="020F0502020204030203" pitchFamily="34" charset="0"/>
                <a:ea typeface="Lato" panose="020F0502020204030203" pitchFamily="34" charset="0"/>
                <a:cs typeface="Lato" panose="020F0502020204030203" pitchFamily="34" charset="0"/>
              </a:rPr>
              <a:t>Introduction</a:t>
            </a:r>
            <a:endParaRPr sz="4000" dirty="0">
              <a:latin typeface="Lato" panose="020F0502020204030203" pitchFamily="34" charset="0"/>
              <a:ea typeface="Lato" panose="020F0502020204030203" pitchFamily="34" charset="0"/>
              <a:cs typeface="Lato" panose="020F0502020204030203" pitchFamily="34" charset="0"/>
            </a:endParaRPr>
          </a:p>
        </p:txBody>
      </p:sp>
      <p:grpSp>
        <p:nvGrpSpPr>
          <p:cNvPr id="1022" name="Google Shape;1022;p32"/>
          <p:cNvGrpSpPr/>
          <p:nvPr/>
        </p:nvGrpSpPr>
        <p:grpSpPr>
          <a:xfrm>
            <a:off x="7764552" y="289852"/>
            <a:ext cx="1043864" cy="1157285"/>
            <a:chOff x="6568493" y="8"/>
            <a:chExt cx="1820608" cy="1840590"/>
          </a:xfrm>
        </p:grpSpPr>
        <p:sp>
          <p:nvSpPr>
            <p:cNvPr id="1023" name="Google Shape;1023;p32"/>
            <p:cNvSpPr/>
            <p:nvPr/>
          </p:nvSpPr>
          <p:spPr>
            <a:xfrm>
              <a:off x="6737915" y="169351"/>
              <a:ext cx="1651185" cy="1671247"/>
            </a:xfrm>
            <a:custGeom>
              <a:avLst/>
              <a:gdLst/>
              <a:ahLst/>
              <a:cxnLst/>
              <a:rect l="l" t="t" r="r" b="b"/>
              <a:pathLst>
                <a:path w="1959864" h="1983676" extrusionOk="0">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4" name="Google Shape;1024;p32"/>
            <p:cNvSpPr/>
            <p:nvPr/>
          </p:nvSpPr>
          <p:spPr>
            <a:xfrm>
              <a:off x="6653203" y="8"/>
              <a:ext cx="1651185" cy="1671247"/>
            </a:xfrm>
            <a:custGeom>
              <a:avLst/>
              <a:gdLst/>
              <a:ahLst/>
              <a:cxnLst/>
              <a:rect l="l" t="t" r="r" b="b"/>
              <a:pathLst>
                <a:path w="1959864" h="1983676" extrusionOk="0">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25" name="Google Shape;1025;p32"/>
            <p:cNvGrpSpPr/>
            <p:nvPr/>
          </p:nvGrpSpPr>
          <p:grpSpPr>
            <a:xfrm>
              <a:off x="6568493" y="84720"/>
              <a:ext cx="1649109" cy="1669065"/>
              <a:chOff x="8921020" y="472154"/>
              <a:chExt cx="1959958" cy="1983676"/>
            </a:xfrm>
          </p:grpSpPr>
          <p:sp>
            <p:nvSpPr>
              <p:cNvPr id="1026" name="Google Shape;1026;p32"/>
              <p:cNvSpPr/>
              <p:nvPr/>
            </p:nvSpPr>
            <p:spPr>
              <a:xfrm>
                <a:off x="8921114" y="472154"/>
                <a:ext cx="1959864" cy="1983676"/>
              </a:xfrm>
              <a:custGeom>
                <a:avLst/>
                <a:gdLst/>
                <a:ahLst/>
                <a:cxnLst/>
                <a:rect l="l" t="t" r="r" b="b"/>
                <a:pathLst>
                  <a:path w="1959864" h="1983676" extrusionOk="0">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7" name="Google Shape;1027;p32"/>
              <p:cNvSpPr/>
              <p:nvPr/>
            </p:nvSpPr>
            <p:spPr>
              <a:xfrm>
                <a:off x="8921020" y="472154"/>
                <a:ext cx="1959958" cy="172307"/>
              </a:xfrm>
              <a:custGeom>
                <a:avLst/>
                <a:gdLst/>
                <a:ahLst/>
                <a:cxnLst/>
                <a:rect l="l" t="t" r="r" b="b"/>
                <a:pathLst>
                  <a:path w="1959958" h="172307" extrusionOk="0">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28" name="Google Shape;1028;p32"/>
              <p:cNvGrpSpPr/>
              <p:nvPr/>
            </p:nvGrpSpPr>
            <p:grpSpPr>
              <a:xfrm>
                <a:off x="9011888" y="537781"/>
                <a:ext cx="255174" cy="64389"/>
                <a:chOff x="9011888" y="537781"/>
                <a:chExt cx="255174" cy="64389"/>
              </a:xfrm>
            </p:grpSpPr>
            <p:sp>
              <p:nvSpPr>
                <p:cNvPr id="1029" name="Google Shape;1029;p32"/>
                <p:cNvSpPr/>
                <p:nvPr/>
              </p:nvSpPr>
              <p:spPr>
                <a:xfrm>
                  <a:off x="920267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1030;p32"/>
                <p:cNvSpPr/>
                <p:nvPr/>
              </p:nvSpPr>
              <p:spPr>
                <a:xfrm>
                  <a:off x="910723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1" name="Google Shape;1031;p32"/>
                <p:cNvSpPr/>
                <p:nvPr/>
              </p:nvSpPr>
              <p:spPr>
                <a:xfrm>
                  <a:off x="9011888"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32" name="Google Shape;1032;p32"/>
            <p:cNvGrpSpPr/>
            <p:nvPr/>
          </p:nvGrpSpPr>
          <p:grpSpPr>
            <a:xfrm>
              <a:off x="6795939" y="406335"/>
              <a:ext cx="1194216" cy="1228757"/>
              <a:chOff x="9191339" y="854392"/>
              <a:chExt cx="1419320" cy="1460372"/>
            </a:xfrm>
          </p:grpSpPr>
          <p:grpSp>
            <p:nvGrpSpPr>
              <p:cNvPr id="1033" name="Google Shape;1033;p32"/>
              <p:cNvGrpSpPr/>
              <p:nvPr/>
            </p:nvGrpSpPr>
            <p:grpSpPr>
              <a:xfrm>
                <a:off x="9191339" y="1884045"/>
                <a:ext cx="604932" cy="420243"/>
                <a:chOff x="9191339" y="1884045"/>
                <a:chExt cx="604932" cy="420243"/>
              </a:xfrm>
            </p:grpSpPr>
            <p:sp>
              <p:nvSpPr>
                <p:cNvPr id="1034" name="Google Shape;1034;p32"/>
                <p:cNvSpPr/>
                <p:nvPr/>
              </p:nvSpPr>
              <p:spPr>
                <a:xfrm>
                  <a:off x="9191339" y="1884045"/>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5" name="Google Shape;1035;p32"/>
                <p:cNvSpPr/>
                <p:nvPr/>
              </p:nvSpPr>
              <p:spPr>
                <a:xfrm>
                  <a:off x="9449466" y="1884045"/>
                  <a:ext cx="182498" cy="52959"/>
                </a:xfrm>
                <a:custGeom>
                  <a:avLst/>
                  <a:gdLst/>
                  <a:ahLst/>
                  <a:cxnLst/>
                  <a:rect l="l" t="t" r="r" b="b"/>
                  <a:pathLst>
                    <a:path w="182498" h="52959" extrusionOk="0">
                      <a:moveTo>
                        <a:pt x="0" y="0"/>
                      </a:moveTo>
                      <a:lnTo>
                        <a:pt x="182499" y="0"/>
                      </a:lnTo>
                      <a:lnTo>
                        <a:pt x="18249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6" name="Google Shape;1036;p32"/>
                <p:cNvSpPr/>
                <p:nvPr/>
              </p:nvSpPr>
              <p:spPr>
                <a:xfrm>
                  <a:off x="9651396" y="1884045"/>
                  <a:ext cx="144875" cy="52959"/>
                </a:xfrm>
                <a:custGeom>
                  <a:avLst/>
                  <a:gdLst/>
                  <a:ahLst/>
                  <a:cxnLst/>
                  <a:rect l="l" t="t" r="r" b="b"/>
                  <a:pathLst>
                    <a:path w="144875" h="52959" extrusionOk="0">
                      <a:moveTo>
                        <a:pt x="0" y="0"/>
                      </a:moveTo>
                      <a:lnTo>
                        <a:pt x="144876" y="0"/>
                      </a:lnTo>
                      <a:lnTo>
                        <a:pt x="14487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7" name="Google Shape;1037;p32"/>
                <p:cNvSpPr/>
                <p:nvPr/>
              </p:nvSpPr>
              <p:spPr>
                <a:xfrm>
                  <a:off x="9308306" y="2006536"/>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8" name="Google Shape;1038;p32"/>
                <p:cNvSpPr/>
                <p:nvPr/>
              </p:nvSpPr>
              <p:spPr>
                <a:xfrm>
                  <a:off x="9191339" y="2006536"/>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9" name="Google Shape;1039;p32"/>
                <p:cNvSpPr/>
                <p:nvPr/>
              </p:nvSpPr>
              <p:spPr>
                <a:xfrm>
                  <a:off x="9460325" y="2128932"/>
                  <a:ext cx="230790" cy="52959"/>
                </a:xfrm>
                <a:custGeom>
                  <a:avLst/>
                  <a:gdLst/>
                  <a:ahLst/>
                  <a:cxnLst/>
                  <a:rect l="l" t="t" r="r" b="b"/>
                  <a:pathLst>
                    <a:path w="230790" h="52959" extrusionOk="0">
                      <a:moveTo>
                        <a:pt x="0" y="0"/>
                      </a:moveTo>
                      <a:lnTo>
                        <a:pt x="230791" y="0"/>
                      </a:lnTo>
                      <a:lnTo>
                        <a:pt x="230791"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0" name="Google Shape;1040;p32"/>
                <p:cNvSpPr/>
                <p:nvPr/>
              </p:nvSpPr>
              <p:spPr>
                <a:xfrm>
                  <a:off x="9713023" y="2128932"/>
                  <a:ext cx="83248" cy="52959"/>
                </a:xfrm>
                <a:custGeom>
                  <a:avLst/>
                  <a:gdLst/>
                  <a:ahLst/>
                  <a:cxnLst/>
                  <a:rect l="l" t="t" r="r" b="b"/>
                  <a:pathLst>
                    <a:path w="83248" h="52959" extrusionOk="0">
                      <a:moveTo>
                        <a:pt x="0" y="0"/>
                      </a:moveTo>
                      <a:lnTo>
                        <a:pt x="83248" y="0"/>
                      </a:lnTo>
                      <a:lnTo>
                        <a:pt x="8324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1" name="Google Shape;1041;p32"/>
                <p:cNvSpPr/>
                <p:nvPr/>
              </p:nvSpPr>
              <p:spPr>
                <a:xfrm>
                  <a:off x="9191339" y="2128932"/>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2" name="Google Shape;1042;p32"/>
                <p:cNvSpPr/>
                <p:nvPr/>
              </p:nvSpPr>
              <p:spPr>
                <a:xfrm>
                  <a:off x="9365170" y="225132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3" name="Google Shape;1043;p32"/>
                <p:cNvSpPr/>
                <p:nvPr/>
              </p:nvSpPr>
              <p:spPr>
                <a:xfrm>
                  <a:off x="9191339" y="225132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44" name="Google Shape;1044;p32"/>
              <p:cNvGrpSpPr/>
              <p:nvPr/>
            </p:nvGrpSpPr>
            <p:grpSpPr>
              <a:xfrm>
                <a:off x="10004774" y="854392"/>
                <a:ext cx="604932" cy="420243"/>
                <a:chOff x="10004774" y="854392"/>
                <a:chExt cx="604932" cy="420243"/>
              </a:xfrm>
            </p:grpSpPr>
            <p:sp>
              <p:nvSpPr>
                <p:cNvPr id="1045" name="Google Shape;1045;p32"/>
                <p:cNvSpPr/>
                <p:nvPr/>
              </p:nvSpPr>
              <p:spPr>
                <a:xfrm>
                  <a:off x="10004774" y="85439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6" name="Google Shape;1046;p32"/>
                <p:cNvSpPr/>
                <p:nvPr/>
              </p:nvSpPr>
              <p:spPr>
                <a:xfrm>
                  <a:off x="10262901" y="85439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7" name="Google Shape;1047;p32"/>
                <p:cNvSpPr/>
                <p:nvPr/>
              </p:nvSpPr>
              <p:spPr>
                <a:xfrm>
                  <a:off x="10464831" y="85439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 name="Google Shape;1048;p32"/>
                <p:cNvSpPr/>
                <p:nvPr/>
              </p:nvSpPr>
              <p:spPr>
                <a:xfrm>
                  <a:off x="10121741" y="976788"/>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9" name="Google Shape;1049;p32"/>
                <p:cNvSpPr/>
                <p:nvPr/>
              </p:nvSpPr>
              <p:spPr>
                <a:xfrm>
                  <a:off x="10004774" y="976788"/>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0" name="Google Shape;1050;p32"/>
                <p:cNvSpPr/>
                <p:nvPr/>
              </p:nvSpPr>
              <p:spPr>
                <a:xfrm>
                  <a:off x="10273760" y="1099280"/>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1" name="Google Shape;1051;p32"/>
                <p:cNvSpPr/>
                <p:nvPr/>
              </p:nvSpPr>
              <p:spPr>
                <a:xfrm>
                  <a:off x="10526458" y="1099280"/>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2" name="Google Shape;1052;p32"/>
                <p:cNvSpPr/>
                <p:nvPr/>
              </p:nvSpPr>
              <p:spPr>
                <a:xfrm>
                  <a:off x="10004774" y="1099280"/>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3" name="Google Shape;1053;p32"/>
                <p:cNvSpPr/>
                <p:nvPr/>
              </p:nvSpPr>
              <p:spPr>
                <a:xfrm>
                  <a:off x="10178700" y="1221676"/>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4" name="Google Shape;1054;p32"/>
                <p:cNvSpPr/>
                <p:nvPr/>
              </p:nvSpPr>
              <p:spPr>
                <a:xfrm>
                  <a:off x="10004774" y="1221676"/>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55" name="Google Shape;1055;p32"/>
              <p:cNvGrpSpPr/>
              <p:nvPr/>
            </p:nvGrpSpPr>
            <p:grpSpPr>
              <a:xfrm>
                <a:off x="10004774" y="1374362"/>
                <a:ext cx="604932" cy="303466"/>
                <a:chOff x="10004774" y="1374362"/>
                <a:chExt cx="604932" cy="303466"/>
              </a:xfrm>
            </p:grpSpPr>
            <p:sp>
              <p:nvSpPr>
                <p:cNvPr id="1056" name="Google Shape;1056;p32"/>
                <p:cNvSpPr/>
                <p:nvPr/>
              </p:nvSpPr>
              <p:spPr>
                <a:xfrm>
                  <a:off x="10004774" y="137436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7" name="Google Shape;1057;p32"/>
                <p:cNvSpPr/>
                <p:nvPr/>
              </p:nvSpPr>
              <p:spPr>
                <a:xfrm>
                  <a:off x="10262901" y="137436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8" name="Google Shape;1058;p32"/>
                <p:cNvSpPr/>
                <p:nvPr/>
              </p:nvSpPr>
              <p:spPr>
                <a:xfrm>
                  <a:off x="10464831" y="137436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9" name="Google Shape;1059;p32"/>
                <p:cNvSpPr/>
                <p:nvPr/>
              </p:nvSpPr>
              <p:spPr>
                <a:xfrm>
                  <a:off x="10273760" y="1502378"/>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0" name="Google Shape;1060;p32"/>
                <p:cNvSpPr/>
                <p:nvPr/>
              </p:nvSpPr>
              <p:spPr>
                <a:xfrm>
                  <a:off x="10526458" y="1502378"/>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1" name="Google Shape;1061;p32"/>
                <p:cNvSpPr/>
                <p:nvPr/>
              </p:nvSpPr>
              <p:spPr>
                <a:xfrm>
                  <a:off x="10004774" y="1502378"/>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2" name="Google Shape;1062;p32"/>
                <p:cNvSpPr/>
                <p:nvPr/>
              </p:nvSpPr>
              <p:spPr>
                <a:xfrm>
                  <a:off x="10178700" y="162486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3" name="Google Shape;1063;p32"/>
                <p:cNvSpPr/>
                <p:nvPr/>
              </p:nvSpPr>
              <p:spPr>
                <a:xfrm>
                  <a:off x="10004774" y="162486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64" name="Google Shape;1064;p32"/>
              <p:cNvSpPr/>
              <p:nvPr/>
            </p:nvSpPr>
            <p:spPr>
              <a:xfrm>
                <a:off x="10004774" y="1875948"/>
                <a:ext cx="605885" cy="438816"/>
              </a:xfrm>
              <a:custGeom>
                <a:avLst/>
                <a:gdLst/>
                <a:ahLst/>
                <a:cxnLst/>
                <a:rect l="l" t="t" r="r" b="b"/>
                <a:pathLst>
                  <a:path w="605885" h="438816" extrusionOk="0">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5" name="Google Shape;1065;p32"/>
              <p:cNvSpPr/>
              <p:nvPr/>
            </p:nvSpPr>
            <p:spPr>
              <a:xfrm>
                <a:off x="9191339" y="860202"/>
                <a:ext cx="605885" cy="815149"/>
              </a:xfrm>
              <a:custGeom>
                <a:avLst/>
                <a:gdLst/>
                <a:ahLst/>
                <a:cxnLst/>
                <a:rect l="l" t="t" r="r" b="b"/>
                <a:pathLst>
                  <a:path w="605885" h="815149" extrusionOk="0">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66" name="Google Shape;1066;p32"/>
            <p:cNvGrpSpPr/>
            <p:nvPr/>
          </p:nvGrpSpPr>
          <p:grpSpPr>
            <a:xfrm>
              <a:off x="6717319" y="354723"/>
              <a:ext cx="656533" cy="799751"/>
              <a:chOff x="9097899" y="793051"/>
              <a:chExt cx="780287" cy="950500"/>
            </a:xfrm>
          </p:grpSpPr>
          <p:grpSp>
            <p:nvGrpSpPr>
              <p:cNvPr id="1067" name="Google Shape;1067;p32"/>
              <p:cNvGrpSpPr/>
              <p:nvPr/>
            </p:nvGrpSpPr>
            <p:grpSpPr>
              <a:xfrm>
                <a:off x="9118758" y="814006"/>
                <a:ext cx="747999" cy="918020"/>
                <a:chOff x="9118758" y="814006"/>
                <a:chExt cx="747999" cy="918020"/>
              </a:xfrm>
            </p:grpSpPr>
            <p:sp>
              <p:nvSpPr>
                <p:cNvPr id="1068" name="Google Shape;1068;p32"/>
                <p:cNvSpPr/>
                <p:nvPr/>
              </p:nvSpPr>
              <p:spPr>
                <a:xfrm>
                  <a:off x="9131522" y="1722501"/>
                  <a:ext cx="700277" cy="9525"/>
                </a:xfrm>
                <a:custGeom>
                  <a:avLst/>
                  <a:gdLst/>
                  <a:ahLst/>
                  <a:cxnLst/>
                  <a:rect l="l" t="t" r="r" b="b"/>
                  <a:pathLst>
                    <a:path w="700277" h="9525" extrusionOk="0">
                      <a:moveTo>
                        <a:pt x="700278" y="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9" name="Google Shape;1069;p32"/>
                <p:cNvSpPr/>
                <p:nvPr/>
              </p:nvSpPr>
              <p:spPr>
                <a:xfrm>
                  <a:off x="9118758" y="826579"/>
                  <a:ext cx="9525" cy="870680"/>
                </a:xfrm>
                <a:custGeom>
                  <a:avLst/>
                  <a:gdLst/>
                  <a:ahLst/>
                  <a:cxnLst/>
                  <a:rect l="l" t="t" r="r" b="b"/>
                  <a:pathLst>
                    <a:path w="9525" h="870680" extrusionOk="0">
                      <a:moveTo>
                        <a:pt x="0" y="87068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0" name="Google Shape;1070;p32"/>
                <p:cNvSpPr/>
                <p:nvPr/>
              </p:nvSpPr>
              <p:spPr>
                <a:xfrm>
                  <a:off x="9144285" y="814006"/>
                  <a:ext cx="700277" cy="9525"/>
                </a:xfrm>
                <a:custGeom>
                  <a:avLst/>
                  <a:gdLst/>
                  <a:ahLst/>
                  <a:cxnLst/>
                  <a:rect l="l" t="t" r="r" b="b"/>
                  <a:pathLst>
                    <a:path w="700277" h="9525" extrusionOk="0">
                      <a:moveTo>
                        <a:pt x="0" y="0"/>
                      </a:moveTo>
                      <a:lnTo>
                        <a:pt x="700278"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1" name="Google Shape;1071;p32"/>
                <p:cNvSpPr/>
                <p:nvPr/>
              </p:nvSpPr>
              <p:spPr>
                <a:xfrm>
                  <a:off x="9857232" y="839247"/>
                  <a:ext cx="9525" cy="870680"/>
                </a:xfrm>
                <a:custGeom>
                  <a:avLst/>
                  <a:gdLst/>
                  <a:ahLst/>
                  <a:cxnLst/>
                  <a:rect l="l" t="t" r="r" b="b"/>
                  <a:pathLst>
                    <a:path w="9525" h="870680" extrusionOk="0">
                      <a:moveTo>
                        <a:pt x="0" y="0"/>
                      </a:moveTo>
                      <a:lnTo>
                        <a:pt x="0" y="87068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72" name="Google Shape;1072;p32"/>
              <p:cNvGrpSpPr/>
              <p:nvPr/>
            </p:nvGrpSpPr>
            <p:grpSpPr>
              <a:xfrm>
                <a:off x="9097899" y="793051"/>
                <a:ext cx="780287" cy="950500"/>
                <a:chOff x="9097899" y="793051"/>
                <a:chExt cx="780287" cy="950500"/>
              </a:xfrm>
            </p:grpSpPr>
            <p:grpSp>
              <p:nvGrpSpPr>
                <p:cNvPr id="1073" name="Google Shape;1073;p32"/>
                <p:cNvGrpSpPr/>
                <p:nvPr/>
              </p:nvGrpSpPr>
              <p:grpSpPr>
                <a:xfrm>
                  <a:off x="9097899" y="793051"/>
                  <a:ext cx="780287" cy="41909"/>
                  <a:chOff x="9097899" y="793051"/>
                  <a:chExt cx="780287" cy="41909"/>
                </a:xfrm>
              </p:grpSpPr>
              <p:sp>
                <p:nvSpPr>
                  <p:cNvPr id="1074" name="Google Shape;1074;p32"/>
                  <p:cNvSpPr/>
                  <p:nvPr/>
                </p:nvSpPr>
                <p:spPr>
                  <a:xfrm>
                    <a:off x="9097899"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5" name="Google Shape;1075;p32"/>
                  <p:cNvSpPr/>
                  <p:nvPr/>
                </p:nvSpPr>
                <p:spPr>
                  <a:xfrm>
                    <a:off x="9467088"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6" name="Google Shape;1076;p32"/>
                  <p:cNvSpPr/>
                  <p:nvPr/>
                </p:nvSpPr>
                <p:spPr>
                  <a:xfrm>
                    <a:off x="9836277"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77" name="Google Shape;1077;p32"/>
                <p:cNvGrpSpPr/>
                <p:nvPr/>
              </p:nvGrpSpPr>
              <p:grpSpPr>
                <a:xfrm>
                  <a:off x="9097899" y="1247298"/>
                  <a:ext cx="780287" cy="41910"/>
                  <a:chOff x="9097899" y="1247298"/>
                  <a:chExt cx="780287" cy="41910"/>
                </a:xfrm>
              </p:grpSpPr>
              <p:sp>
                <p:nvSpPr>
                  <p:cNvPr id="1078" name="Google Shape;1078;p32"/>
                  <p:cNvSpPr/>
                  <p:nvPr/>
                </p:nvSpPr>
                <p:spPr>
                  <a:xfrm>
                    <a:off x="9097899"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9" name="Google Shape;1079;p32"/>
                  <p:cNvSpPr/>
                  <p:nvPr/>
                </p:nvSpPr>
                <p:spPr>
                  <a:xfrm>
                    <a:off x="9836277"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80" name="Google Shape;1080;p32"/>
                <p:cNvGrpSpPr/>
                <p:nvPr/>
              </p:nvGrpSpPr>
              <p:grpSpPr>
                <a:xfrm>
                  <a:off x="9097899" y="1701641"/>
                  <a:ext cx="780287" cy="41910"/>
                  <a:chOff x="9097899" y="1701641"/>
                  <a:chExt cx="780287" cy="41910"/>
                </a:xfrm>
              </p:grpSpPr>
              <p:sp>
                <p:nvSpPr>
                  <p:cNvPr id="1081" name="Google Shape;1081;p32"/>
                  <p:cNvSpPr/>
                  <p:nvPr/>
                </p:nvSpPr>
                <p:spPr>
                  <a:xfrm>
                    <a:off x="9097899"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2" name="Google Shape;1082;p32"/>
                  <p:cNvSpPr/>
                  <p:nvPr/>
                </p:nvSpPr>
                <p:spPr>
                  <a:xfrm>
                    <a:off x="9467088"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3" name="Google Shape;1083;p32"/>
                  <p:cNvSpPr/>
                  <p:nvPr/>
                </p:nvSpPr>
                <p:spPr>
                  <a:xfrm>
                    <a:off x="9836277"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084" name="Google Shape;1084;p32"/>
            <p:cNvGrpSpPr/>
            <p:nvPr/>
          </p:nvGrpSpPr>
          <p:grpSpPr>
            <a:xfrm>
              <a:off x="7074117" y="956519"/>
              <a:ext cx="215826" cy="125825"/>
              <a:chOff x="9521952" y="1508283"/>
              <a:chExt cx="256508" cy="149542"/>
            </a:xfrm>
          </p:grpSpPr>
          <p:sp>
            <p:nvSpPr>
              <p:cNvPr id="1085" name="Google Shape;1085;p32"/>
              <p:cNvSpPr/>
              <p:nvPr/>
            </p:nvSpPr>
            <p:spPr>
              <a:xfrm>
                <a:off x="9521952" y="1508283"/>
                <a:ext cx="256508" cy="149542"/>
              </a:xfrm>
              <a:custGeom>
                <a:avLst/>
                <a:gdLst/>
                <a:ahLst/>
                <a:cxnLst/>
                <a:rect l="l" t="t" r="r" b="b"/>
                <a:pathLst>
                  <a:path w="256508" h="149542" extrusionOk="0">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86" name="Google Shape;1086;p32"/>
              <p:cNvGrpSpPr/>
              <p:nvPr/>
            </p:nvGrpSpPr>
            <p:grpSpPr>
              <a:xfrm>
                <a:off x="9556578" y="1534618"/>
                <a:ext cx="183763" cy="98921"/>
                <a:chOff x="9556578" y="1534618"/>
                <a:chExt cx="183763" cy="98921"/>
              </a:xfrm>
            </p:grpSpPr>
            <p:grpSp>
              <p:nvGrpSpPr>
                <p:cNvPr id="1087" name="Google Shape;1087;p32"/>
                <p:cNvGrpSpPr/>
                <p:nvPr/>
              </p:nvGrpSpPr>
              <p:grpSpPr>
                <a:xfrm>
                  <a:off x="9645396" y="1536115"/>
                  <a:ext cx="94945" cy="94946"/>
                  <a:chOff x="9645396" y="1536115"/>
                  <a:chExt cx="94945" cy="94946"/>
                </a:xfrm>
              </p:grpSpPr>
              <p:sp>
                <p:nvSpPr>
                  <p:cNvPr id="1088" name="Google Shape;1088;p32"/>
                  <p:cNvSpPr/>
                  <p:nvPr/>
                </p:nvSpPr>
                <p:spPr>
                  <a:xfrm>
                    <a:off x="9645396" y="1588389"/>
                    <a:ext cx="42671" cy="42672"/>
                  </a:xfrm>
                  <a:custGeom>
                    <a:avLst/>
                    <a:gdLst/>
                    <a:ahLst/>
                    <a:cxnLst/>
                    <a:rect l="l" t="t" r="r" b="b"/>
                    <a:pathLst>
                      <a:path w="42671" h="42672" extrusionOk="0">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9" name="Google Shape;1089;p32"/>
                  <p:cNvSpPr/>
                  <p:nvPr/>
                </p:nvSpPr>
                <p:spPr>
                  <a:xfrm>
                    <a:off x="9674923" y="1536115"/>
                    <a:ext cx="65418" cy="65418"/>
                  </a:xfrm>
                  <a:custGeom>
                    <a:avLst/>
                    <a:gdLst/>
                    <a:ahLst/>
                    <a:cxnLst/>
                    <a:rect l="l" t="t" r="r" b="b"/>
                    <a:pathLst>
                      <a:path w="65418" h="65418" extrusionOk="0">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90" name="Google Shape;1090;p32"/>
                <p:cNvGrpSpPr/>
                <p:nvPr/>
              </p:nvGrpSpPr>
              <p:grpSpPr>
                <a:xfrm>
                  <a:off x="9556578" y="1534618"/>
                  <a:ext cx="98773" cy="98921"/>
                  <a:chOff x="9556578" y="1534618"/>
                  <a:chExt cx="98773" cy="98921"/>
                </a:xfrm>
              </p:grpSpPr>
              <p:sp>
                <p:nvSpPr>
                  <p:cNvPr id="1091" name="Google Shape;1091;p32"/>
                  <p:cNvSpPr/>
                  <p:nvPr/>
                </p:nvSpPr>
                <p:spPr>
                  <a:xfrm>
                    <a:off x="9556578" y="1534618"/>
                    <a:ext cx="98773" cy="98921"/>
                  </a:xfrm>
                  <a:custGeom>
                    <a:avLst/>
                    <a:gdLst/>
                    <a:ahLst/>
                    <a:cxnLst/>
                    <a:rect l="l" t="t" r="r" b="b"/>
                    <a:pathLst>
                      <a:path w="98773" h="98921" extrusionOk="0">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2" name="Google Shape;1092;p32"/>
                  <p:cNvSpPr/>
                  <p:nvPr/>
                </p:nvSpPr>
                <p:spPr>
                  <a:xfrm>
                    <a:off x="9597270" y="1577125"/>
                    <a:ext cx="15573" cy="15573"/>
                  </a:xfrm>
                  <a:custGeom>
                    <a:avLst/>
                    <a:gdLst/>
                    <a:ahLst/>
                    <a:cxnLst/>
                    <a:rect l="l" t="t" r="r" b="b"/>
                    <a:pathLst>
                      <a:path w="15573" h="15573" extrusionOk="0">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1093" name="Google Shape;1093;p32"/>
          <p:cNvGrpSpPr/>
          <p:nvPr/>
        </p:nvGrpSpPr>
        <p:grpSpPr>
          <a:xfrm>
            <a:off x="254436" y="3695349"/>
            <a:ext cx="917374" cy="683570"/>
            <a:chOff x="1914620" y="1930431"/>
            <a:chExt cx="572929" cy="426911"/>
          </a:xfrm>
        </p:grpSpPr>
        <p:grpSp>
          <p:nvGrpSpPr>
            <p:cNvPr id="1094" name="Google Shape;1094;p32"/>
            <p:cNvGrpSpPr/>
            <p:nvPr/>
          </p:nvGrpSpPr>
          <p:grpSpPr>
            <a:xfrm>
              <a:off x="1914620" y="1930431"/>
              <a:ext cx="572929" cy="426911"/>
              <a:chOff x="1914620" y="1930431"/>
              <a:chExt cx="572929" cy="426911"/>
            </a:xfrm>
          </p:grpSpPr>
          <p:sp>
            <p:nvSpPr>
              <p:cNvPr id="1095" name="Google Shape;1095;p32"/>
              <p:cNvSpPr/>
              <p:nvPr/>
            </p:nvSpPr>
            <p:spPr>
              <a:xfrm>
                <a:off x="2042160" y="1930431"/>
                <a:ext cx="445389" cy="299466"/>
              </a:xfrm>
              <a:custGeom>
                <a:avLst/>
                <a:gdLst/>
                <a:ahLst/>
                <a:cxnLst/>
                <a:rect l="l" t="t" r="r" b="b"/>
                <a:pathLst>
                  <a:path w="445389" h="299466" extrusionOk="0">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6" name="Google Shape;1096;p32"/>
              <p:cNvSpPr/>
              <p:nvPr/>
            </p:nvSpPr>
            <p:spPr>
              <a:xfrm>
                <a:off x="1978342" y="1994058"/>
                <a:ext cx="445389" cy="299465"/>
              </a:xfrm>
              <a:custGeom>
                <a:avLst/>
                <a:gdLst/>
                <a:ahLst/>
                <a:cxnLst/>
                <a:rect l="l" t="t" r="r" b="b"/>
                <a:pathLst>
                  <a:path w="445389" h="299465"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7" name="Google Shape;1097;p32"/>
              <p:cNvSpPr/>
              <p:nvPr/>
            </p:nvSpPr>
            <p:spPr>
              <a:xfrm>
                <a:off x="1914620" y="2057876"/>
                <a:ext cx="445389" cy="299466"/>
              </a:xfrm>
              <a:custGeom>
                <a:avLst/>
                <a:gdLst/>
                <a:ahLst/>
                <a:cxnLst/>
                <a:rect l="l" t="t" r="r" b="b"/>
                <a:pathLst>
                  <a:path w="445389" h="299466"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98" name="Google Shape;1098;p32"/>
            <p:cNvSpPr/>
            <p:nvPr/>
          </p:nvSpPr>
          <p:spPr>
            <a:xfrm>
              <a:off x="2024157" y="2180272"/>
              <a:ext cx="222980" cy="101917"/>
            </a:xfrm>
            <a:custGeom>
              <a:avLst/>
              <a:gdLst/>
              <a:ahLst/>
              <a:cxnLst/>
              <a:rect l="l" t="t" r="r" b="b"/>
              <a:pathLst>
                <a:path w="222980" h="101917" extrusionOk="0">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 name="Rectangle 3">
            <a:extLst>
              <a:ext uri="{FF2B5EF4-FFF2-40B4-BE49-F238E27FC236}">
                <a16:creationId xmlns:a16="http://schemas.microsoft.com/office/drawing/2014/main" id="{AE54FB94-7E03-9CC8-44B8-0828DA0F86C2}"/>
              </a:ext>
            </a:extLst>
          </p:cNvPr>
          <p:cNvSpPr/>
          <p:nvPr/>
        </p:nvSpPr>
        <p:spPr>
          <a:xfrm>
            <a:off x="3300949" y="1466004"/>
            <a:ext cx="1238092" cy="5901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Lato" panose="020F0502020204030203" pitchFamily="34" charset="0"/>
                <a:ea typeface="Lato" panose="020F0502020204030203" pitchFamily="34" charset="0"/>
                <a:cs typeface="Lato" panose="020F0502020204030203" pitchFamily="34" charset="0"/>
              </a:rPr>
              <a:t>Our Company</a:t>
            </a:r>
            <a:endParaRPr lang="en-MY" dirty="0">
              <a:latin typeface="Lato" panose="020F0502020204030203" pitchFamily="34" charset="0"/>
              <a:ea typeface="Lato" panose="020F0502020204030203" pitchFamily="34" charset="0"/>
              <a:cs typeface="Lato" panose="020F0502020204030203" pitchFamily="34" charset="0"/>
            </a:endParaRPr>
          </a:p>
        </p:txBody>
      </p:sp>
      <p:pic>
        <p:nvPicPr>
          <p:cNvPr id="10" name="Picture Placeholder 9">
            <a:extLst>
              <a:ext uri="{FF2B5EF4-FFF2-40B4-BE49-F238E27FC236}">
                <a16:creationId xmlns:a16="http://schemas.microsoft.com/office/drawing/2014/main" id="{B15EE74F-BFE4-3FDA-61A2-A2DFCF867327}"/>
              </a:ext>
            </a:extLst>
          </p:cNvPr>
          <p:cNvPicPr>
            <a:picLocks noGrp="1" noChangeAspect="1"/>
          </p:cNvPicPr>
          <p:nvPr>
            <p:ph type="pic" idx="3"/>
          </p:nvPr>
        </p:nvPicPr>
        <p:blipFill>
          <a:blip r:embed="rId3">
            <a:extLst>
              <a:ext uri="{BEBA8EAE-BF5A-486C-A8C5-ECC9F3942E4B}">
                <a14:imgProps xmlns:a14="http://schemas.microsoft.com/office/drawing/2010/main">
                  <a14:imgLayer r:embed="rId4">
                    <a14:imgEffect>
                      <a14:backgroundRemoval t="9264" b="93587" l="4425" r="95354">
                        <a14:foregroundMark x1="36947" y1="9264" x2="36947" y2="9264"/>
                        <a14:foregroundMark x1="31637" y1="9739" x2="31637" y2="9739"/>
                        <a14:foregroundMark x1="22345" y1="13777" x2="22345" y2="13777"/>
                        <a14:foregroundMark x1="26327" y1="10689" x2="26327" y2="10689"/>
                        <a14:foregroundMark x1="24336" y1="11639" x2="24336" y2="11639"/>
                        <a14:foregroundMark x1="21239" y1="17340" x2="14823" y2="31116"/>
                        <a14:foregroundMark x1="14823" y1="31116" x2="7965" y2="48456"/>
                        <a14:foregroundMark x1="7965" y1="48456" x2="12168" y2="68409"/>
                        <a14:foregroundMark x1="12168" y1="68409" x2="24558" y2="93587"/>
                        <a14:foregroundMark x1="8407" y1="44893" x2="9513" y2="59145"/>
                        <a14:foregroundMark x1="4867" y1="52732" x2="7743" y2="48456"/>
                        <a14:foregroundMark x1="27434" y1="93824" x2="44690" y2="92637"/>
                        <a14:foregroundMark x1="44690" y1="92637" x2="76106" y2="93587"/>
                        <a14:foregroundMark x1="76106" y1="93587" x2="76106" y2="93824"/>
                        <a14:foregroundMark x1="37832" y1="10451" x2="54646" y2="11401"/>
                        <a14:foregroundMark x1="54646" y1="11401" x2="70133" y2="10689"/>
                        <a14:foregroundMark x1="70133" y1="10689" x2="74779" y2="10689"/>
                        <a14:foregroundMark x1="76327" y1="10689" x2="77212" y2="14014"/>
                        <a14:foregroundMark x1="82015" y1="22097" x2="86726" y2="36580"/>
                        <a14:foregroundMark x1="86726" y1="36580" x2="95354" y2="47981"/>
                        <a14:foregroundMark x1="94690" y1="49644" x2="88274" y2="66983"/>
                        <a14:foregroundMark x1="88274" y1="67221" x2="76549" y2="93587"/>
                        <a14:foregroundMark x1="81195" y1="21378" x2="81195" y2="21378"/>
                        <a14:backgroundMark x1="83407" y1="19002" x2="83407" y2="19002"/>
                        <a14:backgroundMark x1="83850" y1="19952" x2="83850" y2="19952"/>
                        <a14:backgroundMark x1="82965" y1="18765" x2="82965" y2="18765"/>
                        <a14:backgroundMark x1="82301" y1="19952" x2="82301" y2="19952"/>
                        <a14:backgroundMark x1="83628" y1="18052" x2="83628" y2="18052"/>
                        <a14:backgroundMark x1="83186" y1="18527" x2="83186" y2="18527"/>
                        <a14:backgroundMark x1="83186" y1="19240" x2="83186" y2="19240"/>
                        <a14:backgroundMark x1="83407" y1="18527" x2="84735" y2="18527"/>
                        <a14:backgroundMark x1="81416" y1="21615" x2="82301" y2="21615"/>
                      </a14:backgroundRemoval>
                    </a14:imgEffect>
                  </a14:imgLayer>
                </a14:imgProps>
              </a:ext>
            </a:extLst>
          </a:blip>
          <a:srcRect l="3429" r="3429"/>
          <a:stretch>
            <a:fillRect/>
          </a:stretch>
        </p:blipFill>
        <p:spPr>
          <a:xfrm>
            <a:off x="120524" y="1225668"/>
            <a:ext cx="2389425" cy="2389425"/>
          </a:xfrm>
          <a:prstGeom prst="roundRect">
            <a:avLst>
              <a:gd name="adj" fmla="val 16667"/>
            </a:avLst>
          </a:prstGeom>
          <a:noFill/>
          <a:ln>
            <a:noFill/>
          </a:ln>
        </p:spPr>
      </p:pic>
      <p:sp>
        <p:nvSpPr>
          <p:cNvPr id="11" name="TextBox 10">
            <a:extLst>
              <a:ext uri="{FF2B5EF4-FFF2-40B4-BE49-F238E27FC236}">
                <a16:creationId xmlns:a16="http://schemas.microsoft.com/office/drawing/2014/main" id="{AFE1450D-B542-A806-729D-2FCEB372E690}"/>
              </a:ext>
            </a:extLst>
          </p:cNvPr>
          <p:cNvSpPr txBox="1"/>
          <p:nvPr/>
        </p:nvSpPr>
        <p:spPr>
          <a:xfrm>
            <a:off x="4545492" y="1414737"/>
            <a:ext cx="4262924" cy="646331"/>
          </a:xfrm>
          <a:prstGeom prst="rect">
            <a:avLst/>
          </a:prstGeom>
          <a:noFill/>
        </p:spPr>
        <p:txBody>
          <a:bodyPr wrap="square" rtlCol="0">
            <a:spAutoFit/>
          </a:bodyPr>
          <a:lstStyle/>
          <a:p>
            <a:pPr marL="285750" indent="-285750">
              <a:buFont typeface="Wingdings" panose="05000000000000000000" pitchFamily="2" charset="2"/>
              <a:buChar char="§"/>
            </a:pPr>
            <a:r>
              <a:rPr lang="en-US" sz="1200" dirty="0">
                <a:latin typeface="Lato" panose="020F0502020204030203" pitchFamily="34" charset="0"/>
                <a:ea typeface="Lato" panose="020F0502020204030203" pitchFamily="34" charset="0"/>
                <a:cs typeface="Lato" panose="020F0502020204030203" pitchFamily="34" charset="0"/>
              </a:rPr>
              <a:t>ZAZ Digital Solutions </a:t>
            </a:r>
            <a:r>
              <a:rPr lang="en-US" sz="1200" dirty="0" err="1">
                <a:latin typeface="Lato" panose="020F0502020204030203" pitchFamily="34" charset="0"/>
                <a:ea typeface="Lato" panose="020F0502020204030203" pitchFamily="34" charset="0"/>
                <a:cs typeface="Lato" panose="020F0502020204030203" pitchFamily="34" charset="0"/>
              </a:rPr>
              <a:t>Sdn</a:t>
            </a:r>
            <a:r>
              <a:rPr lang="en-US" sz="1200" dirty="0">
                <a:latin typeface="Lato" panose="020F0502020204030203" pitchFamily="34" charset="0"/>
                <a:ea typeface="Lato" panose="020F0502020204030203" pitchFamily="34" charset="0"/>
                <a:cs typeface="Lato" panose="020F0502020204030203" pitchFamily="34" charset="0"/>
              </a:rPr>
              <a:t> </a:t>
            </a:r>
            <a:r>
              <a:rPr lang="en-US" sz="1200" dirty="0" err="1">
                <a:latin typeface="Lato" panose="020F0502020204030203" pitchFamily="34" charset="0"/>
                <a:ea typeface="Lato" panose="020F0502020204030203" pitchFamily="34" charset="0"/>
                <a:cs typeface="Lato" panose="020F0502020204030203" pitchFamily="34" charset="0"/>
              </a:rPr>
              <a:t>Bhd</a:t>
            </a:r>
            <a:endParaRPr lang="en-US" sz="1200" dirty="0">
              <a:latin typeface="Lato" panose="020F0502020204030203" pitchFamily="34" charset="0"/>
              <a:ea typeface="Lato" panose="020F0502020204030203" pitchFamily="34" charset="0"/>
              <a:cs typeface="Lato" panose="020F0502020204030203" pitchFamily="34" charset="0"/>
            </a:endParaRPr>
          </a:p>
          <a:p>
            <a:pPr marL="285750" indent="-285750">
              <a:buFont typeface="Wingdings" panose="05000000000000000000" pitchFamily="2" charset="2"/>
              <a:buChar char="§"/>
            </a:pPr>
            <a:r>
              <a:rPr lang="en-US" sz="1200" dirty="0" err="1">
                <a:latin typeface="Lato" panose="020F0502020204030203" pitchFamily="34" charset="0"/>
                <a:ea typeface="Lato" panose="020F0502020204030203" pitchFamily="34" charset="0"/>
                <a:cs typeface="Lato" panose="020F0502020204030203" pitchFamily="34" charset="0"/>
              </a:rPr>
              <a:t>LamaNiaga</a:t>
            </a:r>
            <a:r>
              <a:rPr lang="en-US" sz="1200" dirty="0">
                <a:latin typeface="Lato" panose="020F0502020204030203" pitchFamily="34" charset="0"/>
                <a:ea typeface="Lato" panose="020F0502020204030203" pitchFamily="34" charset="0"/>
                <a:cs typeface="Lato" panose="020F0502020204030203" pitchFamily="34" charset="0"/>
              </a:rPr>
              <a:t> - </a:t>
            </a:r>
            <a:r>
              <a:rPr lang="en-GB" sz="1200" dirty="0">
                <a:latin typeface="Lato" panose="020F0502020204030203" pitchFamily="34" charset="0"/>
                <a:ea typeface="Lato" panose="020F0502020204030203" pitchFamily="34" charset="0"/>
                <a:cs typeface="Lato" panose="020F0502020204030203" pitchFamily="34" charset="0"/>
              </a:rPr>
              <a:t>The End-to-End Property Rental Marketplace &amp; Management Ecosystem</a:t>
            </a:r>
          </a:p>
        </p:txBody>
      </p:sp>
      <p:sp>
        <p:nvSpPr>
          <p:cNvPr id="12" name="Rectangle 11">
            <a:extLst>
              <a:ext uri="{FF2B5EF4-FFF2-40B4-BE49-F238E27FC236}">
                <a16:creationId xmlns:a16="http://schemas.microsoft.com/office/drawing/2014/main" id="{B1A4BE89-3C74-2C8D-7B94-49FA288C42D6}"/>
              </a:ext>
            </a:extLst>
          </p:cNvPr>
          <p:cNvSpPr/>
          <p:nvPr/>
        </p:nvSpPr>
        <p:spPr>
          <a:xfrm>
            <a:off x="3307400" y="2094605"/>
            <a:ext cx="1238092" cy="261136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Lato" panose="020F0502020204030203" pitchFamily="34" charset="0"/>
                <a:ea typeface="Lato" panose="020F0502020204030203" pitchFamily="34" charset="0"/>
                <a:cs typeface="Lato" panose="020F0502020204030203" pitchFamily="34" charset="0"/>
              </a:rPr>
              <a:t>Our Idea</a:t>
            </a:r>
            <a:endParaRPr lang="en-MY" dirty="0">
              <a:latin typeface="Lato" panose="020F0502020204030203" pitchFamily="34" charset="0"/>
              <a:ea typeface="Lato" panose="020F0502020204030203" pitchFamily="34" charset="0"/>
              <a:cs typeface="Lato" panose="020F0502020204030203" pitchFamily="34" charset="0"/>
            </a:endParaRPr>
          </a:p>
        </p:txBody>
      </p:sp>
      <p:sp>
        <p:nvSpPr>
          <p:cNvPr id="13" name="TextBox 12">
            <a:extLst>
              <a:ext uri="{FF2B5EF4-FFF2-40B4-BE49-F238E27FC236}">
                <a16:creationId xmlns:a16="http://schemas.microsoft.com/office/drawing/2014/main" id="{75F8C20E-EB3A-E385-A88D-335502C7A72D}"/>
              </a:ext>
            </a:extLst>
          </p:cNvPr>
          <p:cNvSpPr txBox="1"/>
          <p:nvPr/>
        </p:nvSpPr>
        <p:spPr>
          <a:xfrm>
            <a:off x="4532588" y="2028309"/>
            <a:ext cx="4254943" cy="2677656"/>
          </a:xfrm>
          <a:prstGeom prst="rect">
            <a:avLst/>
          </a:prstGeom>
          <a:noFill/>
        </p:spPr>
        <p:txBody>
          <a:bodyPr wrap="square" rtlCol="0">
            <a:spAutoFit/>
          </a:bodyPr>
          <a:lstStyle/>
          <a:p>
            <a:pPr marL="285750" indent="-285750" algn="just">
              <a:buFont typeface="Wingdings" panose="05000000000000000000" pitchFamily="2" charset="2"/>
              <a:buChar char="§"/>
            </a:pPr>
            <a:r>
              <a:rPr lang="en-US" sz="1200" dirty="0">
                <a:latin typeface="Lato" panose="020F0502020204030203" pitchFamily="34" charset="0"/>
                <a:ea typeface="Lato" panose="020F0502020204030203" pitchFamily="34" charset="0"/>
                <a:cs typeface="Lato" panose="020F0502020204030203" pitchFamily="34" charset="0"/>
              </a:rPr>
              <a:t>To develop End-to-End Rental Marketplace &amp; Management Ecosystem, a fully comprehensive system from property listing, engagement, agreement, rental and maintenance management, reporting, dashboard and exit/ termination of tenants.</a:t>
            </a:r>
          </a:p>
          <a:p>
            <a:pPr marL="285750" indent="-285750" algn="just">
              <a:buFont typeface="Wingdings" panose="05000000000000000000" pitchFamily="2" charset="2"/>
              <a:buChar char="§"/>
            </a:pPr>
            <a:r>
              <a:rPr lang="en-US" sz="1200" dirty="0">
                <a:latin typeface="Lato" panose="020F0502020204030203" pitchFamily="34" charset="0"/>
                <a:ea typeface="Lato" panose="020F0502020204030203" pitchFamily="34" charset="0"/>
                <a:cs typeface="Lato" panose="020F0502020204030203" pitchFamily="34" charset="0"/>
              </a:rPr>
              <a:t>The product targeted for Real Estate Agents (REA), Real Estate Negotiator (REN), Individual Landlords, Individual Prospect Property Buyer/ Rental</a:t>
            </a:r>
          </a:p>
          <a:p>
            <a:pPr marL="285750" indent="-285750" algn="just">
              <a:buFont typeface="Wingdings" panose="05000000000000000000" pitchFamily="2" charset="2"/>
              <a:buChar char="§"/>
            </a:pPr>
            <a:r>
              <a:rPr lang="en-GB" sz="1200" dirty="0" err="1">
                <a:latin typeface="Lato" panose="020F0502020204030203" pitchFamily="34" charset="0"/>
                <a:ea typeface="Lato" panose="020F0502020204030203" pitchFamily="34" charset="0"/>
                <a:cs typeface="Lato" panose="020F0502020204030203" pitchFamily="34" charset="0"/>
              </a:rPr>
              <a:t>LamaNiaga</a:t>
            </a:r>
            <a:r>
              <a:rPr lang="en-GB" sz="1200" dirty="0">
                <a:latin typeface="Lato" panose="020F0502020204030203" pitchFamily="34" charset="0"/>
                <a:ea typeface="Lato" panose="020F0502020204030203" pitchFamily="34" charset="0"/>
                <a:cs typeface="Lato" panose="020F0502020204030203" pitchFamily="34" charset="0"/>
              </a:rPr>
              <a:t> is not just a listing app; it is a Property Protection &amp; Management Tool. By digitizing the entire rental lifecycle—from the search and agreement signing to monthly payments and maintenance—</a:t>
            </a:r>
            <a:r>
              <a:rPr lang="en-GB" sz="1200" dirty="0" err="1">
                <a:latin typeface="Lato" panose="020F0502020204030203" pitchFamily="34" charset="0"/>
                <a:ea typeface="Lato" panose="020F0502020204030203" pitchFamily="34" charset="0"/>
                <a:cs typeface="Lato" panose="020F0502020204030203" pitchFamily="34" charset="0"/>
              </a:rPr>
              <a:t>LamaNiaga</a:t>
            </a:r>
            <a:r>
              <a:rPr lang="en-GB" sz="1200" dirty="0">
                <a:latin typeface="Lato" panose="020F0502020204030203" pitchFamily="34" charset="0"/>
                <a:ea typeface="Lato" panose="020F0502020204030203" pitchFamily="34" charset="0"/>
                <a:cs typeface="Lato" panose="020F0502020204030203" pitchFamily="34" charset="0"/>
              </a:rPr>
              <a:t> protects asset owners and ensures a fair, professional living experience for tenants.</a:t>
            </a:r>
          </a:p>
        </p:txBody>
      </p:sp>
      <p:cxnSp>
        <p:nvCxnSpPr>
          <p:cNvPr id="18" name="Straight Connector 17">
            <a:extLst>
              <a:ext uri="{FF2B5EF4-FFF2-40B4-BE49-F238E27FC236}">
                <a16:creationId xmlns:a16="http://schemas.microsoft.com/office/drawing/2014/main" id="{4FBBC72B-A9B6-063A-490C-78B91281F3C4}"/>
              </a:ext>
            </a:extLst>
          </p:cNvPr>
          <p:cNvCxnSpPr>
            <a:cxnSpLocks/>
          </p:cNvCxnSpPr>
          <p:nvPr/>
        </p:nvCxnSpPr>
        <p:spPr>
          <a:xfrm>
            <a:off x="1065475" y="4762829"/>
            <a:ext cx="6265628"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C2325BE-9A24-DB38-B15A-AD6F4F163089}"/>
              </a:ext>
            </a:extLst>
          </p:cNvPr>
          <p:cNvSpPr txBox="1"/>
          <p:nvPr/>
        </p:nvSpPr>
        <p:spPr>
          <a:xfrm>
            <a:off x="1374950" y="4795409"/>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20" name="TextBox 22">
            <a:extLst>
              <a:ext uri="{FF2B5EF4-FFF2-40B4-BE49-F238E27FC236}">
                <a16:creationId xmlns:a16="http://schemas.microsoft.com/office/drawing/2014/main" id="{E8863EDF-2312-1C88-FA7C-4799C38775D2}"/>
              </a:ext>
            </a:extLst>
          </p:cNvPr>
          <p:cNvSpPr txBox="1"/>
          <p:nvPr/>
        </p:nvSpPr>
        <p:spPr>
          <a:xfrm>
            <a:off x="6900361" y="4856440"/>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Roboto Bold"/>
                <a:ea typeface="Roboto Bold"/>
                <a:cs typeface="Roboto Bold"/>
                <a:sym typeface="Roboto Bold"/>
              </a:rPr>
              <a:t>02</a:t>
            </a:r>
          </a:p>
        </p:txBody>
      </p:sp>
      <p:sp>
        <p:nvSpPr>
          <p:cNvPr id="21" name="Freeform 19">
            <a:extLst>
              <a:ext uri="{FF2B5EF4-FFF2-40B4-BE49-F238E27FC236}">
                <a16:creationId xmlns:a16="http://schemas.microsoft.com/office/drawing/2014/main" id="{0EB44C80-31DE-0CD8-B6F9-967EFBD6DB22}"/>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MY"/>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35"/>
          <p:cNvSpPr txBox="1">
            <a:spLocks noGrp="1"/>
          </p:cNvSpPr>
          <p:nvPr>
            <p:ph type="title"/>
          </p:nvPr>
        </p:nvSpPr>
        <p:spPr>
          <a:xfrm>
            <a:off x="2673062" y="6203"/>
            <a:ext cx="4162101"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Problem Statement</a:t>
            </a:r>
            <a:endParaRPr dirty="0">
              <a:latin typeface="Lato" panose="020F0502020204030203" pitchFamily="34" charset="0"/>
              <a:ea typeface="Lato" panose="020F0502020204030203" pitchFamily="34" charset="0"/>
              <a:cs typeface="Lato" panose="020F0502020204030203" pitchFamily="34" charset="0"/>
            </a:endParaRPr>
          </a:p>
        </p:txBody>
      </p:sp>
      <p:sp>
        <p:nvSpPr>
          <p:cNvPr id="1135" name="Google Shape;1135;p35"/>
          <p:cNvSpPr txBox="1">
            <a:spLocks noGrp="1"/>
          </p:cNvSpPr>
          <p:nvPr>
            <p:ph type="subTitle" idx="4"/>
          </p:nvPr>
        </p:nvSpPr>
        <p:spPr>
          <a:xfrm>
            <a:off x="1132059" y="1040567"/>
            <a:ext cx="2238819" cy="522485"/>
          </a:xfrm>
          <a:prstGeom prst="rect">
            <a:avLst/>
          </a:prstGeom>
          <a:solidFill>
            <a:schemeClr val="accent6"/>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bg1"/>
                </a:solidFill>
                <a:latin typeface="Lato" panose="020F0502020204030203" pitchFamily="34" charset="0"/>
                <a:ea typeface="Lato" panose="020F0502020204030203" pitchFamily="34" charset="0"/>
                <a:cs typeface="Lato" panose="020F0502020204030203" pitchFamily="34" charset="0"/>
              </a:rPr>
              <a:t>Centralized Features</a:t>
            </a:r>
            <a:endParaRPr sz="14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137" name="Google Shape;1137;p35"/>
          <p:cNvSpPr txBox="1">
            <a:spLocks noGrp="1"/>
          </p:cNvSpPr>
          <p:nvPr>
            <p:ph type="subTitle" idx="1"/>
          </p:nvPr>
        </p:nvSpPr>
        <p:spPr>
          <a:xfrm>
            <a:off x="1132059" y="1595635"/>
            <a:ext cx="2231070" cy="976108"/>
          </a:xfrm>
          <a:prstGeom prst="rect">
            <a:avLst/>
          </a:prstGeom>
          <a:ln>
            <a:solidFill>
              <a:schemeClr val="tx1"/>
            </a:solidFill>
          </a:ln>
        </p:spPr>
        <p:txBody>
          <a:bodyPr spcFirstLastPara="1" wrap="square" lIns="91425" tIns="91425" rIns="91425" bIns="91425" anchor="t" anchorCtr="0">
            <a:noAutofit/>
          </a:bodyPr>
          <a:lstStyle/>
          <a:p>
            <a:pPr marL="0" lvl="0" indent="0" algn="just" rtl="0">
              <a:spcBef>
                <a:spcPts val="0"/>
              </a:spcBef>
              <a:spcAft>
                <a:spcPts val="0"/>
              </a:spcAft>
              <a:buNone/>
            </a:pPr>
            <a:r>
              <a:rPr lang="en-GB" dirty="0"/>
              <a:t>There is no comprehensive application from property listing, engagement and then end-to-end rental platform</a:t>
            </a:r>
          </a:p>
        </p:txBody>
      </p:sp>
      <p:cxnSp>
        <p:nvCxnSpPr>
          <p:cNvPr id="2" name="Straight Connector 1">
            <a:extLst>
              <a:ext uri="{FF2B5EF4-FFF2-40B4-BE49-F238E27FC236}">
                <a16:creationId xmlns:a16="http://schemas.microsoft.com/office/drawing/2014/main" id="{98AC6C7E-CC46-EB6F-6215-28471596A911}"/>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2A402A18-63B7-528E-2C4E-C8DA1C79C119}"/>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4" name="Freeform 19">
            <a:extLst>
              <a:ext uri="{FF2B5EF4-FFF2-40B4-BE49-F238E27FC236}">
                <a16:creationId xmlns:a16="http://schemas.microsoft.com/office/drawing/2014/main" id="{6C427D14-A6E5-A1CD-C156-EB18F879B4DA}"/>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p>
        </p:txBody>
      </p:sp>
      <p:sp>
        <p:nvSpPr>
          <p:cNvPr id="5" name="TextBox 22">
            <a:extLst>
              <a:ext uri="{FF2B5EF4-FFF2-40B4-BE49-F238E27FC236}">
                <a16:creationId xmlns:a16="http://schemas.microsoft.com/office/drawing/2014/main" id="{78B3F98A-A681-0DDD-3B9C-77771D436552}"/>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Roboto Bold"/>
                <a:ea typeface="Roboto Bold"/>
                <a:cs typeface="Roboto Bold"/>
                <a:sym typeface="Roboto Bold"/>
              </a:rPr>
              <a:t>03</a:t>
            </a:r>
          </a:p>
        </p:txBody>
      </p:sp>
      <p:sp>
        <p:nvSpPr>
          <p:cNvPr id="15" name="Google Shape;1135;p35">
            <a:extLst>
              <a:ext uri="{FF2B5EF4-FFF2-40B4-BE49-F238E27FC236}">
                <a16:creationId xmlns:a16="http://schemas.microsoft.com/office/drawing/2014/main" id="{69E522AE-DEE7-EEEF-76E3-36C42FF396E5}"/>
              </a:ext>
            </a:extLst>
          </p:cNvPr>
          <p:cNvSpPr txBox="1">
            <a:spLocks/>
          </p:cNvSpPr>
          <p:nvPr/>
        </p:nvSpPr>
        <p:spPr>
          <a:xfrm>
            <a:off x="3438725" y="1040568"/>
            <a:ext cx="2238819" cy="522488"/>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400" dirty="0">
                <a:solidFill>
                  <a:schemeClr val="bg1"/>
                </a:solidFill>
                <a:latin typeface="Lato" panose="020F0502020204030203" pitchFamily="34" charset="0"/>
                <a:ea typeface="Lato" panose="020F0502020204030203" pitchFamily="34" charset="0"/>
                <a:cs typeface="Lato" panose="020F0502020204030203" pitchFamily="34" charset="0"/>
              </a:rPr>
              <a:t>High Financial Risk &amp; Rental Scams</a:t>
            </a:r>
          </a:p>
        </p:txBody>
      </p:sp>
      <p:sp>
        <p:nvSpPr>
          <p:cNvPr id="16" name="Google Shape;1137;p35">
            <a:extLst>
              <a:ext uri="{FF2B5EF4-FFF2-40B4-BE49-F238E27FC236}">
                <a16:creationId xmlns:a16="http://schemas.microsoft.com/office/drawing/2014/main" id="{BDCB3242-3ECD-8351-2940-8B7371A4CF6A}"/>
              </a:ext>
            </a:extLst>
          </p:cNvPr>
          <p:cNvSpPr txBox="1">
            <a:spLocks/>
          </p:cNvSpPr>
          <p:nvPr/>
        </p:nvSpPr>
        <p:spPr>
          <a:xfrm>
            <a:off x="3438725" y="1595634"/>
            <a:ext cx="2231070" cy="976109"/>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0" indent="0" algn="just"/>
            <a:r>
              <a:rPr lang="en-GB" dirty="0"/>
              <a:t>Landlords frequently face tenants who default on payments, pay late, or abscond without settling utility bills.</a:t>
            </a:r>
          </a:p>
        </p:txBody>
      </p:sp>
      <p:sp>
        <p:nvSpPr>
          <p:cNvPr id="17" name="Google Shape;1135;p35">
            <a:extLst>
              <a:ext uri="{FF2B5EF4-FFF2-40B4-BE49-F238E27FC236}">
                <a16:creationId xmlns:a16="http://schemas.microsoft.com/office/drawing/2014/main" id="{5879BC06-D5FD-F517-C1B2-292ED4DB5EFB}"/>
              </a:ext>
            </a:extLst>
          </p:cNvPr>
          <p:cNvSpPr txBox="1">
            <a:spLocks/>
          </p:cNvSpPr>
          <p:nvPr/>
        </p:nvSpPr>
        <p:spPr>
          <a:xfrm>
            <a:off x="5746441" y="1007985"/>
            <a:ext cx="2238819" cy="522488"/>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400" dirty="0">
                <a:solidFill>
                  <a:schemeClr val="bg1"/>
                </a:solidFill>
                <a:latin typeface="Lato" panose="020F0502020204030203" pitchFamily="34" charset="0"/>
                <a:ea typeface="Lato" panose="020F0502020204030203" pitchFamily="34" charset="0"/>
                <a:cs typeface="Lato" panose="020F0502020204030203" pitchFamily="34" charset="0"/>
              </a:rPr>
              <a:t>Eviction Challenges</a:t>
            </a:r>
          </a:p>
        </p:txBody>
      </p:sp>
      <p:sp>
        <p:nvSpPr>
          <p:cNvPr id="18" name="Google Shape;1137;p35">
            <a:extLst>
              <a:ext uri="{FF2B5EF4-FFF2-40B4-BE49-F238E27FC236}">
                <a16:creationId xmlns:a16="http://schemas.microsoft.com/office/drawing/2014/main" id="{71A3359C-A05A-F574-11D4-A24959C256FE}"/>
              </a:ext>
            </a:extLst>
          </p:cNvPr>
          <p:cNvSpPr txBox="1">
            <a:spLocks/>
          </p:cNvSpPr>
          <p:nvPr/>
        </p:nvSpPr>
        <p:spPr>
          <a:xfrm>
            <a:off x="5746441" y="1563051"/>
            <a:ext cx="2231070" cy="1008695"/>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0" indent="0" algn="just"/>
            <a:r>
              <a:rPr lang="en-GB" dirty="0"/>
              <a:t>Without solid documentation and payment records, landlords find it difficult to legally evict non-paying tenants.</a:t>
            </a:r>
          </a:p>
        </p:txBody>
      </p:sp>
      <p:sp>
        <p:nvSpPr>
          <p:cNvPr id="19" name="Google Shape;1135;p35">
            <a:extLst>
              <a:ext uri="{FF2B5EF4-FFF2-40B4-BE49-F238E27FC236}">
                <a16:creationId xmlns:a16="http://schemas.microsoft.com/office/drawing/2014/main" id="{5EA3EBDB-807B-C019-91B4-126FDAA65B5B}"/>
              </a:ext>
            </a:extLst>
          </p:cNvPr>
          <p:cNvSpPr txBox="1">
            <a:spLocks/>
          </p:cNvSpPr>
          <p:nvPr/>
        </p:nvSpPr>
        <p:spPr>
          <a:xfrm>
            <a:off x="21350" y="2812539"/>
            <a:ext cx="2238819" cy="522485"/>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400" dirty="0">
                <a:solidFill>
                  <a:schemeClr val="bg1"/>
                </a:solidFill>
                <a:latin typeface="Lato" panose="020F0502020204030203" pitchFamily="34" charset="0"/>
                <a:ea typeface="Lato" panose="020F0502020204030203" pitchFamily="34" charset="0"/>
                <a:cs typeface="Lato" panose="020F0502020204030203" pitchFamily="34" charset="0"/>
              </a:rPr>
              <a:t>Lack of Legal Admissibility</a:t>
            </a:r>
          </a:p>
        </p:txBody>
      </p:sp>
      <p:sp>
        <p:nvSpPr>
          <p:cNvPr id="20" name="Google Shape;1137;p35">
            <a:extLst>
              <a:ext uri="{FF2B5EF4-FFF2-40B4-BE49-F238E27FC236}">
                <a16:creationId xmlns:a16="http://schemas.microsoft.com/office/drawing/2014/main" id="{233E5470-155F-4960-BD9E-008AEB13E6B2}"/>
              </a:ext>
            </a:extLst>
          </p:cNvPr>
          <p:cNvSpPr txBox="1">
            <a:spLocks/>
          </p:cNvSpPr>
          <p:nvPr/>
        </p:nvSpPr>
        <p:spPr>
          <a:xfrm>
            <a:off x="21350" y="3367607"/>
            <a:ext cx="2231070" cy="976108"/>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0" indent="0" algn="just"/>
            <a:r>
              <a:rPr lang="en-GB" dirty="0"/>
              <a:t>Informal agreements and cash transactions often fail to stand as substantial proof in court when legal action is required.</a:t>
            </a:r>
          </a:p>
        </p:txBody>
      </p:sp>
      <p:sp>
        <p:nvSpPr>
          <p:cNvPr id="21" name="Google Shape;1135;p35">
            <a:extLst>
              <a:ext uri="{FF2B5EF4-FFF2-40B4-BE49-F238E27FC236}">
                <a16:creationId xmlns:a16="http://schemas.microsoft.com/office/drawing/2014/main" id="{90858D78-A7B9-E58A-83FF-F073CAF4F8DE}"/>
              </a:ext>
            </a:extLst>
          </p:cNvPr>
          <p:cNvSpPr txBox="1">
            <a:spLocks/>
          </p:cNvSpPr>
          <p:nvPr/>
        </p:nvSpPr>
        <p:spPr>
          <a:xfrm>
            <a:off x="2320471" y="2820009"/>
            <a:ext cx="2238819" cy="522485"/>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400" dirty="0">
                <a:solidFill>
                  <a:schemeClr val="bg1"/>
                </a:solidFill>
                <a:latin typeface="Lato" panose="020F0502020204030203" pitchFamily="34" charset="0"/>
                <a:ea typeface="Lato" panose="020F0502020204030203" pitchFamily="34" charset="0"/>
                <a:cs typeface="Lato" panose="020F0502020204030203" pitchFamily="34" charset="0"/>
              </a:rPr>
              <a:t>Maintenance Disputes</a:t>
            </a:r>
          </a:p>
        </p:txBody>
      </p:sp>
      <p:sp>
        <p:nvSpPr>
          <p:cNvPr id="22" name="Google Shape;1137;p35">
            <a:extLst>
              <a:ext uri="{FF2B5EF4-FFF2-40B4-BE49-F238E27FC236}">
                <a16:creationId xmlns:a16="http://schemas.microsoft.com/office/drawing/2014/main" id="{D0C6945E-B08A-6CED-76F9-E7A5D4B446C6}"/>
              </a:ext>
            </a:extLst>
          </p:cNvPr>
          <p:cNvSpPr txBox="1">
            <a:spLocks/>
          </p:cNvSpPr>
          <p:nvPr/>
        </p:nvSpPr>
        <p:spPr>
          <a:xfrm>
            <a:off x="2320471" y="3375077"/>
            <a:ext cx="2231070" cy="976108"/>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0" indent="0" algn="just"/>
            <a:r>
              <a:rPr lang="en-GB" dirty="0"/>
              <a:t>Conflicts often arise regarding who is responsible for repairs and the validity of repair costs.</a:t>
            </a:r>
          </a:p>
        </p:txBody>
      </p:sp>
      <p:sp>
        <p:nvSpPr>
          <p:cNvPr id="23" name="Google Shape;1135;p35">
            <a:extLst>
              <a:ext uri="{FF2B5EF4-FFF2-40B4-BE49-F238E27FC236}">
                <a16:creationId xmlns:a16="http://schemas.microsoft.com/office/drawing/2014/main" id="{50CB50A6-EBBF-EFA1-1485-7EC4FE6806A6}"/>
              </a:ext>
            </a:extLst>
          </p:cNvPr>
          <p:cNvSpPr txBox="1">
            <a:spLocks/>
          </p:cNvSpPr>
          <p:nvPr/>
        </p:nvSpPr>
        <p:spPr>
          <a:xfrm>
            <a:off x="4604093" y="2820009"/>
            <a:ext cx="2238819" cy="522485"/>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400" dirty="0">
                <a:solidFill>
                  <a:schemeClr val="bg1"/>
                </a:solidFill>
                <a:latin typeface="Lato" panose="020F0502020204030203" pitchFamily="34" charset="0"/>
                <a:ea typeface="Lato" panose="020F0502020204030203" pitchFamily="34" charset="0"/>
                <a:cs typeface="Lato" panose="020F0502020204030203" pitchFamily="34" charset="0"/>
              </a:rPr>
              <a:t>Residency Condition</a:t>
            </a:r>
          </a:p>
        </p:txBody>
      </p:sp>
      <p:sp>
        <p:nvSpPr>
          <p:cNvPr id="24" name="Google Shape;1137;p35">
            <a:extLst>
              <a:ext uri="{FF2B5EF4-FFF2-40B4-BE49-F238E27FC236}">
                <a16:creationId xmlns:a16="http://schemas.microsoft.com/office/drawing/2014/main" id="{7DF8AC22-E6B3-AD65-791E-BA80A0FEF197}"/>
              </a:ext>
            </a:extLst>
          </p:cNvPr>
          <p:cNvSpPr txBox="1">
            <a:spLocks/>
          </p:cNvSpPr>
          <p:nvPr/>
        </p:nvSpPr>
        <p:spPr>
          <a:xfrm>
            <a:off x="4604093" y="3375077"/>
            <a:ext cx="2231070" cy="976108"/>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0" indent="0" algn="just"/>
            <a:r>
              <a:rPr lang="en-GB" dirty="0"/>
              <a:t>The condition of residents upon entry, occupancy and exit is often a matter of dispute due to the lack of photographic evidence kept</a:t>
            </a:r>
          </a:p>
        </p:txBody>
      </p:sp>
      <p:sp>
        <p:nvSpPr>
          <p:cNvPr id="25" name="Google Shape;1135;p35">
            <a:extLst>
              <a:ext uri="{FF2B5EF4-FFF2-40B4-BE49-F238E27FC236}">
                <a16:creationId xmlns:a16="http://schemas.microsoft.com/office/drawing/2014/main" id="{CE6B371C-8828-A735-1DA8-7A1C8142C871}"/>
              </a:ext>
            </a:extLst>
          </p:cNvPr>
          <p:cNvSpPr txBox="1">
            <a:spLocks/>
          </p:cNvSpPr>
          <p:nvPr/>
        </p:nvSpPr>
        <p:spPr>
          <a:xfrm>
            <a:off x="6879968" y="2823292"/>
            <a:ext cx="2238819" cy="522485"/>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400" dirty="0">
                <a:solidFill>
                  <a:schemeClr val="bg1"/>
                </a:solidFill>
                <a:latin typeface="Lato" panose="020F0502020204030203" pitchFamily="34" charset="0"/>
                <a:ea typeface="Lato" panose="020F0502020204030203" pitchFamily="34" charset="0"/>
                <a:cs typeface="Lato" panose="020F0502020204030203" pitchFamily="34" charset="0"/>
              </a:rPr>
              <a:t>Cloud Based Data Storage</a:t>
            </a:r>
          </a:p>
        </p:txBody>
      </p:sp>
      <p:sp>
        <p:nvSpPr>
          <p:cNvPr id="26" name="Google Shape;1137;p35">
            <a:extLst>
              <a:ext uri="{FF2B5EF4-FFF2-40B4-BE49-F238E27FC236}">
                <a16:creationId xmlns:a16="http://schemas.microsoft.com/office/drawing/2014/main" id="{9D71A637-9389-A298-4321-FD0AE936CB1E}"/>
              </a:ext>
            </a:extLst>
          </p:cNvPr>
          <p:cNvSpPr txBox="1">
            <a:spLocks/>
          </p:cNvSpPr>
          <p:nvPr/>
        </p:nvSpPr>
        <p:spPr>
          <a:xfrm>
            <a:off x="6879968" y="3378360"/>
            <a:ext cx="2231070" cy="976108"/>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0" indent="0" algn="just"/>
            <a:r>
              <a:rPr lang="en-GB" dirty="0"/>
              <a:t>Loss of locally stored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6" name="Google Shape;1146;p36"/>
          <p:cNvSpPr txBox="1">
            <a:spLocks noGrp="1"/>
          </p:cNvSpPr>
          <p:nvPr>
            <p:ph type="title"/>
          </p:nvPr>
        </p:nvSpPr>
        <p:spPr>
          <a:xfrm>
            <a:off x="3533278" y="5702"/>
            <a:ext cx="207744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Solutions</a:t>
            </a:r>
            <a:endParaRPr dirty="0">
              <a:latin typeface="Lato" panose="020F0502020204030203" pitchFamily="34" charset="0"/>
              <a:ea typeface="Lato" panose="020F0502020204030203" pitchFamily="34" charset="0"/>
              <a:cs typeface="Lato" panose="020F0502020204030203" pitchFamily="34" charset="0"/>
            </a:endParaRPr>
          </a:p>
        </p:txBody>
      </p:sp>
      <p:sp>
        <p:nvSpPr>
          <p:cNvPr id="1147" name="Google Shape;1147;p36"/>
          <p:cNvSpPr txBox="1">
            <a:spLocks noGrp="1"/>
          </p:cNvSpPr>
          <p:nvPr>
            <p:ph type="subTitle" idx="1"/>
          </p:nvPr>
        </p:nvSpPr>
        <p:spPr>
          <a:xfrm>
            <a:off x="440482" y="1436275"/>
            <a:ext cx="3936398" cy="3161195"/>
          </a:xfrm>
          <a:prstGeom prst="rect">
            <a:avLst/>
          </a:prstGeom>
        </p:spPr>
        <p:txBody>
          <a:bodyPr spcFirstLastPara="1" wrap="square" lIns="91425" tIns="91425" rIns="91425" bIns="91425" anchor="t" anchorCtr="0">
            <a:noAutofit/>
          </a:bodyPr>
          <a:lstStyle/>
          <a:p>
            <a:pPr marL="171450" lvl="0" indent="-171450" algn="just" rtl="0">
              <a:spcBef>
                <a:spcPts val="0"/>
              </a:spcBef>
              <a:spcAft>
                <a:spcPts val="0"/>
              </a:spcAf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Dedicated Tenant and Landlord Portal</a:t>
            </a:r>
            <a:r>
              <a:rPr lang="en-GB" sz="1100" dirty="0">
                <a:latin typeface="Lato" panose="020F0502020204030203" pitchFamily="34" charset="0"/>
                <a:ea typeface="Lato" panose="020F0502020204030203" pitchFamily="34" charset="0"/>
                <a:cs typeface="Lato" panose="020F0502020204030203" pitchFamily="34" charset="0"/>
              </a:rPr>
              <a:t>: Provides a secure login for tenants and landlords to access lease agreements, track payment history, maintenance request and manage their personal information</a:t>
            </a:r>
          </a:p>
          <a:p>
            <a:pPr marL="171450" lvl="0" indent="-171450" algn="just" rtl="0">
              <a:spcBef>
                <a:spcPts val="0"/>
              </a:spcBef>
              <a:spcAft>
                <a:spcPts val="0"/>
              </a:spcAf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Digital Templating/ Lease Management</a:t>
            </a:r>
            <a:r>
              <a:rPr lang="en-GB" sz="1100" dirty="0">
                <a:latin typeface="Lato" panose="020F0502020204030203" pitchFamily="34" charset="0"/>
                <a:ea typeface="Lato" panose="020F0502020204030203" pitchFamily="34" charset="0"/>
                <a:cs typeface="Lato" panose="020F0502020204030203" pitchFamily="34" charset="0"/>
              </a:rPr>
              <a:t>: Landlords no longer need expensive legal counsel. The app provides a legally robust Tenancy Agreement Template. Tenants can view, sign, and store their lease documents electronically. </a:t>
            </a:r>
          </a:p>
          <a:p>
            <a:pPr marL="171450" lvl="0" indent="-171450" algn="just" rtl="0">
              <a:spcBef>
                <a:spcPts val="0"/>
              </a:spcBef>
              <a:spcAft>
                <a:spcPts val="0"/>
              </a:spcAf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Customizable Terms: </a:t>
            </a:r>
            <a:r>
              <a:rPr lang="en-GB" sz="1100" dirty="0">
                <a:latin typeface="Lato" panose="020F0502020204030203" pitchFamily="34" charset="0"/>
                <a:ea typeface="Lato" panose="020F0502020204030203" pitchFamily="34" charset="0"/>
                <a:cs typeface="Lato" panose="020F0502020204030203" pitchFamily="34" charset="0"/>
              </a:rPr>
              <a:t>Landlords can easily define rental rates, deposit amounts, and specific clauses.</a:t>
            </a:r>
          </a:p>
          <a:p>
            <a:pPr marL="171450" lvl="0" indent="-171450" algn="just" rtl="0">
              <a:spcBef>
                <a:spcPts val="0"/>
              </a:spcBef>
              <a:spcAft>
                <a:spcPts val="0"/>
              </a:spcAf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Digital Execution: </a:t>
            </a:r>
            <a:r>
              <a:rPr lang="en-GB" sz="1100" dirty="0">
                <a:latin typeface="Lato" panose="020F0502020204030203" pitchFamily="34" charset="0"/>
                <a:ea typeface="Lato" panose="020F0502020204030203" pitchFamily="34" charset="0"/>
                <a:cs typeface="Lato" panose="020F0502020204030203" pitchFamily="34" charset="0"/>
              </a:rPr>
              <a:t>Agreements are signed digitally within the app, creating a binding contract that serves as valid documentation for legal proceedings.</a:t>
            </a:r>
          </a:p>
          <a:p>
            <a:pPr marL="171450" lvl="0" indent="-171450" algn="just" rtl="0">
              <a:spcBef>
                <a:spcPts val="0"/>
              </a:spcBef>
              <a:spcAft>
                <a:spcPts val="0"/>
              </a:spcAft>
              <a:buFont typeface="Wingdings" panose="05000000000000000000" pitchFamily="2" charset="2"/>
              <a:buChar char="§"/>
            </a:pPr>
            <a:r>
              <a:rPr lang="en-GB" sz="1100" dirty="0">
                <a:latin typeface="Lato" panose="020F0502020204030203" pitchFamily="34" charset="0"/>
                <a:ea typeface="Lato" panose="020F0502020204030203" pitchFamily="34" charset="0"/>
                <a:cs typeface="Lato" panose="020F0502020204030203" pitchFamily="34" charset="0"/>
              </a:rPr>
              <a:t>Renewal and Termination Process: Contract renewal and termination process features.</a:t>
            </a:r>
          </a:p>
          <a:p>
            <a:pPr marL="171450" indent="-171450" algn="just">
              <a:buFont typeface="Wingdings" panose="05000000000000000000" pitchFamily="2" charset="2"/>
              <a:buChar char="§"/>
            </a:pPr>
            <a:r>
              <a:rPr lang="en-US" sz="1100" b="1"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Renewal and Termination Process</a:t>
            </a:r>
            <a:r>
              <a:rPr lang="en-US" sz="1100"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 Contract renewal and termination process features.</a:t>
            </a:r>
          </a:p>
          <a:p>
            <a:pPr marL="171450" lvl="0" indent="-171450" algn="just" rtl="0">
              <a:spcBef>
                <a:spcPts val="0"/>
              </a:spcBef>
              <a:spcAft>
                <a:spcPts val="0"/>
              </a:spcAft>
              <a:buFont typeface="Wingdings" panose="05000000000000000000" pitchFamily="2" charset="2"/>
              <a:buChar char="§"/>
            </a:pPr>
            <a:endParaRPr lang="en-GB" sz="1100" dirty="0">
              <a:latin typeface="Lato" panose="020F0502020204030203" pitchFamily="34" charset="0"/>
              <a:ea typeface="Lato" panose="020F0502020204030203" pitchFamily="34" charset="0"/>
              <a:cs typeface="Lato" panose="020F0502020204030203" pitchFamily="34" charset="0"/>
            </a:endParaRPr>
          </a:p>
        </p:txBody>
      </p:sp>
      <p:sp>
        <p:nvSpPr>
          <p:cNvPr id="1151" name="Google Shape;1151;p36"/>
          <p:cNvSpPr txBox="1">
            <a:spLocks noGrp="1"/>
          </p:cNvSpPr>
          <p:nvPr>
            <p:ph type="subTitle" idx="5"/>
          </p:nvPr>
        </p:nvSpPr>
        <p:spPr>
          <a:xfrm>
            <a:off x="307827" y="841066"/>
            <a:ext cx="7294092" cy="32184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200" dirty="0" err="1">
                <a:latin typeface="Lato" panose="020F0502020204030203" pitchFamily="34" charset="0"/>
                <a:ea typeface="Lato" panose="020F0502020204030203" pitchFamily="34" charset="0"/>
                <a:cs typeface="Lato" panose="020F0502020204030203" pitchFamily="34" charset="0"/>
              </a:rPr>
              <a:t>LamaNiaga</a:t>
            </a:r>
            <a:r>
              <a:rPr lang="en-GB" sz="1200" dirty="0">
                <a:latin typeface="Lato" panose="020F0502020204030203" pitchFamily="34" charset="0"/>
                <a:ea typeface="Lato" panose="020F0502020204030203" pitchFamily="34" charset="0"/>
                <a:cs typeface="Lato" panose="020F0502020204030203" pitchFamily="34" charset="0"/>
              </a:rPr>
              <a:t> core features and solutions through a unified ecosystem</a:t>
            </a:r>
            <a:endParaRPr sz="1200" dirty="0">
              <a:latin typeface="Lato" panose="020F0502020204030203" pitchFamily="34" charset="0"/>
              <a:ea typeface="Lato" panose="020F0502020204030203" pitchFamily="34" charset="0"/>
              <a:cs typeface="Lato" panose="020F0502020204030203" pitchFamily="34" charset="0"/>
            </a:endParaRPr>
          </a:p>
        </p:txBody>
      </p:sp>
      <p:sp>
        <p:nvSpPr>
          <p:cNvPr id="1152" name="Google Shape;1152;p36"/>
          <p:cNvSpPr txBox="1">
            <a:spLocks noGrp="1"/>
          </p:cNvSpPr>
          <p:nvPr>
            <p:ph type="subTitle" idx="7"/>
          </p:nvPr>
        </p:nvSpPr>
        <p:spPr>
          <a:xfrm>
            <a:off x="209227" y="1155624"/>
            <a:ext cx="4223288" cy="345917"/>
          </a:xfrm>
          <a:prstGeom prst="rect">
            <a:avLst/>
          </a:prstGeom>
        </p:spPr>
        <p:txBody>
          <a:bodyPr spcFirstLastPara="1" wrap="square" lIns="91425" tIns="91425" rIns="91425" bIns="91425" anchor="b" anchorCtr="0">
            <a:noAutofit/>
          </a:bodyPr>
          <a:lstStyle/>
          <a:p>
            <a:pPr algn="just">
              <a:lnSpc>
                <a:spcPts val="1960"/>
              </a:lnSpc>
            </a:pPr>
            <a:r>
              <a:rPr lang="en-US" sz="1200" dirty="0">
                <a:solidFill>
                  <a:srgbClr val="000000"/>
                </a:solidFill>
                <a:latin typeface="Roboto Bold"/>
                <a:ea typeface="Roboto Bold"/>
                <a:cs typeface="Roboto Bold"/>
                <a:sym typeface="Roboto Bold"/>
              </a:rPr>
              <a:t>A. Smart Tenancy Agreements (E-Tenancy Agreement)</a:t>
            </a:r>
          </a:p>
        </p:txBody>
      </p:sp>
      <p:cxnSp>
        <p:nvCxnSpPr>
          <p:cNvPr id="2" name="Straight Connector 1">
            <a:extLst>
              <a:ext uri="{FF2B5EF4-FFF2-40B4-BE49-F238E27FC236}">
                <a16:creationId xmlns:a16="http://schemas.microsoft.com/office/drawing/2014/main" id="{FADFABE4-D17F-758D-6298-EA1F12C77F12}"/>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6002D5A7-970F-B0FC-5C17-EE545D070D5A}"/>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4" name="Freeform 19">
            <a:extLst>
              <a:ext uri="{FF2B5EF4-FFF2-40B4-BE49-F238E27FC236}">
                <a16:creationId xmlns:a16="http://schemas.microsoft.com/office/drawing/2014/main" id="{A7637AEE-8A86-237C-64C3-C15ECA1EE691}"/>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5" name="TextBox 22">
            <a:extLst>
              <a:ext uri="{FF2B5EF4-FFF2-40B4-BE49-F238E27FC236}">
                <a16:creationId xmlns:a16="http://schemas.microsoft.com/office/drawing/2014/main" id="{58A1826A-B9EA-C573-95A5-039D6BF9AA74}"/>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04</a:t>
            </a:r>
          </a:p>
        </p:txBody>
      </p:sp>
      <p:sp>
        <p:nvSpPr>
          <p:cNvPr id="16" name="Google Shape;1152;p36">
            <a:extLst>
              <a:ext uri="{FF2B5EF4-FFF2-40B4-BE49-F238E27FC236}">
                <a16:creationId xmlns:a16="http://schemas.microsoft.com/office/drawing/2014/main" id="{A44DE1A4-6737-CEF1-441C-44575E80446A}"/>
              </a:ext>
            </a:extLst>
          </p:cNvPr>
          <p:cNvSpPr txBox="1">
            <a:spLocks/>
          </p:cNvSpPr>
          <p:nvPr/>
        </p:nvSpPr>
        <p:spPr>
          <a:xfrm>
            <a:off x="4656905" y="1140130"/>
            <a:ext cx="4223288" cy="34591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algn="just">
              <a:lnSpc>
                <a:spcPts val="1960"/>
              </a:lnSpc>
            </a:pPr>
            <a:r>
              <a:rPr lang="en-US" sz="1200" dirty="0">
                <a:solidFill>
                  <a:srgbClr val="000000"/>
                </a:solidFill>
                <a:latin typeface="Roboto Bold"/>
                <a:ea typeface="Roboto Bold"/>
                <a:cs typeface="Roboto Bold"/>
                <a:sym typeface="Roboto Bold"/>
              </a:rPr>
              <a:t>B. Automated Financial Management</a:t>
            </a:r>
          </a:p>
        </p:txBody>
      </p:sp>
      <p:sp>
        <p:nvSpPr>
          <p:cNvPr id="17" name="Google Shape;1147;p36">
            <a:extLst>
              <a:ext uri="{FF2B5EF4-FFF2-40B4-BE49-F238E27FC236}">
                <a16:creationId xmlns:a16="http://schemas.microsoft.com/office/drawing/2014/main" id="{DD991B2E-29EC-5D41-49D2-59740D38D226}"/>
              </a:ext>
            </a:extLst>
          </p:cNvPr>
          <p:cNvSpPr txBox="1">
            <a:spLocks/>
          </p:cNvSpPr>
          <p:nvPr/>
        </p:nvSpPr>
        <p:spPr>
          <a:xfrm>
            <a:off x="4800350" y="1369315"/>
            <a:ext cx="3936398" cy="31611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171450" indent="-171450" algn="jus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Integrated Payment Gateway: </a:t>
            </a:r>
            <a:r>
              <a:rPr lang="en-GB" sz="1100" dirty="0">
                <a:latin typeface="Lato" panose="020F0502020204030203" pitchFamily="34" charset="0"/>
                <a:ea typeface="Lato" panose="020F0502020204030203" pitchFamily="34" charset="0"/>
                <a:cs typeface="Lato" panose="020F0502020204030203" pitchFamily="34" charset="0"/>
              </a:rPr>
              <a:t>All rental payments are processed in-app (via Online Banking/FPX, Credit Cards, or E-Wallets), ensuring security and transparency.</a:t>
            </a:r>
          </a:p>
          <a:p>
            <a:pPr marL="171450" indent="-171450" algn="jus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Automated Book Keeping: </a:t>
            </a:r>
            <a:r>
              <a:rPr lang="en-GB" sz="1100" dirty="0">
                <a:latin typeface="Lato" panose="020F0502020204030203" pitchFamily="34" charset="0"/>
                <a:ea typeface="Lato" panose="020F0502020204030203" pitchFamily="34" charset="0"/>
                <a:cs typeface="Lato" panose="020F0502020204030203" pitchFamily="34" charset="0"/>
              </a:rPr>
              <a:t>The system generates a monthly Statement of Account for both parties, reporting and tracking of:</a:t>
            </a:r>
          </a:p>
          <a:p>
            <a:pPr marL="628650" lvl="1" indent="-171450" algn="just">
              <a:buFont typeface="Arial" panose="020B0604020202020204" pitchFamily="34" charset="0"/>
              <a:buChar char="•"/>
            </a:pPr>
            <a:r>
              <a:rPr lang="en-GB" sz="1100" dirty="0">
                <a:latin typeface="Lato" panose="020F0502020204030203" pitchFamily="34" charset="0"/>
                <a:ea typeface="Lato" panose="020F0502020204030203" pitchFamily="34" charset="0"/>
                <a:cs typeface="Lato" panose="020F0502020204030203" pitchFamily="34" charset="0"/>
              </a:rPr>
              <a:t>Payment history.</a:t>
            </a:r>
          </a:p>
          <a:p>
            <a:pPr marL="628650" lvl="1" indent="-171450" algn="just">
              <a:buFont typeface="Arial" panose="020B0604020202020204" pitchFamily="34" charset="0"/>
              <a:buChar char="•"/>
            </a:pPr>
            <a:r>
              <a:rPr lang="en-GB" sz="1100" dirty="0">
                <a:latin typeface="Lato" panose="020F0502020204030203" pitchFamily="34" charset="0"/>
                <a:ea typeface="Lato" panose="020F0502020204030203" pitchFamily="34" charset="0"/>
                <a:cs typeface="Lato" panose="020F0502020204030203" pitchFamily="34" charset="0"/>
              </a:rPr>
              <a:t>Outstanding balances/arrears.</a:t>
            </a:r>
          </a:p>
          <a:p>
            <a:pPr marL="628650" lvl="1" indent="-171450" algn="just">
              <a:buFont typeface="Arial" panose="020B0604020202020204" pitchFamily="34" charset="0"/>
              <a:buChar char="•"/>
            </a:pPr>
            <a:r>
              <a:rPr lang="en-GB" sz="1100" dirty="0">
                <a:latin typeface="Lato" panose="020F0502020204030203" pitchFamily="34" charset="0"/>
                <a:ea typeface="Lato" panose="020F0502020204030203" pitchFamily="34" charset="0"/>
                <a:cs typeface="Lato" panose="020F0502020204030203" pitchFamily="34" charset="0"/>
              </a:rPr>
              <a:t>Payment dates.</a:t>
            </a:r>
          </a:p>
          <a:p>
            <a:pPr marL="171450" indent="-171450" algn="jus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Immutable Records: </a:t>
            </a:r>
            <a:r>
              <a:rPr lang="en-GB" sz="1100" dirty="0">
                <a:latin typeface="Lato" panose="020F0502020204030203" pitchFamily="34" charset="0"/>
                <a:ea typeface="Lato" panose="020F0502020204030203" pitchFamily="34" charset="0"/>
                <a:cs typeface="Lato" panose="020F0502020204030203" pitchFamily="34" charset="0"/>
              </a:rPr>
              <a:t>These digital records serve as concrete proof of payment (or non-payment) for any necessary legal action.</a:t>
            </a:r>
          </a:p>
          <a:p>
            <a:pPr marL="171450" indent="-171450" algn="jus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Audit Trail</a:t>
            </a:r>
            <a:r>
              <a:rPr lang="en-GB" sz="1100" dirty="0">
                <a:latin typeface="Lato" panose="020F0502020204030203" pitchFamily="34" charset="0"/>
                <a:ea typeface="Lato" panose="020F0502020204030203" pitchFamily="34" charset="0"/>
                <a:cs typeface="Lato" panose="020F0502020204030203" pitchFamily="34" charset="0"/>
              </a:rPr>
              <a:t>: Activity log for security and tracking</a:t>
            </a:r>
          </a:p>
          <a:p>
            <a:pPr marL="0" indent="0" algn="just"/>
            <a:endParaRPr lang="en-GB" sz="11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4">
          <a:extLst>
            <a:ext uri="{FF2B5EF4-FFF2-40B4-BE49-F238E27FC236}">
              <a16:creationId xmlns:a16="http://schemas.microsoft.com/office/drawing/2014/main" id="{9B5DA898-834D-6E1B-4E68-B6D6AD8A57ED}"/>
            </a:ext>
          </a:extLst>
        </p:cNvPr>
        <p:cNvGrpSpPr/>
        <p:nvPr/>
      </p:nvGrpSpPr>
      <p:grpSpPr>
        <a:xfrm>
          <a:off x="0" y="0"/>
          <a:ext cx="0" cy="0"/>
          <a:chOff x="0" y="0"/>
          <a:chExt cx="0" cy="0"/>
        </a:xfrm>
      </p:grpSpPr>
      <p:sp>
        <p:nvSpPr>
          <p:cNvPr id="1146" name="Google Shape;1146;p36">
            <a:extLst>
              <a:ext uri="{FF2B5EF4-FFF2-40B4-BE49-F238E27FC236}">
                <a16:creationId xmlns:a16="http://schemas.microsoft.com/office/drawing/2014/main" id="{023B3F7D-4751-4E72-2F93-DEDC54597AB0}"/>
              </a:ext>
            </a:extLst>
          </p:cNvPr>
          <p:cNvSpPr txBox="1">
            <a:spLocks noGrp="1"/>
          </p:cNvSpPr>
          <p:nvPr>
            <p:ph type="title"/>
          </p:nvPr>
        </p:nvSpPr>
        <p:spPr>
          <a:xfrm>
            <a:off x="3541027" y="4860"/>
            <a:ext cx="207744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Solutions</a:t>
            </a:r>
            <a:endParaRPr dirty="0">
              <a:latin typeface="Lato" panose="020F0502020204030203" pitchFamily="34" charset="0"/>
              <a:ea typeface="Lato" panose="020F0502020204030203" pitchFamily="34" charset="0"/>
              <a:cs typeface="Lato" panose="020F0502020204030203" pitchFamily="34" charset="0"/>
            </a:endParaRPr>
          </a:p>
        </p:txBody>
      </p:sp>
      <p:sp>
        <p:nvSpPr>
          <p:cNvPr id="1147" name="Google Shape;1147;p36">
            <a:extLst>
              <a:ext uri="{FF2B5EF4-FFF2-40B4-BE49-F238E27FC236}">
                <a16:creationId xmlns:a16="http://schemas.microsoft.com/office/drawing/2014/main" id="{3BDD422D-1786-9BCA-76F1-52F136B2170A}"/>
              </a:ext>
            </a:extLst>
          </p:cNvPr>
          <p:cNvSpPr txBox="1">
            <a:spLocks noGrp="1"/>
          </p:cNvSpPr>
          <p:nvPr>
            <p:ph type="subTitle" idx="1"/>
          </p:nvPr>
        </p:nvSpPr>
        <p:spPr>
          <a:xfrm>
            <a:off x="440482" y="1637757"/>
            <a:ext cx="3936398" cy="2802508"/>
          </a:xfrm>
          <a:prstGeom prst="rect">
            <a:avLst/>
          </a:prstGeom>
        </p:spPr>
        <p:txBody>
          <a:bodyPr spcFirstLastPara="1" wrap="square" lIns="91425" tIns="91425" rIns="91425" bIns="91425" anchor="t" anchorCtr="0">
            <a:noAutofit/>
          </a:bodyPr>
          <a:lstStyle/>
          <a:p>
            <a:pPr marL="171450" lvl="0" indent="-171450" algn="just" rtl="0">
              <a:spcBef>
                <a:spcPts val="0"/>
              </a:spcBef>
              <a:spcAft>
                <a:spcPts val="0"/>
              </a:spcAf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Maintenance Request Management: </a:t>
            </a:r>
            <a:r>
              <a:rPr lang="en-GB" sz="1100" dirty="0">
                <a:latin typeface="Lato" panose="020F0502020204030203" pitchFamily="34" charset="0"/>
                <a:ea typeface="Lato" panose="020F0502020204030203" pitchFamily="34" charset="0"/>
                <a:cs typeface="Lato" panose="020F0502020204030203" pitchFamily="34" charset="0"/>
              </a:rPr>
              <a:t>Allows tenants to submit repair requests directly through the app, attach photos/videos, and track the status of work orders in real-time. This feature offers a structured reporting system with two distinct workflows:</a:t>
            </a:r>
          </a:p>
          <a:p>
            <a:pPr marL="628650" lvl="1" indent="-171450" algn="just">
              <a:buFont typeface="Arial" panose="020B0604020202020204" pitchFamily="34" charset="0"/>
              <a:buChar char="•"/>
            </a:pPr>
            <a:r>
              <a:rPr lang="en-GB" sz="1100" dirty="0">
                <a:latin typeface="Lato" panose="020F0502020204030203" pitchFamily="34" charset="0"/>
                <a:ea typeface="Lato" panose="020F0502020204030203" pitchFamily="34" charset="0"/>
                <a:cs typeface="Lato" panose="020F0502020204030203" pitchFamily="34" charset="0"/>
              </a:rPr>
              <a:t>Option 1: Reimbursement Model (Tenant Repairs): The tenant repairs the damage, uploads the official receipt to the app, and the system automatically deducts the amount from the next month's rental bill.</a:t>
            </a:r>
          </a:p>
          <a:p>
            <a:pPr marL="628650" lvl="1" indent="-171450" algn="just">
              <a:buFont typeface="Arial" panose="020B0604020202020204" pitchFamily="34" charset="0"/>
              <a:buChar char="•"/>
            </a:pPr>
            <a:r>
              <a:rPr lang="en-GB" sz="1100" dirty="0">
                <a:latin typeface="Lato" panose="020F0502020204030203" pitchFamily="34" charset="0"/>
                <a:ea typeface="Lato" panose="020F0502020204030203" pitchFamily="34" charset="0"/>
                <a:cs typeface="Lato" panose="020F0502020204030203" pitchFamily="34" charset="0"/>
              </a:rPr>
              <a:t>Option 2: Request Model (Owner Repairs): The tenant submits a verified report/photo via the app. The landlord receives a notification and dispatches their own contractor to fix the issue.</a:t>
            </a:r>
          </a:p>
          <a:p>
            <a:pPr marL="171450" indent="-171450" algn="just">
              <a:buFont typeface="Wingdings" panose="05000000000000000000" pitchFamily="2" charset="2"/>
              <a:buChar char="§"/>
            </a:pPr>
            <a:r>
              <a:rPr lang="en-GB" sz="1100" b="1" dirty="0">
                <a:latin typeface="Lato" panose="020F0502020204030203" pitchFamily="34" charset="0"/>
                <a:ea typeface="Lato" panose="020F0502020204030203" pitchFamily="34" charset="0"/>
                <a:cs typeface="Lato" panose="020F0502020204030203" pitchFamily="34" charset="0"/>
              </a:rPr>
              <a:t>Panel Contractor: </a:t>
            </a:r>
            <a:r>
              <a:rPr lang="en-GB" sz="1100" dirty="0">
                <a:latin typeface="Lato" panose="020F0502020204030203" pitchFamily="34" charset="0"/>
                <a:ea typeface="Lato" panose="020F0502020204030203" pitchFamily="34" charset="0"/>
                <a:cs typeface="Lato" panose="020F0502020204030203" pitchFamily="34" charset="0"/>
              </a:rPr>
              <a:t>Trusted appointed contractors</a:t>
            </a:r>
          </a:p>
          <a:p>
            <a:pPr marL="628650" lvl="1" indent="-171450" algn="just">
              <a:buFont typeface="Arial" panose="020B0604020202020204" pitchFamily="34" charset="0"/>
              <a:buChar char="•"/>
            </a:pPr>
            <a:endParaRPr lang="en-GB" sz="1100" dirty="0">
              <a:latin typeface="Lato" panose="020F0502020204030203" pitchFamily="34" charset="0"/>
              <a:ea typeface="Lato" panose="020F0502020204030203" pitchFamily="34" charset="0"/>
              <a:cs typeface="Lato" panose="020F0502020204030203" pitchFamily="34" charset="0"/>
            </a:endParaRPr>
          </a:p>
        </p:txBody>
      </p:sp>
      <p:sp>
        <p:nvSpPr>
          <p:cNvPr id="1151" name="Google Shape;1151;p36">
            <a:extLst>
              <a:ext uri="{FF2B5EF4-FFF2-40B4-BE49-F238E27FC236}">
                <a16:creationId xmlns:a16="http://schemas.microsoft.com/office/drawing/2014/main" id="{42FFC9EC-1ADF-4DE2-FF8C-477AFEEA6071}"/>
              </a:ext>
            </a:extLst>
          </p:cNvPr>
          <p:cNvSpPr txBox="1">
            <a:spLocks noGrp="1"/>
          </p:cNvSpPr>
          <p:nvPr>
            <p:ph type="subTitle" idx="5"/>
          </p:nvPr>
        </p:nvSpPr>
        <p:spPr>
          <a:xfrm>
            <a:off x="338824" y="936020"/>
            <a:ext cx="7294092" cy="32184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200" dirty="0" err="1">
                <a:latin typeface="Lato" panose="020F0502020204030203" pitchFamily="34" charset="0"/>
                <a:ea typeface="Lato" panose="020F0502020204030203" pitchFamily="34" charset="0"/>
                <a:cs typeface="Lato" panose="020F0502020204030203" pitchFamily="34" charset="0"/>
              </a:rPr>
              <a:t>LamaNiaga</a:t>
            </a:r>
            <a:r>
              <a:rPr lang="en-GB" sz="1200" dirty="0">
                <a:latin typeface="Lato" panose="020F0502020204030203" pitchFamily="34" charset="0"/>
                <a:ea typeface="Lato" panose="020F0502020204030203" pitchFamily="34" charset="0"/>
                <a:cs typeface="Lato" panose="020F0502020204030203" pitchFamily="34" charset="0"/>
              </a:rPr>
              <a:t> core features and solutions through a unified ecosystem</a:t>
            </a:r>
            <a:endParaRPr sz="1200" dirty="0">
              <a:latin typeface="Lato" panose="020F0502020204030203" pitchFamily="34" charset="0"/>
              <a:ea typeface="Lato" panose="020F0502020204030203" pitchFamily="34" charset="0"/>
              <a:cs typeface="Lato" panose="020F0502020204030203" pitchFamily="34" charset="0"/>
            </a:endParaRPr>
          </a:p>
        </p:txBody>
      </p:sp>
      <p:sp>
        <p:nvSpPr>
          <p:cNvPr id="1152" name="Google Shape;1152;p36">
            <a:extLst>
              <a:ext uri="{FF2B5EF4-FFF2-40B4-BE49-F238E27FC236}">
                <a16:creationId xmlns:a16="http://schemas.microsoft.com/office/drawing/2014/main" id="{7EF294BC-BBF0-4744-AE50-47E14DE9EA71}"/>
              </a:ext>
            </a:extLst>
          </p:cNvPr>
          <p:cNvSpPr txBox="1">
            <a:spLocks noGrp="1"/>
          </p:cNvSpPr>
          <p:nvPr>
            <p:ph type="subTitle" idx="7"/>
          </p:nvPr>
        </p:nvSpPr>
        <p:spPr>
          <a:xfrm>
            <a:off x="209227" y="1357105"/>
            <a:ext cx="4223288" cy="345917"/>
          </a:xfrm>
          <a:prstGeom prst="rect">
            <a:avLst/>
          </a:prstGeom>
        </p:spPr>
        <p:txBody>
          <a:bodyPr spcFirstLastPara="1" wrap="square" lIns="91425" tIns="91425" rIns="91425" bIns="91425" anchor="b" anchorCtr="0">
            <a:noAutofit/>
          </a:bodyPr>
          <a:lstStyle/>
          <a:p>
            <a:pPr algn="just">
              <a:lnSpc>
                <a:spcPts val="1960"/>
              </a:lnSpc>
            </a:pPr>
            <a:r>
              <a:rPr lang="en-US" sz="1200" dirty="0">
                <a:solidFill>
                  <a:srgbClr val="000000"/>
                </a:solidFill>
                <a:latin typeface="Roboto Bold"/>
                <a:ea typeface="Roboto Bold"/>
                <a:cs typeface="Roboto Bold"/>
                <a:sym typeface="Roboto Bold"/>
              </a:rPr>
              <a:t>C. Transparent Maintenance Hub</a:t>
            </a:r>
          </a:p>
        </p:txBody>
      </p:sp>
      <p:cxnSp>
        <p:nvCxnSpPr>
          <p:cNvPr id="2" name="Straight Connector 1">
            <a:extLst>
              <a:ext uri="{FF2B5EF4-FFF2-40B4-BE49-F238E27FC236}">
                <a16:creationId xmlns:a16="http://schemas.microsoft.com/office/drawing/2014/main" id="{D226C724-BE0E-31AD-6989-B4D11A3DF3ED}"/>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024A019A-8713-A693-BD04-7ACA855627D8}"/>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4" name="Freeform 19">
            <a:extLst>
              <a:ext uri="{FF2B5EF4-FFF2-40B4-BE49-F238E27FC236}">
                <a16:creationId xmlns:a16="http://schemas.microsoft.com/office/drawing/2014/main" id="{4C71B6E8-11C1-62AD-4791-A0A6323B10B1}"/>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5" name="TextBox 22">
            <a:extLst>
              <a:ext uri="{FF2B5EF4-FFF2-40B4-BE49-F238E27FC236}">
                <a16:creationId xmlns:a16="http://schemas.microsoft.com/office/drawing/2014/main" id="{13109806-07A2-B630-9ACE-BFEEE7DE9053}"/>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05</a:t>
            </a:r>
          </a:p>
        </p:txBody>
      </p:sp>
      <p:sp>
        <p:nvSpPr>
          <p:cNvPr id="16" name="Google Shape;1152;p36">
            <a:extLst>
              <a:ext uri="{FF2B5EF4-FFF2-40B4-BE49-F238E27FC236}">
                <a16:creationId xmlns:a16="http://schemas.microsoft.com/office/drawing/2014/main" id="{8F124456-9996-92B6-F1F5-4A3BF5234D1D}"/>
              </a:ext>
            </a:extLst>
          </p:cNvPr>
          <p:cNvSpPr txBox="1">
            <a:spLocks/>
          </p:cNvSpPr>
          <p:nvPr/>
        </p:nvSpPr>
        <p:spPr>
          <a:xfrm>
            <a:off x="4656905" y="1357104"/>
            <a:ext cx="4223288" cy="34591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algn="just">
              <a:lnSpc>
                <a:spcPts val="1960"/>
              </a:lnSpc>
            </a:pPr>
            <a:r>
              <a:rPr lang="en-US" sz="1200" dirty="0">
                <a:solidFill>
                  <a:srgbClr val="000000"/>
                </a:solidFill>
                <a:latin typeface="Roboto Bold"/>
                <a:ea typeface="Roboto Bold"/>
                <a:cs typeface="Roboto Bold"/>
                <a:sym typeface="Roboto Bold"/>
              </a:rPr>
              <a:t>D. Trust &amp; Credibility System</a:t>
            </a:r>
          </a:p>
        </p:txBody>
      </p:sp>
      <p:sp>
        <p:nvSpPr>
          <p:cNvPr id="17" name="Google Shape;1147;p36">
            <a:extLst>
              <a:ext uri="{FF2B5EF4-FFF2-40B4-BE49-F238E27FC236}">
                <a16:creationId xmlns:a16="http://schemas.microsoft.com/office/drawing/2014/main" id="{A550A38D-7736-9B67-B765-046D4958B11C}"/>
              </a:ext>
            </a:extLst>
          </p:cNvPr>
          <p:cNvSpPr txBox="1">
            <a:spLocks/>
          </p:cNvSpPr>
          <p:nvPr/>
        </p:nvSpPr>
        <p:spPr>
          <a:xfrm>
            <a:off x="4800350" y="1586290"/>
            <a:ext cx="3936398" cy="1955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200"/>
              <a:buFont typeface="Lato"/>
              <a:buNone/>
              <a:defRPr sz="1200" b="0" i="0" u="none" strike="noStrike" cap="none">
                <a:solidFill>
                  <a:schemeClr val="dk1"/>
                </a:solidFill>
                <a:latin typeface="Lato"/>
                <a:ea typeface="Lato"/>
                <a:cs typeface="Lato"/>
                <a:sym typeface="Lato"/>
              </a:defRPr>
            </a:lvl9pPr>
          </a:lstStyle>
          <a:p>
            <a:pPr marL="171450" indent="-171450" algn="just">
              <a:buFont typeface="Wingdings" panose="05000000000000000000" pitchFamily="2" charset="2"/>
              <a:buChar char="§"/>
            </a:pPr>
            <a:r>
              <a:rPr lang="en-GB" sz="1100" dirty="0">
                <a:latin typeface="Lato" panose="020F0502020204030203" pitchFamily="34" charset="0"/>
                <a:ea typeface="Lato" panose="020F0502020204030203" pitchFamily="34" charset="0"/>
                <a:cs typeface="Lato" panose="020F0502020204030203" pitchFamily="34" charset="0"/>
              </a:rPr>
              <a:t>These features allow for star ratings and feedback from tenants and property owners as well as online screening.</a:t>
            </a:r>
          </a:p>
        </p:txBody>
      </p:sp>
    </p:spTree>
    <p:extLst>
      <p:ext uri="{BB962C8B-B14F-4D97-AF65-F5344CB8AC3E}">
        <p14:creationId xmlns:p14="http://schemas.microsoft.com/office/powerpoint/2010/main" val="100534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4">
          <a:extLst>
            <a:ext uri="{FF2B5EF4-FFF2-40B4-BE49-F238E27FC236}">
              <a16:creationId xmlns:a16="http://schemas.microsoft.com/office/drawing/2014/main" id="{6259910F-3810-00FD-880F-69ACFC89ED8F}"/>
            </a:ext>
          </a:extLst>
        </p:cNvPr>
        <p:cNvGrpSpPr/>
        <p:nvPr/>
      </p:nvGrpSpPr>
      <p:grpSpPr>
        <a:xfrm>
          <a:off x="0" y="0"/>
          <a:ext cx="0" cy="0"/>
          <a:chOff x="0" y="0"/>
          <a:chExt cx="0" cy="0"/>
        </a:xfrm>
      </p:grpSpPr>
      <p:sp>
        <p:nvSpPr>
          <p:cNvPr id="1146" name="Google Shape;1146;p36">
            <a:extLst>
              <a:ext uri="{FF2B5EF4-FFF2-40B4-BE49-F238E27FC236}">
                <a16:creationId xmlns:a16="http://schemas.microsoft.com/office/drawing/2014/main" id="{551F2FF3-254B-1E6B-035A-EBAAB8AD4E05}"/>
              </a:ext>
            </a:extLst>
          </p:cNvPr>
          <p:cNvSpPr txBox="1">
            <a:spLocks noGrp="1"/>
          </p:cNvSpPr>
          <p:nvPr>
            <p:ph type="title"/>
          </p:nvPr>
        </p:nvSpPr>
        <p:spPr>
          <a:xfrm>
            <a:off x="3533278" y="15007"/>
            <a:ext cx="207744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Benefits</a:t>
            </a:r>
            <a:endParaRPr dirty="0">
              <a:latin typeface="Lato" panose="020F0502020204030203" pitchFamily="34" charset="0"/>
              <a:ea typeface="Lato" panose="020F0502020204030203" pitchFamily="34" charset="0"/>
              <a:cs typeface="Lato" panose="020F0502020204030203" pitchFamily="34" charset="0"/>
            </a:endParaRPr>
          </a:p>
        </p:txBody>
      </p:sp>
      <p:cxnSp>
        <p:nvCxnSpPr>
          <p:cNvPr id="2" name="Straight Connector 1">
            <a:extLst>
              <a:ext uri="{FF2B5EF4-FFF2-40B4-BE49-F238E27FC236}">
                <a16:creationId xmlns:a16="http://schemas.microsoft.com/office/drawing/2014/main" id="{06F40633-2AA4-7BF4-6A37-D3D7E431239A}"/>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EBD90ABA-21F0-444D-4B5F-6FC7691D767C}"/>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4" name="Freeform 19">
            <a:extLst>
              <a:ext uri="{FF2B5EF4-FFF2-40B4-BE49-F238E27FC236}">
                <a16:creationId xmlns:a16="http://schemas.microsoft.com/office/drawing/2014/main" id="{32B4E43E-D200-88E1-4057-B55098564341}"/>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5" name="TextBox 22">
            <a:extLst>
              <a:ext uri="{FF2B5EF4-FFF2-40B4-BE49-F238E27FC236}">
                <a16:creationId xmlns:a16="http://schemas.microsoft.com/office/drawing/2014/main" id="{72B27B0D-271E-2645-9FA5-6437E5D86F81}"/>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06</a:t>
            </a:r>
          </a:p>
        </p:txBody>
      </p:sp>
      <p:sp>
        <p:nvSpPr>
          <p:cNvPr id="10" name="Google Shape;1165;p33">
            <a:extLst>
              <a:ext uri="{FF2B5EF4-FFF2-40B4-BE49-F238E27FC236}">
                <a16:creationId xmlns:a16="http://schemas.microsoft.com/office/drawing/2014/main" id="{F05B8575-894F-14C1-3AA7-A25E50C5E533}"/>
              </a:ext>
            </a:extLst>
          </p:cNvPr>
          <p:cNvSpPr/>
          <p:nvPr/>
        </p:nvSpPr>
        <p:spPr>
          <a:xfrm>
            <a:off x="471624" y="1491211"/>
            <a:ext cx="465041" cy="458902"/>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 name="Google Shape;1175;p33">
            <a:extLst>
              <a:ext uri="{FF2B5EF4-FFF2-40B4-BE49-F238E27FC236}">
                <a16:creationId xmlns:a16="http://schemas.microsoft.com/office/drawing/2014/main" id="{AA9F3AFA-E18D-0D3D-56D6-163B6CF8DAD0}"/>
              </a:ext>
            </a:extLst>
          </p:cNvPr>
          <p:cNvSpPr txBox="1">
            <a:spLocks/>
          </p:cNvSpPr>
          <p:nvPr/>
        </p:nvSpPr>
        <p:spPr>
          <a:xfrm>
            <a:off x="947114" y="1333654"/>
            <a:ext cx="1841337" cy="10443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100" dirty="0"/>
              <a:t>Secure Login</a:t>
            </a:r>
          </a:p>
          <a:p>
            <a:pPr marL="0" indent="0" algn="just"/>
            <a:r>
              <a:rPr lang="en-GB" sz="1100" b="0" dirty="0"/>
              <a:t>Login authenticated through </a:t>
            </a:r>
            <a:r>
              <a:rPr lang="en-GB" sz="1100" b="0" dirty="0" err="1"/>
              <a:t>MyDigital</a:t>
            </a:r>
            <a:r>
              <a:rPr lang="en-GB" sz="1100" b="0" dirty="0"/>
              <a:t> ID which provides genuine users.</a:t>
            </a:r>
            <a:endParaRPr lang="en-MY" sz="1100" b="0" dirty="0"/>
          </a:p>
        </p:txBody>
      </p:sp>
      <p:pic>
        <p:nvPicPr>
          <p:cNvPr id="1026" name="Picture 2" descr="Login - Free security icons">
            <a:extLst>
              <a:ext uri="{FF2B5EF4-FFF2-40B4-BE49-F238E27FC236}">
                <a16:creationId xmlns:a16="http://schemas.microsoft.com/office/drawing/2014/main" id="{7A014FBF-39DD-03C9-F213-3D5DEE6F774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676" b="99324" l="1266" r="97468">
                        <a14:foregroundMark x1="29114" y1="11486" x2="26582" y2="10811"/>
                        <a14:foregroundMark x1="28481" y1="6757" x2="28481" y2="6757"/>
                        <a14:foregroundMark x1="34810" y1="1351" x2="34810" y2="1351"/>
                        <a14:foregroundMark x1="53165" y1="66216" x2="53165" y2="66216"/>
                        <a14:foregroundMark x1="37975" y1="66892" x2="37975" y2="66892"/>
                        <a14:foregroundMark x1="4430" y1="67568" x2="4430" y2="67568"/>
                        <a14:foregroundMark x1="24684" y1="19595" x2="24684" y2="19595"/>
                        <a14:foregroundMark x1="25949" y1="27027" x2="25949" y2="27027"/>
                        <a14:foregroundMark x1="24684" y1="32432" x2="24684" y2="32432"/>
                        <a14:foregroundMark x1="57595" y1="2703" x2="57595" y2="2703"/>
                        <a14:foregroundMark x1="46203" y1="676" x2="46203" y2="676"/>
                        <a14:foregroundMark x1="59494" y1="6757" x2="59494" y2="6757"/>
                        <a14:foregroundMark x1="63291" y1="16216" x2="63291" y2="16216"/>
                        <a14:foregroundMark x1="63924" y1="23649" x2="63924" y2="23649"/>
                        <a14:foregroundMark x1="64557" y1="32432" x2="64557" y2="32432"/>
                        <a14:foregroundMark x1="68965" y1="38736" x2="73418" y2="39189"/>
                        <a14:foregroundMark x1="55969" y1="37415" x2="57352" y2="37556"/>
                        <a14:foregroundMark x1="79958" y1="52703" x2="81013" y2="55405"/>
                        <a14:foregroundMark x1="79485" y1="51490" x2="79958" y2="52703"/>
                        <a14:foregroundMark x1="74684" y1="39189" x2="75351" y2="40898"/>
                        <a14:foregroundMark x1="3853" y1="66892" x2="3165" y2="67568"/>
                        <a14:foregroundMark x1="4401" y1="66354" x2="3853" y2="66892"/>
                        <a14:foregroundMark x1="3165" y1="67568" x2="3797" y2="77703"/>
                        <a14:foregroundMark x1="2069" y1="61514" x2="1266" y2="63514"/>
                        <a14:foregroundMark x1="5877" y1="52027" x2="2458" y2="60544"/>
                        <a14:foregroundMark x1="7504" y1="47973" x2="5877" y2="52027"/>
                        <a14:foregroundMark x1="10759" y1="39865" x2="7504" y2="47973"/>
                        <a14:foregroundMark x1="30434" y1="92664" x2="43671" y2="97297"/>
                        <a14:foregroundMark x1="43671" y1="97297" x2="41139" y2="97297"/>
                        <a14:foregroundMark x1="5063" y1="88514" x2="6406" y2="89420"/>
                        <a14:foregroundMark x1="88336" y1="71622" x2="93671" y2="69595"/>
                        <a14:foregroundMark x1="87438" y1="71963" x2="88336" y2="71622"/>
                        <a14:foregroundMark x1="56329" y1="83784" x2="61664" y2="81757"/>
                        <a14:foregroundMark x1="98101" y1="63514" x2="98101" y2="63514"/>
                        <a14:foregroundMark x1="91803" y1="78378" x2="92405" y2="77703"/>
                        <a14:foregroundMark x1="85408" y1="85546" x2="91803" y2="78378"/>
                        <a14:foregroundMark x1="82158" y1="89189" x2="84561" y2="86496"/>
                        <a14:foregroundMark x1="80952" y1="90541" x2="82158" y2="89189"/>
                        <a14:foregroundMark x1="79747" y1="91892" x2="80952" y2="90541"/>
                        <a14:foregroundMark x1="49367" y1="14189" x2="49367" y2="14189"/>
                        <a14:foregroundMark x1="8228" y1="15541" x2="10127" y2="15541"/>
                        <a14:foregroundMark x1="7595" y1="40541" x2="7595" y2="40541"/>
                        <a14:foregroundMark x1="5696" y1="41892" x2="5696" y2="41892"/>
                        <a14:foregroundMark x1="6329" y1="41892" x2="1899" y2="50000"/>
                        <a14:foregroundMark x1="20253" y1="65541" x2="20253" y2="65541"/>
                        <a14:foregroundMark x1="20886" y1="65541" x2="20886" y2="65541"/>
                        <a14:foregroundMark x1="21519" y1="65541" x2="21519" y2="65541"/>
                        <a14:foregroundMark x1="22152" y1="65541" x2="22152" y2="65541"/>
                        <a14:foregroundMark x1="20253" y1="66892" x2="20253" y2="66892"/>
                        <a14:foregroundMark x1="19620" y1="66892" x2="19620" y2="66892"/>
                        <a14:foregroundMark x1="18987" y1="66892" x2="18987" y2="66892"/>
                        <a14:foregroundMark x1="19620" y1="68243" x2="19620" y2="68243"/>
                        <a14:foregroundMark x1="20886" y1="68243" x2="17722" y2="66892"/>
                        <a14:foregroundMark x1="37342" y1="64189" x2="37342" y2="64189"/>
                        <a14:foregroundMark x1="65823" y1="64189" x2="66456" y2="67568"/>
                        <a14:foregroundMark x1="59494" y1="83784" x2="59494" y2="83784"/>
                        <a14:foregroundMark x1="57595" y1="83108" x2="60127" y2="87838"/>
                        <a14:foregroundMark x1="66270" y1="97387" x2="67722" y2="99324"/>
                        <a14:foregroundMark x1="60127" y1="89189" x2="62062" y2="91772"/>
                        <a14:foregroundMark x1="55063" y1="82432" x2="60127" y2="89189"/>
                        <a14:foregroundMark x1="59494" y1="87838" x2="64152" y2="87696"/>
                        <a14:foregroundMark x1="83335" y1="84673" x2="94937" y2="67568"/>
                        <a14:foregroundMark x1="94937" y1="67568" x2="94937" y2="67568"/>
                        <a14:backgroundMark x1="1899" y1="97973" x2="1899" y2="97973"/>
                        <a14:backgroundMark x1="3165" y1="95946" x2="3165" y2="95946"/>
                        <a14:backgroundMark x1="1899" y1="95946" x2="5063" y2="97297"/>
                        <a14:backgroundMark x1="85443" y1="10135" x2="85443" y2="10135"/>
                        <a14:backgroundMark x1="82911" y1="7432" x2="90506" y2="27703"/>
                        <a14:backgroundMark x1="8228" y1="14865" x2="8228" y2="14865"/>
                        <a14:backgroundMark x1="10759" y1="16892" x2="10759" y2="16892"/>
                        <a14:backgroundMark x1="10127" y1="15541" x2="10127" y2="15541"/>
                        <a14:backgroundMark x1="7595" y1="17568" x2="7595" y2="17568"/>
                        <a14:backgroundMark x1="8228" y1="16892" x2="8228" y2="16892"/>
                        <a14:backgroundMark x1="43038" y1="22973" x2="43038" y2="22973"/>
                        <a14:backgroundMark x1="49367" y1="12162" x2="49367" y2="12162"/>
                        <a14:backgroundMark x1="49367" y1="12838" x2="49367" y2="12838"/>
                        <a14:backgroundMark x1="48734" y1="12838" x2="48734" y2="12838"/>
                        <a14:backgroundMark x1="49367" y1="14865" x2="49367" y2="14865"/>
                        <a14:backgroundMark x1="49367" y1="14865" x2="49367" y2="14865"/>
                        <a14:backgroundMark x1="30380" y1="12162" x2="30380" y2="12162"/>
                        <a14:backgroundMark x1="41139" y1="54730" x2="41139" y2="54730"/>
                        <a14:backgroundMark x1="41139" y1="54730" x2="41139" y2="54730"/>
                        <a14:backgroundMark x1="41139" y1="54730" x2="41139" y2="54730"/>
                        <a14:backgroundMark x1="29114" y1="51351" x2="29114" y2="51351"/>
                        <a14:backgroundMark x1="26010" y1="78917" x2="32278" y2="83784"/>
                        <a14:backgroundMark x1="22785" y1="47973" x2="50633" y2="46622"/>
                        <a14:backgroundMark x1="50633" y1="46622" x2="76582" y2="55405"/>
                        <a14:backgroundMark x1="74811" y1="65807" x2="73167" y2="75458"/>
                        <a14:backgroundMark x1="76582" y1="55405" x2="75431" y2="62164"/>
                        <a14:backgroundMark x1="79114" y1="52703" x2="79114" y2="52703"/>
                        <a14:backgroundMark x1="78481" y1="51351" x2="78481" y2="51351"/>
                        <a14:backgroundMark x1="79114" y1="51351" x2="79114" y2="51351"/>
                        <a14:backgroundMark x1="19620" y1="52703" x2="19620" y2="52703"/>
                        <a14:backgroundMark x1="19620" y1="52703" x2="18987" y2="51351"/>
                        <a14:backgroundMark x1="16456" y1="53378" x2="17722" y2="53378"/>
                        <a14:backgroundMark x1="18354" y1="51351" x2="22785" y2="48649"/>
                        <a14:backgroundMark x1="10127" y1="84459" x2="31013" y2="91892"/>
                        <a14:backgroundMark x1="8861" y1="81757" x2="10127" y2="87162"/>
                        <a14:backgroundMark x1="69901" y1="75558" x2="71519" y2="74324"/>
                        <a14:backgroundMark x1="86709" y1="71622" x2="86709" y2="71622"/>
                        <a14:backgroundMark x1="91772" y1="80405" x2="95570" y2="77703"/>
                        <a14:backgroundMark x1="95570" y1="78378" x2="95570" y2="78378"/>
                        <a14:backgroundMark x1="69620" y1="89189" x2="69620" y2="89189"/>
                        <a14:backgroundMark x1="72152" y1="89189" x2="72152" y2="89189"/>
                        <a14:backgroundMark x1="72152" y1="89189" x2="72152" y2="89189"/>
                        <a14:backgroundMark x1="72152" y1="88514" x2="72785" y2="90541"/>
                        <a14:backgroundMark x1="68987" y1="86486" x2="73418" y2="89189"/>
                        <a14:backgroundMark x1="66456" y1="87162" x2="72152" y2="91216"/>
                        <a14:backgroundMark x1="72152" y1="92568" x2="70886" y2="92568"/>
                        <a14:backgroundMark x1="64557" y1="83784" x2="61392" y2="81081"/>
                        <a14:backgroundMark x1="17089" y1="66892" x2="17089" y2="66892"/>
                      </a14:backgroundRemoval>
                    </a14:imgEffect>
                  </a14:imgLayer>
                </a14:imgProps>
              </a:ext>
              <a:ext uri="{28A0092B-C50C-407E-A947-70E740481C1C}">
                <a14:useLocalDpi xmlns:a14="http://schemas.microsoft.com/office/drawing/2010/main" val="0"/>
              </a:ext>
            </a:extLst>
          </a:blip>
          <a:srcRect/>
          <a:stretch>
            <a:fillRect/>
          </a:stretch>
        </p:blipFill>
        <p:spPr bwMode="auto">
          <a:xfrm>
            <a:off x="536358" y="1543886"/>
            <a:ext cx="400307" cy="374972"/>
          </a:xfrm>
          <a:prstGeom prst="rect">
            <a:avLst/>
          </a:prstGeom>
          <a:noFill/>
          <a:extLst>
            <a:ext uri="{909E8E84-426E-40DD-AFC4-6F175D3DCCD1}">
              <a14:hiddenFill xmlns:a14="http://schemas.microsoft.com/office/drawing/2010/main">
                <a:solidFill>
                  <a:srgbClr val="FFFFFF"/>
                </a:solidFill>
              </a14:hiddenFill>
            </a:ext>
          </a:extLst>
        </p:spPr>
      </p:pic>
      <p:sp>
        <p:nvSpPr>
          <p:cNvPr id="55" name="Google Shape;1165;p33">
            <a:extLst>
              <a:ext uri="{FF2B5EF4-FFF2-40B4-BE49-F238E27FC236}">
                <a16:creationId xmlns:a16="http://schemas.microsoft.com/office/drawing/2014/main" id="{B592C0EF-CB8A-3B5E-3E52-F0C3F3A3D4D7}"/>
              </a:ext>
            </a:extLst>
          </p:cNvPr>
          <p:cNvSpPr/>
          <p:nvPr/>
        </p:nvSpPr>
        <p:spPr>
          <a:xfrm>
            <a:off x="471624" y="2527782"/>
            <a:ext cx="465041" cy="458902"/>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6" name="Google Shape;1175;p33">
            <a:extLst>
              <a:ext uri="{FF2B5EF4-FFF2-40B4-BE49-F238E27FC236}">
                <a16:creationId xmlns:a16="http://schemas.microsoft.com/office/drawing/2014/main" id="{C2B028E3-5E8E-28B3-4A27-AC5A9160DC58}"/>
              </a:ext>
            </a:extLst>
          </p:cNvPr>
          <p:cNvSpPr txBox="1">
            <a:spLocks/>
          </p:cNvSpPr>
          <p:nvPr/>
        </p:nvSpPr>
        <p:spPr>
          <a:xfrm>
            <a:off x="966497" y="2456142"/>
            <a:ext cx="1965323" cy="164814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100" dirty="0" err="1"/>
              <a:t>Moneytory</a:t>
            </a:r>
            <a:r>
              <a:rPr lang="en-MY" sz="1100" dirty="0"/>
              <a:t> Dispute </a:t>
            </a:r>
          </a:p>
          <a:p>
            <a:pPr marL="0" indent="0" algn="just"/>
            <a:r>
              <a:rPr lang="en-GB" sz="1100" b="0" dirty="0"/>
              <a:t>All payments for rental purposes will be made online and all receipts will be stored digitally (Auto and Manual). This status will be solid and reliable evidence in the event of any dispute</a:t>
            </a:r>
            <a:endParaRPr lang="en-MY" sz="1100" b="0" dirty="0"/>
          </a:p>
        </p:txBody>
      </p:sp>
      <p:pic>
        <p:nvPicPr>
          <p:cNvPr id="1028" name="Picture 4" descr="Money Dispute Icon stock vector. Illustration of finance ...">
            <a:extLst>
              <a:ext uri="{FF2B5EF4-FFF2-40B4-BE49-F238E27FC236}">
                <a16:creationId xmlns:a16="http://schemas.microsoft.com/office/drawing/2014/main" id="{86A5FF88-3C37-4ACB-F50F-620A0F2DCFE2}"/>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foregroundMark x1="34459" y1="26351" x2="34459" y2="26351"/>
                        <a14:foregroundMark x1="72973" y1="25000" x2="72973" y2="25000"/>
                        <a14:foregroundMark x1="69595" y1="34459" x2="69595" y2="34459"/>
                      </a14:backgroundRemoval>
                    </a14:imgEffect>
                  </a14:imgLayer>
                </a14:imgProps>
              </a:ext>
              <a:ext uri="{28A0092B-C50C-407E-A947-70E740481C1C}">
                <a14:useLocalDpi xmlns:a14="http://schemas.microsoft.com/office/drawing/2010/main" val="0"/>
              </a:ext>
            </a:extLst>
          </a:blip>
          <a:srcRect/>
          <a:stretch>
            <a:fillRect/>
          </a:stretch>
        </p:blipFill>
        <p:spPr bwMode="auto">
          <a:xfrm>
            <a:off x="433640" y="2471584"/>
            <a:ext cx="541008" cy="541008"/>
          </a:xfrm>
          <a:prstGeom prst="rect">
            <a:avLst/>
          </a:prstGeom>
          <a:noFill/>
          <a:extLst>
            <a:ext uri="{909E8E84-426E-40DD-AFC4-6F175D3DCCD1}">
              <a14:hiddenFill xmlns:a14="http://schemas.microsoft.com/office/drawing/2010/main">
                <a:solidFill>
                  <a:srgbClr val="FFFFFF"/>
                </a:solidFill>
              </a14:hiddenFill>
            </a:ext>
          </a:extLst>
        </p:spPr>
      </p:pic>
      <p:sp>
        <p:nvSpPr>
          <p:cNvPr id="58" name="Google Shape;1165;p33">
            <a:extLst>
              <a:ext uri="{FF2B5EF4-FFF2-40B4-BE49-F238E27FC236}">
                <a16:creationId xmlns:a16="http://schemas.microsoft.com/office/drawing/2014/main" id="{65FDF5BB-4E7A-0D93-D599-0861DF953652}"/>
              </a:ext>
            </a:extLst>
          </p:cNvPr>
          <p:cNvSpPr/>
          <p:nvPr/>
        </p:nvSpPr>
        <p:spPr>
          <a:xfrm>
            <a:off x="3201420" y="1446347"/>
            <a:ext cx="465041" cy="458902"/>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9" name="Google Shape;1175;p33">
            <a:extLst>
              <a:ext uri="{FF2B5EF4-FFF2-40B4-BE49-F238E27FC236}">
                <a16:creationId xmlns:a16="http://schemas.microsoft.com/office/drawing/2014/main" id="{1FCEC331-4412-6034-1624-45D472992118}"/>
              </a:ext>
            </a:extLst>
          </p:cNvPr>
          <p:cNvSpPr txBox="1">
            <a:spLocks/>
          </p:cNvSpPr>
          <p:nvPr/>
        </p:nvSpPr>
        <p:spPr>
          <a:xfrm>
            <a:off x="3667131" y="1407458"/>
            <a:ext cx="1841337" cy="110708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just"/>
            <a:r>
              <a:rPr lang="en-MY" sz="1100" dirty="0"/>
              <a:t>Maintenance Dispute </a:t>
            </a:r>
            <a:r>
              <a:rPr lang="en-GB" sz="1100" b="0" dirty="0"/>
              <a:t>Every request will be posted digitally in terms of images, receipts and communication.</a:t>
            </a:r>
            <a:endParaRPr lang="en-MY" sz="1100" b="0" dirty="0"/>
          </a:p>
        </p:txBody>
      </p:sp>
      <p:pic>
        <p:nvPicPr>
          <p:cNvPr id="61" name="Picture 60">
            <a:extLst>
              <a:ext uri="{FF2B5EF4-FFF2-40B4-BE49-F238E27FC236}">
                <a16:creationId xmlns:a16="http://schemas.microsoft.com/office/drawing/2014/main" id="{81DD927B-BB69-3F66-AD59-4D6F6CD16103}"/>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676" b="94595" l="5625" r="95625">
                        <a14:foregroundMark x1="35000" y1="5405" x2="35000" y2="5405"/>
                        <a14:foregroundMark x1="55625" y1="1351" x2="55625" y2="1351"/>
                        <a14:foregroundMark x1="84375" y1="18919" x2="84375" y2="18919"/>
                        <a14:foregroundMark x1="95625" y1="28378" x2="95625" y2="28378"/>
                        <a14:foregroundMark x1="18750" y1="18919" x2="18750" y2="18919"/>
                        <a14:foregroundMark x1="30625" y1="44595" x2="30625" y2="44595"/>
                        <a14:foregroundMark x1="5625" y1="54054" x2="5625" y2="54054"/>
                        <a14:foregroundMark x1="12500" y1="94595" x2="12500" y2="94595"/>
                        <a14:foregroundMark x1="58750" y1="57432" x2="58750" y2="57432"/>
                        <a14:foregroundMark x1="55625" y1="12162" x2="55625" y2="12162"/>
                        <a14:backgroundMark x1="96250" y1="27027" x2="96250" y2="27027"/>
                        <a14:backgroundMark x1="96250" y1="27703" x2="96250" y2="27703"/>
                        <a14:backgroundMark x1="95625" y1="27027" x2="95625" y2="27027"/>
                        <a14:backgroundMark x1="34375" y1="4054" x2="34375" y2="4054"/>
                        <a14:backgroundMark x1="56875" y1="10811" x2="56875" y2="10811"/>
                        <a14:backgroundMark x1="55625" y1="10135" x2="55625" y2="10135"/>
                        <a14:backgroundMark x1="56875" y1="676" x2="56875" y2="676"/>
                      </a14:backgroundRemoval>
                    </a14:imgEffect>
                  </a14:imgLayer>
                </a14:imgProps>
              </a:ext>
            </a:extLst>
          </a:blip>
          <a:stretch>
            <a:fillRect/>
          </a:stretch>
        </p:blipFill>
        <p:spPr>
          <a:xfrm>
            <a:off x="3250820" y="1483254"/>
            <a:ext cx="416311" cy="385088"/>
          </a:xfrm>
          <a:prstGeom prst="rect">
            <a:avLst/>
          </a:prstGeom>
        </p:spPr>
      </p:pic>
      <p:sp>
        <p:nvSpPr>
          <p:cNvPr id="62" name="Google Shape;1165;p33">
            <a:extLst>
              <a:ext uri="{FF2B5EF4-FFF2-40B4-BE49-F238E27FC236}">
                <a16:creationId xmlns:a16="http://schemas.microsoft.com/office/drawing/2014/main" id="{9E9E2062-7752-9C4B-3CF2-F9A2CBFB6B8B}"/>
              </a:ext>
            </a:extLst>
          </p:cNvPr>
          <p:cNvSpPr/>
          <p:nvPr/>
        </p:nvSpPr>
        <p:spPr>
          <a:xfrm>
            <a:off x="3202090" y="2534502"/>
            <a:ext cx="465041" cy="458902"/>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63" name="Google Shape;1175;p33">
            <a:extLst>
              <a:ext uri="{FF2B5EF4-FFF2-40B4-BE49-F238E27FC236}">
                <a16:creationId xmlns:a16="http://schemas.microsoft.com/office/drawing/2014/main" id="{7FB044C1-EB30-2704-E6D9-6C22BD424510}"/>
              </a:ext>
            </a:extLst>
          </p:cNvPr>
          <p:cNvSpPr txBox="1">
            <a:spLocks/>
          </p:cNvSpPr>
          <p:nvPr/>
        </p:nvSpPr>
        <p:spPr>
          <a:xfrm>
            <a:off x="3674634" y="2514547"/>
            <a:ext cx="1841337" cy="125571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100" dirty="0"/>
              <a:t>One-Stop Monitoring</a:t>
            </a:r>
          </a:p>
          <a:p>
            <a:pPr marL="0" indent="0" algn="just"/>
            <a:r>
              <a:rPr lang="en-GB" sz="1100" b="0" dirty="0"/>
              <a:t>All tenant information, agreements, payments and maintenance in one application for ease of managing and monitoring</a:t>
            </a:r>
            <a:endParaRPr lang="en-MY" sz="1100" b="0" dirty="0"/>
          </a:p>
        </p:txBody>
      </p:sp>
      <p:pic>
        <p:nvPicPr>
          <p:cNvPr id="1025" name="Picture 1024">
            <a:extLst>
              <a:ext uri="{FF2B5EF4-FFF2-40B4-BE49-F238E27FC236}">
                <a16:creationId xmlns:a16="http://schemas.microsoft.com/office/drawing/2014/main" id="{9D96F9CD-29F9-2769-665D-018BB3C6DD86}"/>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foregroundMark x1="40800" y1="33900" x2="40800" y2="33900"/>
                        <a14:foregroundMark x1="69100" y1="59500" x2="69100" y2="59500"/>
                        <a14:backgroundMark x1="53100" y1="40500" x2="53100" y2="40500"/>
                      </a14:backgroundRemoval>
                    </a14:imgEffect>
                  </a14:imgLayer>
                </a14:imgProps>
              </a:ext>
            </a:extLst>
          </a:blip>
          <a:stretch>
            <a:fillRect/>
          </a:stretch>
        </p:blipFill>
        <p:spPr>
          <a:xfrm>
            <a:off x="3144751" y="2502921"/>
            <a:ext cx="572700" cy="572700"/>
          </a:xfrm>
          <a:prstGeom prst="rect">
            <a:avLst/>
          </a:prstGeom>
        </p:spPr>
      </p:pic>
      <p:sp>
        <p:nvSpPr>
          <p:cNvPr id="1030" name="Google Shape;1175;p33">
            <a:extLst>
              <a:ext uri="{FF2B5EF4-FFF2-40B4-BE49-F238E27FC236}">
                <a16:creationId xmlns:a16="http://schemas.microsoft.com/office/drawing/2014/main" id="{6B231E0C-F285-2684-1228-01AFC07CCADB}"/>
              </a:ext>
            </a:extLst>
          </p:cNvPr>
          <p:cNvSpPr txBox="1">
            <a:spLocks/>
          </p:cNvSpPr>
          <p:nvPr/>
        </p:nvSpPr>
        <p:spPr>
          <a:xfrm>
            <a:off x="6285122" y="1333654"/>
            <a:ext cx="1841337" cy="153882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Epilogue"/>
                <a:ea typeface="Epilogue"/>
                <a:cs typeface="Epilogue"/>
                <a:sym typeface="Epilogue"/>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lgn="ctr"/>
            <a:r>
              <a:rPr lang="en-MY" sz="1100" dirty="0"/>
              <a:t>Trust and Credibility System </a:t>
            </a:r>
          </a:p>
          <a:p>
            <a:pPr marL="0" indent="0" algn="just"/>
            <a:r>
              <a:rPr lang="en-GB" sz="1100" b="0" dirty="0"/>
              <a:t>Every property listed features a Star Rating and feedback section based on previous tenants' experiences and online screening</a:t>
            </a:r>
            <a:endParaRPr lang="en-MY" sz="1100" b="0" dirty="0"/>
          </a:p>
        </p:txBody>
      </p:sp>
      <p:sp>
        <p:nvSpPr>
          <p:cNvPr id="1033" name="Google Shape;1165;p33">
            <a:extLst>
              <a:ext uri="{FF2B5EF4-FFF2-40B4-BE49-F238E27FC236}">
                <a16:creationId xmlns:a16="http://schemas.microsoft.com/office/drawing/2014/main" id="{9D557C7F-6E64-8808-CAAD-A73C40E076B6}"/>
              </a:ext>
            </a:extLst>
          </p:cNvPr>
          <p:cNvSpPr/>
          <p:nvPr/>
        </p:nvSpPr>
        <p:spPr>
          <a:xfrm>
            <a:off x="5812578" y="1449874"/>
            <a:ext cx="465041" cy="458902"/>
          </a:xfrm>
          <a:prstGeom prst="roundRect">
            <a:avLst>
              <a:gd name="adj" fmla="val 1060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1">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034" name="Picture 6" descr="75,000+ Credibility Icon Stock Illustrations, Royalty-Free ...">
            <a:extLst>
              <a:ext uri="{FF2B5EF4-FFF2-40B4-BE49-F238E27FC236}">
                <a16:creationId xmlns:a16="http://schemas.microsoft.com/office/drawing/2014/main" id="{E2074D51-9AAC-D8D7-9C8A-6B8DDB9AB366}"/>
              </a:ext>
            </a:extLst>
          </p:cNvPr>
          <p:cNvPicPr>
            <a:picLocks noChangeAspect="1" noChangeArrowheads="1"/>
          </p:cNvPicPr>
          <p:nvPr/>
        </p:nvPicPr>
        <p:blipFill>
          <a:blip r:embed="rId13">
            <a:extLst>
              <a:ext uri="{BEBA8EAE-BF5A-486C-A8C5-ECC9F3942E4B}">
                <a14:imgProps xmlns:a14="http://schemas.microsoft.com/office/drawing/2010/main">
                  <a14:imgLayer r:embed="rId14">
                    <a14:imgEffect>
                      <a14:backgroundRemoval t="676" b="96622" l="9043" r="89894">
                        <a14:foregroundMark x1="40426" y1="8108" x2="40426" y2="8108"/>
                        <a14:foregroundMark x1="50000" y1="1351" x2="50000" y2="1351"/>
                        <a14:foregroundMark x1="51596" y1="27703" x2="51596" y2="27703"/>
                        <a14:foregroundMark x1="29255" y1="91216" x2="29255" y2="91216"/>
                        <a14:foregroundMark x1="34043" y1="94595" x2="34043" y2="94595"/>
                        <a14:foregroundMark x1="56915" y1="96622" x2="56915" y2="96622"/>
                      </a14:backgroundRemoval>
                    </a14:imgEffect>
                  </a14:imgLayer>
                </a14:imgProps>
              </a:ext>
              <a:ext uri="{28A0092B-C50C-407E-A947-70E740481C1C}">
                <a14:useLocalDpi xmlns:a14="http://schemas.microsoft.com/office/drawing/2010/main" val="0"/>
              </a:ext>
            </a:extLst>
          </a:blip>
          <a:srcRect/>
          <a:stretch>
            <a:fillRect/>
          </a:stretch>
        </p:blipFill>
        <p:spPr bwMode="auto">
          <a:xfrm>
            <a:off x="5805075" y="1480048"/>
            <a:ext cx="523516" cy="412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854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9" name="Google Shape;1146;p36">
            <a:extLst>
              <a:ext uri="{FF2B5EF4-FFF2-40B4-BE49-F238E27FC236}">
                <a16:creationId xmlns:a16="http://schemas.microsoft.com/office/drawing/2014/main" id="{AF36D4D5-901E-B3CA-746C-D318A16974DA}"/>
              </a:ext>
            </a:extLst>
          </p:cNvPr>
          <p:cNvSpPr txBox="1">
            <a:spLocks noGrp="1"/>
          </p:cNvSpPr>
          <p:nvPr>
            <p:ph type="title"/>
          </p:nvPr>
        </p:nvSpPr>
        <p:spPr>
          <a:xfrm>
            <a:off x="1112003" y="7185"/>
            <a:ext cx="691999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Competitions Comparison</a:t>
            </a:r>
            <a:endParaRPr dirty="0">
              <a:latin typeface="Lato" panose="020F0502020204030203" pitchFamily="34" charset="0"/>
              <a:ea typeface="Lato" panose="020F0502020204030203" pitchFamily="34" charset="0"/>
              <a:cs typeface="Lato" panose="020F0502020204030203" pitchFamily="34" charset="0"/>
            </a:endParaRPr>
          </a:p>
        </p:txBody>
      </p:sp>
      <p:graphicFrame>
        <p:nvGraphicFramePr>
          <p:cNvPr id="10" name="Table 9">
            <a:extLst>
              <a:ext uri="{FF2B5EF4-FFF2-40B4-BE49-F238E27FC236}">
                <a16:creationId xmlns:a16="http://schemas.microsoft.com/office/drawing/2014/main" id="{BE61A852-7B00-4BFE-894A-90C47749C931}"/>
              </a:ext>
            </a:extLst>
          </p:cNvPr>
          <p:cNvGraphicFramePr>
            <a:graphicFrameLocks noGrp="1"/>
          </p:cNvGraphicFramePr>
          <p:nvPr>
            <p:extLst>
              <p:ext uri="{D42A27DB-BD31-4B8C-83A1-F6EECF244321}">
                <p14:modId xmlns:p14="http://schemas.microsoft.com/office/powerpoint/2010/main" val="1365387929"/>
              </p:ext>
            </p:extLst>
          </p:nvPr>
        </p:nvGraphicFramePr>
        <p:xfrm>
          <a:off x="476250" y="952694"/>
          <a:ext cx="8319038" cy="3315570"/>
        </p:xfrm>
        <a:graphic>
          <a:graphicData uri="http://schemas.openxmlformats.org/drawingml/2006/table">
            <a:tbl>
              <a:tblPr firstRow="1" bandRow="1">
                <a:tableStyleId>{A48569FF-5148-4313-B945-00A72C13E311}</a:tableStyleId>
              </a:tblPr>
              <a:tblGrid>
                <a:gridCol w="1726695">
                  <a:extLst>
                    <a:ext uri="{9D8B030D-6E8A-4147-A177-3AD203B41FA5}">
                      <a16:colId xmlns:a16="http://schemas.microsoft.com/office/drawing/2014/main" val="1265660882"/>
                    </a:ext>
                  </a:extLst>
                </a:gridCol>
                <a:gridCol w="872843">
                  <a:extLst>
                    <a:ext uri="{9D8B030D-6E8A-4147-A177-3AD203B41FA5}">
                      <a16:colId xmlns:a16="http://schemas.microsoft.com/office/drawing/2014/main" val="3878177618"/>
                    </a:ext>
                  </a:extLst>
                </a:gridCol>
                <a:gridCol w="934636">
                  <a:extLst>
                    <a:ext uri="{9D8B030D-6E8A-4147-A177-3AD203B41FA5}">
                      <a16:colId xmlns:a16="http://schemas.microsoft.com/office/drawing/2014/main" val="1922304239"/>
                    </a:ext>
                  </a:extLst>
                </a:gridCol>
                <a:gridCol w="857394">
                  <a:extLst>
                    <a:ext uri="{9D8B030D-6E8A-4147-A177-3AD203B41FA5}">
                      <a16:colId xmlns:a16="http://schemas.microsoft.com/office/drawing/2014/main" val="2539761749"/>
                    </a:ext>
                  </a:extLst>
                </a:gridCol>
                <a:gridCol w="1104570">
                  <a:extLst>
                    <a:ext uri="{9D8B030D-6E8A-4147-A177-3AD203B41FA5}">
                      <a16:colId xmlns:a16="http://schemas.microsoft.com/office/drawing/2014/main" val="3985030236"/>
                    </a:ext>
                  </a:extLst>
                </a:gridCol>
                <a:gridCol w="980982">
                  <a:extLst>
                    <a:ext uri="{9D8B030D-6E8A-4147-A177-3AD203B41FA5}">
                      <a16:colId xmlns:a16="http://schemas.microsoft.com/office/drawing/2014/main" val="698405199"/>
                    </a:ext>
                  </a:extLst>
                </a:gridCol>
                <a:gridCol w="919187">
                  <a:extLst>
                    <a:ext uri="{9D8B030D-6E8A-4147-A177-3AD203B41FA5}">
                      <a16:colId xmlns:a16="http://schemas.microsoft.com/office/drawing/2014/main" val="1798770464"/>
                    </a:ext>
                  </a:extLst>
                </a:gridCol>
                <a:gridCol w="922731">
                  <a:extLst>
                    <a:ext uri="{9D8B030D-6E8A-4147-A177-3AD203B41FA5}">
                      <a16:colId xmlns:a16="http://schemas.microsoft.com/office/drawing/2014/main" val="2081458078"/>
                    </a:ext>
                  </a:extLst>
                </a:gridCol>
              </a:tblGrid>
              <a:tr h="325265">
                <a:tc>
                  <a:txBody>
                    <a:bodyPr/>
                    <a:lstStyle/>
                    <a:p>
                      <a:pPr algn="ctr"/>
                      <a:endParaRPr lang="en-MY" sz="1100" dirty="0"/>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1" i="0" u="none" strike="noStrike" dirty="0" err="1">
                          <a:solidFill>
                            <a:schemeClr val="tx1"/>
                          </a:solidFill>
                          <a:effectLst/>
                          <a:latin typeface="Roboto" panose="02000000000000000000" pitchFamily="2" charset="0"/>
                        </a:rPr>
                        <a:t>LamaNiaga</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iProperty</a:t>
                      </a:r>
                      <a:r>
                        <a:rPr lang="en-MY" sz="1100" b="1" i="0" u="none" strike="noStrike" dirty="0">
                          <a:solidFill>
                            <a:schemeClr val="tx1"/>
                          </a:solidFill>
                          <a:effectLst/>
                          <a:latin typeface="Roboto" panose="02000000000000000000" pitchFamily="2" charset="0"/>
                        </a:rPr>
                        <a:t> + Property Guru</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Rentola</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buNone/>
                      </a:pPr>
                      <a:r>
                        <a:rPr lang="en-MY" sz="1100" b="1" i="0" u="none" strike="noStrike" dirty="0" err="1">
                          <a:solidFill>
                            <a:schemeClr val="tx1"/>
                          </a:solidFill>
                          <a:effectLst/>
                          <a:latin typeface="Roboto" panose="02000000000000000000" pitchFamily="2" charset="0"/>
                        </a:rPr>
                        <a:t>SpeedHome</a:t>
                      </a:r>
                      <a:endParaRPr lang="en-MY" sz="1100" b="0" i="0" u="none" strike="noStrike" dirty="0">
                        <a:solidFill>
                          <a:schemeClr val="tx1"/>
                        </a:solidFill>
                        <a:effectLst/>
                        <a:latin typeface="Aptos Narrow" panose="020B00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EasyRenz</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a:solidFill>
                            <a:schemeClr val="tx1"/>
                          </a:solidFill>
                          <a:effectLst/>
                          <a:latin typeface="Roboto" panose="02000000000000000000" pitchFamily="2" charset="0"/>
                        </a:rPr>
                        <a:t>Rent2U.my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ibilikPlus</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535879470"/>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Property Listings</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54387758"/>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Contact Landlord/Agent</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2872892483"/>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Tenant Screening</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284792716"/>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Digital Lease / e-Agreement</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solidFill>
                          <a:schemeClr val="tx1"/>
                        </a:solidFill>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2539968836"/>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Online Rent Payment</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900159046"/>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Automated Payment Tracking</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r>
                        <a:rPr lang="en-US" sz="1100" dirty="0"/>
                        <a:t>Partial</a:t>
                      </a: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317329888"/>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Maintenance Request/Communication</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sz="1100" dirty="0"/>
                        <a:t>Partial</a:t>
                      </a: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18381953"/>
                  </a:ext>
                </a:extLst>
              </a:tr>
              <a:tr h="325265">
                <a:tc>
                  <a:txBody>
                    <a:bodyPr/>
                    <a:lstStyle/>
                    <a:p>
                      <a:pPr algn="r" fontAlgn="ctr">
                        <a:buNone/>
                      </a:pPr>
                      <a:r>
                        <a:rPr lang="en-MY" sz="1100" b="0" i="0" u="none" strike="noStrike">
                          <a:solidFill>
                            <a:schemeClr val="bg1"/>
                          </a:solidFill>
                          <a:effectLst/>
                          <a:latin typeface="Roboto" panose="02000000000000000000" pitchFamily="2" charset="0"/>
                        </a:rPr>
                        <a:t>Accounting/Reporting</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755025033"/>
                  </a:ext>
                </a:extLst>
              </a:tr>
              <a:tr h="325265">
                <a:tc>
                  <a:txBody>
                    <a:bodyPr/>
                    <a:lstStyle/>
                    <a:p>
                      <a:pPr algn="r" fontAlgn="ctr">
                        <a:buNone/>
                      </a:pPr>
                      <a:r>
                        <a:rPr lang="en-MY" sz="1100" b="0" i="0" u="none" strike="noStrike" dirty="0">
                          <a:solidFill>
                            <a:schemeClr val="bg1"/>
                          </a:solidFill>
                          <a:effectLst/>
                          <a:latin typeface="Roboto" panose="02000000000000000000" pitchFamily="2" charset="0"/>
                        </a:rPr>
                        <a:t>Insurance/Protection</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en-MY" sz="11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92394046"/>
                  </a:ext>
                </a:extLst>
              </a:tr>
            </a:tbl>
          </a:graphicData>
        </a:graphic>
      </p:graphicFrame>
      <p:sp>
        <p:nvSpPr>
          <p:cNvPr id="14" name="Graphic 11" descr="Checkmark with solid fill">
            <a:extLst>
              <a:ext uri="{FF2B5EF4-FFF2-40B4-BE49-F238E27FC236}">
                <a16:creationId xmlns:a16="http://schemas.microsoft.com/office/drawing/2014/main" id="{E2E5C72A-6990-5DC6-A658-A1EFF9849480}"/>
              </a:ext>
            </a:extLst>
          </p:cNvPr>
          <p:cNvSpPr/>
          <p:nvPr/>
        </p:nvSpPr>
        <p:spPr>
          <a:xfrm>
            <a:off x="2516991" y="1297680"/>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27" name="Graphic 11" descr="Checkmark with solid fill">
            <a:extLst>
              <a:ext uri="{FF2B5EF4-FFF2-40B4-BE49-F238E27FC236}">
                <a16:creationId xmlns:a16="http://schemas.microsoft.com/office/drawing/2014/main" id="{D06E2142-E673-1502-0D92-852A632E8DE4}"/>
              </a:ext>
            </a:extLst>
          </p:cNvPr>
          <p:cNvSpPr/>
          <p:nvPr/>
        </p:nvSpPr>
        <p:spPr>
          <a:xfrm>
            <a:off x="2516991" y="1624133"/>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28" name="Graphic 11" descr="Checkmark with solid fill">
            <a:extLst>
              <a:ext uri="{FF2B5EF4-FFF2-40B4-BE49-F238E27FC236}">
                <a16:creationId xmlns:a16="http://schemas.microsoft.com/office/drawing/2014/main" id="{27ED2959-FC58-38C5-164B-747070F1332A}"/>
              </a:ext>
            </a:extLst>
          </p:cNvPr>
          <p:cNvSpPr/>
          <p:nvPr/>
        </p:nvSpPr>
        <p:spPr>
          <a:xfrm>
            <a:off x="2511158" y="1929262"/>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29" name="Graphic 11" descr="Checkmark with solid fill">
            <a:extLst>
              <a:ext uri="{FF2B5EF4-FFF2-40B4-BE49-F238E27FC236}">
                <a16:creationId xmlns:a16="http://schemas.microsoft.com/office/drawing/2014/main" id="{31842745-DD06-25BF-DBEB-E545398CD69D}"/>
              </a:ext>
            </a:extLst>
          </p:cNvPr>
          <p:cNvSpPr/>
          <p:nvPr/>
        </p:nvSpPr>
        <p:spPr>
          <a:xfrm>
            <a:off x="2503542" y="2254205"/>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30" name="Graphic 11" descr="Checkmark with solid fill">
            <a:extLst>
              <a:ext uri="{FF2B5EF4-FFF2-40B4-BE49-F238E27FC236}">
                <a16:creationId xmlns:a16="http://schemas.microsoft.com/office/drawing/2014/main" id="{E3EFA779-CA09-06B2-4306-D4BEB68D2368}"/>
              </a:ext>
            </a:extLst>
          </p:cNvPr>
          <p:cNvSpPr/>
          <p:nvPr/>
        </p:nvSpPr>
        <p:spPr>
          <a:xfrm>
            <a:off x="2503541" y="2616476"/>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31" name="Graphic 11" descr="Checkmark with solid fill">
            <a:extLst>
              <a:ext uri="{FF2B5EF4-FFF2-40B4-BE49-F238E27FC236}">
                <a16:creationId xmlns:a16="http://schemas.microsoft.com/office/drawing/2014/main" id="{8A80FD38-AB59-805F-93BA-8EB4EC28F8AA}"/>
              </a:ext>
            </a:extLst>
          </p:cNvPr>
          <p:cNvSpPr/>
          <p:nvPr/>
        </p:nvSpPr>
        <p:spPr>
          <a:xfrm>
            <a:off x="2511158" y="2936648"/>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32" name="Graphic 11" descr="Checkmark with solid fill">
            <a:extLst>
              <a:ext uri="{FF2B5EF4-FFF2-40B4-BE49-F238E27FC236}">
                <a16:creationId xmlns:a16="http://schemas.microsoft.com/office/drawing/2014/main" id="{2B3AFFAE-F17E-1896-B1D7-8FEF986076E1}"/>
              </a:ext>
            </a:extLst>
          </p:cNvPr>
          <p:cNvSpPr/>
          <p:nvPr/>
        </p:nvSpPr>
        <p:spPr>
          <a:xfrm>
            <a:off x="2514973" y="3266460"/>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33" name="Graphic 11" descr="Checkmark with solid fill">
            <a:extLst>
              <a:ext uri="{FF2B5EF4-FFF2-40B4-BE49-F238E27FC236}">
                <a16:creationId xmlns:a16="http://schemas.microsoft.com/office/drawing/2014/main" id="{2934B0F1-BA40-C243-ABF5-DC326EC1042E}"/>
              </a:ext>
            </a:extLst>
          </p:cNvPr>
          <p:cNvSpPr/>
          <p:nvPr/>
        </p:nvSpPr>
        <p:spPr>
          <a:xfrm>
            <a:off x="2503540" y="3596272"/>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35" name="Graphic 11" descr="Checkmark with solid fill">
            <a:extLst>
              <a:ext uri="{FF2B5EF4-FFF2-40B4-BE49-F238E27FC236}">
                <a16:creationId xmlns:a16="http://schemas.microsoft.com/office/drawing/2014/main" id="{38E3820B-0D01-82E7-BE2F-2F21E81EC5F7}"/>
              </a:ext>
            </a:extLst>
          </p:cNvPr>
          <p:cNvSpPr/>
          <p:nvPr/>
        </p:nvSpPr>
        <p:spPr>
          <a:xfrm>
            <a:off x="3328069" y="1624132"/>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37" name="Graphic 11" descr="Checkmark with solid fill">
            <a:extLst>
              <a:ext uri="{FF2B5EF4-FFF2-40B4-BE49-F238E27FC236}">
                <a16:creationId xmlns:a16="http://schemas.microsoft.com/office/drawing/2014/main" id="{2B1B5142-9FEF-720F-8A8B-A7F7D39AC0E1}"/>
              </a:ext>
            </a:extLst>
          </p:cNvPr>
          <p:cNvSpPr/>
          <p:nvPr/>
        </p:nvSpPr>
        <p:spPr>
          <a:xfrm>
            <a:off x="3332136" y="1297680"/>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38" name="Graphic 15" descr="Close with solid fill">
            <a:extLst>
              <a:ext uri="{FF2B5EF4-FFF2-40B4-BE49-F238E27FC236}">
                <a16:creationId xmlns:a16="http://schemas.microsoft.com/office/drawing/2014/main" id="{B1D3B6C7-D8F1-D54A-1B6A-FAB203622403}"/>
              </a:ext>
            </a:extLst>
          </p:cNvPr>
          <p:cNvSpPr/>
          <p:nvPr/>
        </p:nvSpPr>
        <p:spPr>
          <a:xfrm>
            <a:off x="3328069" y="1961579"/>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39" name="Graphic 15" descr="Close with solid fill">
            <a:extLst>
              <a:ext uri="{FF2B5EF4-FFF2-40B4-BE49-F238E27FC236}">
                <a16:creationId xmlns:a16="http://schemas.microsoft.com/office/drawing/2014/main" id="{34E71F62-A16E-4674-7ED8-7B5265713E1F}"/>
              </a:ext>
            </a:extLst>
          </p:cNvPr>
          <p:cNvSpPr/>
          <p:nvPr/>
        </p:nvSpPr>
        <p:spPr>
          <a:xfrm>
            <a:off x="3328069" y="2277036"/>
            <a:ext cx="244438" cy="241903"/>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0" name="Graphic 15" descr="Close with solid fill">
            <a:extLst>
              <a:ext uri="{FF2B5EF4-FFF2-40B4-BE49-F238E27FC236}">
                <a16:creationId xmlns:a16="http://schemas.microsoft.com/office/drawing/2014/main" id="{2787983E-E7A4-0053-610D-888CECC2A240}"/>
              </a:ext>
            </a:extLst>
          </p:cNvPr>
          <p:cNvSpPr/>
          <p:nvPr/>
        </p:nvSpPr>
        <p:spPr>
          <a:xfrm>
            <a:off x="3334794" y="2624562"/>
            <a:ext cx="244438" cy="241903"/>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1" name="Graphic 15" descr="Close with solid fill">
            <a:extLst>
              <a:ext uri="{FF2B5EF4-FFF2-40B4-BE49-F238E27FC236}">
                <a16:creationId xmlns:a16="http://schemas.microsoft.com/office/drawing/2014/main" id="{730AF139-3E1A-0CCC-A15D-DA63F4E9E4E2}"/>
              </a:ext>
            </a:extLst>
          </p:cNvPr>
          <p:cNvSpPr/>
          <p:nvPr/>
        </p:nvSpPr>
        <p:spPr>
          <a:xfrm>
            <a:off x="3328069" y="2953851"/>
            <a:ext cx="244438" cy="241903"/>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2" name="Graphic 15" descr="Close with solid fill">
            <a:extLst>
              <a:ext uri="{FF2B5EF4-FFF2-40B4-BE49-F238E27FC236}">
                <a16:creationId xmlns:a16="http://schemas.microsoft.com/office/drawing/2014/main" id="{0C535D3B-E1B6-F9FA-BB0F-99B87D6B446C}"/>
              </a:ext>
            </a:extLst>
          </p:cNvPr>
          <p:cNvSpPr/>
          <p:nvPr/>
        </p:nvSpPr>
        <p:spPr>
          <a:xfrm>
            <a:off x="3334794" y="3307005"/>
            <a:ext cx="244438" cy="241903"/>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3" name="Graphic 15" descr="Close with solid fill">
            <a:extLst>
              <a:ext uri="{FF2B5EF4-FFF2-40B4-BE49-F238E27FC236}">
                <a16:creationId xmlns:a16="http://schemas.microsoft.com/office/drawing/2014/main" id="{6EB58BD6-1C2D-8D0F-72D8-F1F885C60771}"/>
              </a:ext>
            </a:extLst>
          </p:cNvPr>
          <p:cNvSpPr/>
          <p:nvPr/>
        </p:nvSpPr>
        <p:spPr>
          <a:xfrm>
            <a:off x="3328069" y="3627234"/>
            <a:ext cx="244438" cy="241903"/>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4" name="Graphic 15" descr="Close with solid fill">
            <a:extLst>
              <a:ext uri="{FF2B5EF4-FFF2-40B4-BE49-F238E27FC236}">
                <a16:creationId xmlns:a16="http://schemas.microsoft.com/office/drawing/2014/main" id="{490C0530-2F99-1EC9-CB58-B9619D50AC7B}"/>
              </a:ext>
            </a:extLst>
          </p:cNvPr>
          <p:cNvSpPr/>
          <p:nvPr/>
        </p:nvSpPr>
        <p:spPr>
          <a:xfrm>
            <a:off x="3328069" y="3973995"/>
            <a:ext cx="244438" cy="241903"/>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5" name="Graphic 11" descr="Checkmark with solid fill">
            <a:extLst>
              <a:ext uri="{FF2B5EF4-FFF2-40B4-BE49-F238E27FC236}">
                <a16:creationId xmlns:a16="http://schemas.microsoft.com/office/drawing/2014/main" id="{4B95285A-8260-A988-673E-F9D5AEFF00EB}"/>
              </a:ext>
            </a:extLst>
          </p:cNvPr>
          <p:cNvSpPr/>
          <p:nvPr/>
        </p:nvSpPr>
        <p:spPr>
          <a:xfrm>
            <a:off x="4247635" y="1624132"/>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46" name="Graphic 11" descr="Checkmark with solid fill">
            <a:extLst>
              <a:ext uri="{FF2B5EF4-FFF2-40B4-BE49-F238E27FC236}">
                <a16:creationId xmlns:a16="http://schemas.microsoft.com/office/drawing/2014/main" id="{BB1C7722-C5CF-5495-9DF5-8843F9832706}"/>
              </a:ext>
            </a:extLst>
          </p:cNvPr>
          <p:cNvSpPr/>
          <p:nvPr/>
        </p:nvSpPr>
        <p:spPr>
          <a:xfrm>
            <a:off x="4251702" y="1297680"/>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47" name="Graphic 15" descr="Close with solid fill">
            <a:extLst>
              <a:ext uri="{FF2B5EF4-FFF2-40B4-BE49-F238E27FC236}">
                <a16:creationId xmlns:a16="http://schemas.microsoft.com/office/drawing/2014/main" id="{BB378D86-4E8C-965C-E20A-76BF4D33E43C}"/>
              </a:ext>
            </a:extLst>
          </p:cNvPr>
          <p:cNvSpPr/>
          <p:nvPr/>
        </p:nvSpPr>
        <p:spPr>
          <a:xfrm>
            <a:off x="4247635" y="1942922"/>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8" name="Graphic 15" descr="Close with solid fill">
            <a:extLst>
              <a:ext uri="{FF2B5EF4-FFF2-40B4-BE49-F238E27FC236}">
                <a16:creationId xmlns:a16="http://schemas.microsoft.com/office/drawing/2014/main" id="{81797D02-D8FE-F0BF-F73F-F684B9EDB30F}"/>
              </a:ext>
            </a:extLst>
          </p:cNvPr>
          <p:cNvSpPr/>
          <p:nvPr/>
        </p:nvSpPr>
        <p:spPr>
          <a:xfrm>
            <a:off x="4247635" y="2277036"/>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49" name="Graphic 15" descr="Close with solid fill">
            <a:extLst>
              <a:ext uri="{FF2B5EF4-FFF2-40B4-BE49-F238E27FC236}">
                <a16:creationId xmlns:a16="http://schemas.microsoft.com/office/drawing/2014/main" id="{86A0B2BA-5C91-D87A-0929-5A4E5BB3D7B5}"/>
              </a:ext>
            </a:extLst>
          </p:cNvPr>
          <p:cNvSpPr/>
          <p:nvPr/>
        </p:nvSpPr>
        <p:spPr>
          <a:xfrm>
            <a:off x="4247635" y="2603374"/>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50" name="Graphic 15" descr="Close with solid fill">
            <a:extLst>
              <a:ext uri="{FF2B5EF4-FFF2-40B4-BE49-F238E27FC236}">
                <a16:creationId xmlns:a16="http://schemas.microsoft.com/office/drawing/2014/main" id="{1A1BB53C-1E19-72A4-E74C-9B5ECB40A4A0}"/>
              </a:ext>
            </a:extLst>
          </p:cNvPr>
          <p:cNvSpPr/>
          <p:nvPr/>
        </p:nvSpPr>
        <p:spPr>
          <a:xfrm>
            <a:off x="4247635" y="2952161"/>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51" name="Graphic 15" descr="Close with solid fill">
            <a:extLst>
              <a:ext uri="{FF2B5EF4-FFF2-40B4-BE49-F238E27FC236}">
                <a16:creationId xmlns:a16="http://schemas.microsoft.com/office/drawing/2014/main" id="{BECFD5E0-CA9A-0996-E80D-D3A3E967B4CE}"/>
              </a:ext>
            </a:extLst>
          </p:cNvPr>
          <p:cNvSpPr/>
          <p:nvPr/>
        </p:nvSpPr>
        <p:spPr>
          <a:xfrm>
            <a:off x="4247635" y="3288451"/>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52" name="Graphic 15" descr="Close with solid fill">
            <a:extLst>
              <a:ext uri="{FF2B5EF4-FFF2-40B4-BE49-F238E27FC236}">
                <a16:creationId xmlns:a16="http://schemas.microsoft.com/office/drawing/2014/main" id="{C1D7DF83-D6AC-3363-0EB1-67DF57B484A0}"/>
              </a:ext>
            </a:extLst>
          </p:cNvPr>
          <p:cNvSpPr/>
          <p:nvPr/>
        </p:nvSpPr>
        <p:spPr>
          <a:xfrm>
            <a:off x="4247635" y="3607267"/>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53" name="Graphic 15" descr="Close with solid fill">
            <a:extLst>
              <a:ext uri="{FF2B5EF4-FFF2-40B4-BE49-F238E27FC236}">
                <a16:creationId xmlns:a16="http://schemas.microsoft.com/office/drawing/2014/main" id="{2AF05C4D-4924-323A-8AD7-1BA7E6C7DAA9}"/>
              </a:ext>
            </a:extLst>
          </p:cNvPr>
          <p:cNvSpPr/>
          <p:nvPr/>
        </p:nvSpPr>
        <p:spPr>
          <a:xfrm>
            <a:off x="4247635" y="3948903"/>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54" name="Graphic 11" descr="Checkmark with solid fill">
            <a:extLst>
              <a:ext uri="{FF2B5EF4-FFF2-40B4-BE49-F238E27FC236}">
                <a16:creationId xmlns:a16="http://schemas.microsoft.com/office/drawing/2014/main" id="{064948DC-7079-E868-E328-D26A886FA326}"/>
              </a:ext>
            </a:extLst>
          </p:cNvPr>
          <p:cNvSpPr/>
          <p:nvPr/>
        </p:nvSpPr>
        <p:spPr>
          <a:xfrm>
            <a:off x="5259118" y="1297679"/>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55" name="Graphic 11" descr="Checkmark with solid fill">
            <a:extLst>
              <a:ext uri="{FF2B5EF4-FFF2-40B4-BE49-F238E27FC236}">
                <a16:creationId xmlns:a16="http://schemas.microsoft.com/office/drawing/2014/main" id="{10B017DA-9F88-AA03-4BC0-FC4B4C931543}"/>
              </a:ext>
            </a:extLst>
          </p:cNvPr>
          <p:cNvSpPr/>
          <p:nvPr/>
        </p:nvSpPr>
        <p:spPr>
          <a:xfrm>
            <a:off x="5259118" y="1624131"/>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56" name="Graphic 11" descr="Checkmark with solid fill">
            <a:extLst>
              <a:ext uri="{FF2B5EF4-FFF2-40B4-BE49-F238E27FC236}">
                <a16:creationId xmlns:a16="http://schemas.microsoft.com/office/drawing/2014/main" id="{DE91E412-E8D9-544A-7871-23602686E6C4}"/>
              </a:ext>
            </a:extLst>
          </p:cNvPr>
          <p:cNvSpPr/>
          <p:nvPr/>
        </p:nvSpPr>
        <p:spPr>
          <a:xfrm>
            <a:off x="5251493" y="1948277"/>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57" name="Graphic 11" descr="Checkmark with solid fill">
            <a:extLst>
              <a:ext uri="{FF2B5EF4-FFF2-40B4-BE49-F238E27FC236}">
                <a16:creationId xmlns:a16="http://schemas.microsoft.com/office/drawing/2014/main" id="{FE676A99-5F5B-F0B2-6618-8847200A8628}"/>
              </a:ext>
            </a:extLst>
          </p:cNvPr>
          <p:cNvSpPr/>
          <p:nvPr/>
        </p:nvSpPr>
        <p:spPr>
          <a:xfrm>
            <a:off x="5243877" y="2254205"/>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58" name="Graphic 11" descr="Checkmark with solid fill">
            <a:extLst>
              <a:ext uri="{FF2B5EF4-FFF2-40B4-BE49-F238E27FC236}">
                <a16:creationId xmlns:a16="http://schemas.microsoft.com/office/drawing/2014/main" id="{18C89A06-E531-FADA-C9F3-9ECAE49343F8}"/>
              </a:ext>
            </a:extLst>
          </p:cNvPr>
          <p:cNvSpPr/>
          <p:nvPr/>
        </p:nvSpPr>
        <p:spPr>
          <a:xfrm>
            <a:off x="5240513" y="2598875"/>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59" name="Graphic 15" descr="Close with solid fill">
            <a:extLst>
              <a:ext uri="{FF2B5EF4-FFF2-40B4-BE49-F238E27FC236}">
                <a16:creationId xmlns:a16="http://schemas.microsoft.com/office/drawing/2014/main" id="{B660EFC7-332C-564A-633D-D0F05ADB846F}"/>
              </a:ext>
            </a:extLst>
          </p:cNvPr>
          <p:cNvSpPr/>
          <p:nvPr/>
        </p:nvSpPr>
        <p:spPr>
          <a:xfrm>
            <a:off x="5252376" y="3607267"/>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60" name="Graphic 11" descr="Checkmark with solid fill">
            <a:extLst>
              <a:ext uri="{FF2B5EF4-FFF2-40B4-BE49-F238E27FC236}">
                <a16:creationId xmlns:a16="http://schemas.microsoft.com/office/drawing/2014/main" id="{FDD10035-47F5-A41F-4AD1-8387589FD83B}"/>
              </a:ext>
            </a:extLst>
          </p:cNvPr>
          <p:cNvSpPr/>
          <p:nvPr/>
        </p:nvSpPr>
        <p:spPr>
          <a:xfrm>
            <a:off x="5238925" y="3948903"/>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61" name="Graphic 15" descr="Close with solid fill">
            <a:extLst>
              <a:ext uri="{FF2B5EF4-FFF2-40B4-BE49-F238E27FC236}">
                <a16:creationId xmlns:a16="http://schemas.microsoft.com/office/drawing/2014/main" id="{9709DD90-7E3E-02CC-2B10-A9755C2B493D}"/>
              </a:ext>
            </a:extLst>
          </p:cNvPr>
          <p:cNvSpPr/>
          <p:nvPr/>
        </p:nvSpPr>
        <p:spPr>
          <a:xfrm>
            <a:off x="6369122" y="1308674"/>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62" name="Graphic 15" descr="Close with solid fill">
            <a:extLst>
              <a:ext uri="{FF2B5EF4-FFF2-40B4-BE49-F238E27FC236}">
                <a16:creationId xmlns:a16="http://schemas.microsoft.com/office/drawing/2014/main" id="{04BFDB46-5624-3A23-C7EC-3E16B40A5058}"/>
              </a:ext>
            </a:extLst>
          </p:cNvPr>
          <p:cNvSpPr/>
          <p:nvPr/>
        </p:nvSpPr>
        <p:spPr>
          <a:xfrm>
            <a:off x="6369122" y="1635126"/>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63" name="Graphic 15" descr="Close with solid fill">
            <a:extLst>
              <a:ext uri="{FF2B5EF4-FFF2-40B4-BE49-F238E27FC236}">
                <a16:creationId xmlns:a16="http://schemas.microsoft.com/office/drawing/2014/main" id="{EF719243-7EF5-ABF6-BBE4-D8931525E1C1}"/>
              </a:ext>
            </a:extLst>
          </p:cNvPr>
          <p:cNvSpPr/>
          <p:nvPr/>
        </p:nvSpPr>
        <p:spPr>
          <a:xfrm>
            <a:off x="6369122" y="1951253"/>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2048" name="Graphic 11" descr="Checkmark with solid fill">
            <a:extLst>
              <a:ext uri="{FF2B5EF4-FFF2-40B4-BE49-F238E27FC236}">
                <a16:creationId xmlns:a16="http://schemas.microsoft.com/office/drawing/2014/main" id="{1A62E4F5-A866-5464-379F-77B2BB7A2B15}"/>
              </a:ext>
            </a:extLst>
          </p:cNvPr>
          <p:cNvSpPr/>
          <p:nvPr/>
        </p:nvSpPr>
        <p:spPr>
          <a:xfrm>
            <a:off x="6355671" y="2270944"/>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2049" name="Graphic 11" descr="Checkmark with solid fill">
            <a:extLst>
              <a:ext uri="{FF2B5EF4-FFF2-40B4-BE49-F238E27FC236}">
                <a16:creationId xmlns:a16="http://schemas.microsoft.com/office/drawing/2014/main" id="{174B32C6-A64B-C3C1-22BC-ABC03794149D}"/>
              </a:ext>
            </a:extLst>
          </p:cNvPr>
          <p:cNvSpPr/>
          <p:nvPr/>
        </p:nvSpPr>
        <p:spPr>
          <a:xfrm>
            <a:off x="6355670" y="2603099"/>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2111" name="Graphic 11" descr="Checkmark with solid fill">
            <a:extLst>
              <a:ext uri="{FF2B5EF4-FFF2-40B4-BE49-F238E27FC236}">
                <a16:creationId xmlns:a16="http://schemas.microsoft.com/office/drawing/2014/main" id="{8B25BE7D-C30D-ABB1-207D-6E94086360C7}"/>
              </a:ext>
            </a:extLst>
          </p:cNvPr>
          <p:cNvSpPr/>
          <p:nvPr/>
        </p:nvSpPr>
        <p:spPr>
          <a:xfrm>
            <a:off x="6355669" y="2919034"/>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80" name="Graphic 11" descr="Checkmark with solid fill">
            <a:extLst>
              <a:ext uri="{FF2B5EF4-FFF2-40B4-BE49-F238E27FC236}">
                <a16:creationId xmlns:a16="http://schemas.microsoft.com/office/drawing/2014/main" id="{50A80FF6-D01D-3043-DC99-F7F8A827994B}"/>
              </a:ext>
            </a:extLst>
          </p:cNvPr>
          <p:cNvSpPr/>
          <p:nvPr/>
        </p:nvSpPr>
        <p:spPr>
          <a:xfrm>
            <a:off x="6355668" y="3262283"/>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81" name="Graphic 11" descr="Checkmark with solid fill">
            <a:extLst>
              <a:ext uri="{FF2B5EF4-FFF2-40B4-BE49-F238E27FC236}">
                <a16:creationId xmlns:a16="http://schemas.microsoft.com/office/drawing/2014/main" id="{5E4BF60B-9BCD-40F6-954B-216ADA8B9B26}"/>
              </a:ext>
            </a:extLst>
          </p:cNvPr>
          <p:cNvSpPr/>
          <p:nvPr/>
        </p:nvSpPr>
        <p:spPr>
          <a:xfrm>
            <a:off x="6355667" y="3608385"/>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82" name="Graphic 15" descr="Close with solid fill">
            <a:extLst>
              <a:ext uri="{FF2B5EF4-FFF2-40B4-BE49-F238E27FC236}">
                <a16:creationId xmlns:a16="http://schemas.microsoft.com/office/drawing/2014/main" id="{DB54B7D3-2814-E991-A1D7-6E5E4DC1D1E4}"/>
              </a:ext>
            </a:extLst>
          </p:cNvPr>
          <p:cNvSpPr/>
          <p:nvPr/>
        </p:nvSpPr>
        <p:spPr>
          <a:xfrm>
            <a:off x="6355667" y="3951634"/>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83" name="Graphic 15" descr="Close with solid fill">
            <a:extLst>
              <a:ext uri="{FF2B5EF4-FFF2-40B4-BE49-F238E27FC236}">
                <a16:creationId xmlns:a16="http://schemas.microsoft.com/office/drawing/2014/main" id="{35B034BF-899D-75AF-F27F-6F00E6034F4D}"/>
              </a:ext>
            </a:extLst>
          </p:cNvPr>
          <p:cNvSpPr/>
          <p:nvPr/>
        </p:nvSpPr>
        <p:spPr>
          <a:xfrm>
            <a:off x="2503540" y="3953944"/>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84" name="Graphic 11" descr="Checkmark with solid fill">
            <a:extLst>
              <a:ext uri="{FF2B5EF4-FFF2-40B4-BE49-F238E27FC236}">
                <a16:creationId xmlns:a16="http://schemas.microsoft.com/office/drawing/2014/main" id="{C9176DD1-1FE7-2339-5A5A-C2AFCFA5C2EE}"/>
              </a:ext>
            </a:extLst>
          </p:cNvPr>
          <p:cNvSpPr/>
          <p:nvPr/>
        </p:nvSpPr>
        <p:spPr>
          <a:xfrm>
            <a:off x="7299859" y="1286683"/>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85" name="Graphic 11" descr="Checkmark with solid fill">
            <a:extLst>
              <a:ext uri="{FF2B5EF4-FFF2-40B4-BE49-F238E27FC236}">
                <a16:creationId xmlns:a16="http://schemas.microsoft.com/office/drawing/2014/main" id="{D65E6D87-3C23-3B37-629C-38A1E6814E90}"/>
              </a:ext>
            </a:extLst>
          </p:cNvPr>
          <p:cNvSpPr/>
          <p:nvPr/>
        </p:nvSpPr>
        <p:spPr>
          <a:xfrm>
            <a:off x="7299859" y="1613135"/>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86" name="Graphic 15" descr="Close with solid fill">
            <a:extLst>
              <a:ext uri="{FF2B5EF4-FFF2-40B4-BE49-F238E27FC236}">
                <a16:creationId xmlns:a16="http://schemas.microsoft.com/office/drawing/2014/main" id="{A0422177-D26D-1455-7044-1AFDBD41506E}"/>
              </a:ext>
            </a:extLst>
          </p:cNvPr>
          <p:cNvSpPr/>
          <p:nvPr/>
        </p:nvSpPr>
        <p:spPr>
          <a:xfrm>
            <a:off x="7299852" y="1955228"/>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87" name="Graphic 15" descr="Close with solid fill">
            <a:extLst>
              <a:ext uri="{FF2B5EF4-FFF2-40B4-BE49-F238E27FC236}">
                <a16:creationId xmlns:a16="http://schemas.microsoft.com/office/drawing/2014/main" id="{05ECE634-6C23-6307-F92A-20E87749355B}"/>
              </a:ext>
            </a:extLst>
          </p:cNvPr>
          <p:cNvSpPr/>
          <p:nvPr/>
        </p:nvSpPr>
        <p:spPr>
          <a:xfrm>
            <a:off x="7306584" y="2288031"/>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88" name="Graphic 15" descr="Close with solid fill">
            <a:extLst>
              <a:ext uri="{FF2B5EF4-FFF2-40B4-BE49-F238E27FC236}">
                <a16:creationId xmlns:a16="http://schemas.microsoft.com/office/drawing/2014/main" id="{66D579FF-F39C-BDB4-800D-46A59023C6D8}"/>
              </a:ext>
            </a:extLst>
          </p:cNvPr>
          <p:cNvSpPr/>
          <p:nvPr/>
        </p:nvSpPr>
        <p:spPr>
          <a:xfrm>
            <a:off x="7306584" y="2635557"/>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89" name="Graphic 15" descr="Close with solid fill">
            <a:extLst>
              <a:ext uri="{FF2B5EF4-FFF2-40B4-BE49-F238E27FC236}">
                <a16:creationId xmlns:a16="http://schemas.microsoft.com/office/drawing/2014/main" id="{6A646B23-8FB9-B1A5-78CC-95CD6D5A0AA1}"/>
              </a:ext>
            </a:extLst>
          </p:cNvPr>
          <p:cNvSpPr/>
          <p:nvPr/>
        </p:nvSpPr>
        <p:spPr>
          <a:xfrm>
            <a:off x="7299852" y="2958639"/>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90" name="Graphic 15" descr="Close with solid fill">
            <a:extLst>
              <a:ext uri="{FF2B5EF4-FFF2-40B4-BE49-F238E27FC236}">
                <a16:creationId xmlns:a16="http://schemas.microsoft.com/office/drawing/2014/main" id="{AE418E36-777E-AE88-393C-5A8506E1A37A}"/>
              </a:ext>
            </a:extLst>
          </p:cNvPr>
          <p:cNvSpPr/>
          <p:nvPr/>
        </p:nvSpPr>
        <p:spPr>
          <a:xfrm>
            <a:off x="7299852" y="3296009"/>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91" name="Graphic 15" descr="Close with solid fill">
            <a:extLst>
              <a:ext uri="{FF2B5EF4-FFF2-40B4-BE49-F238E27FC236}">
                <a16:creationId xmlns:a16="http://schemas.microsoft.com/office/drawing/2014/main" id="{BEA266C2-0799-6FEC-0162-5FCC5C6B3401}"/>
              </a:ext>
            </a:extLst>
          </p:cNvPr>
          <p:cNvSpPr/>
          <p:nvPr/>
        </p:nvSpPr>
        <p:spPr>
          <a:xfrm>
            <a:off x="7299852" y="3638968"/>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92" name="Graphic 15" descr="Close with solid fill">
            <a:extLst>
              <a:ext uri="{FF2B5EF4-FFF2-40B4-BE49-F238E27FC236}">
                <a16:creationId xmlns:a16="http://schemas.microsoft.com/office/drawing/2014/main" id="{46A9976A-B93E-6F0A-CAF4-34094AF63521}"/>
              </a:ext>
            </a:extLst>
          </p:cNvPr>
          <p:cNvSpPr/>
          <p:nvPr/>
        </p:nvSpPr>
        <p:spPr>
          <a:xfrm>
            <a:off x="7299852" y="3959898"/>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93" name="Graphic 15" descr="Close with solid fill">
            <a:extLst>
              <a:ext uri="{FF2B5EF4-FFF2-40B4-BE49-F238E27FC236}">
                <a16:creationId xmlns:a16="http://schemas.microsoft.com/office/drawing/2014/main" id="{89B44540-C2B9-0974-882B-A335D33C320E}"/>
              </a:ext>
            </a:extLst>
          </p:cNvPr>
          <p:cNvSpPr/>
          <p:nvPr/>
        </p:nvSpPr>
        <p:spPr>
          <a:xfrm>
            <a:off x="8185056" y="1308674"/>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94" name="Graphic 15" descr="Close with solid fill">
            <a:extLst>
              <a:ext uri="{FF2B5EF4-FFF2-40B4-BE49-F238E27FC236}">
                <a16:creationId xmlns:a16="http://schemas.microsoft.com/office/drawing/2014/main" id="{4A1F6D1E-832C-2B4A-3F7A-EC5406AD0E87}"/>
              </a:ext>
            </a:extLst>
          </p:cNvPr>
          <p:cNvSpPr/>
          <p:nvPr/>
        </p:nvSpPr>
        <p:spPr>
          <a:xfrm>
            <a:off x="8185056" y="1629945"/>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sp>
        <p:nvSpPr>
          <p:cNvPr id="1295" name="Graphic 11" descr="Checkmark with solid fill">
            <a:extLst>
              <a:ext uri="{FF2B5EF4-FFF2-40B4-BE49-F238E27FC236}">
                <a16:creationId xmlns:a16="http://schemas.microsoft.com/office/drawing/2014/main" id="{9D2C6BF2-5B17-FAD2-4B15-C696D6934AFC}"/>
              </a:ext>
            </a:extLst>
          </p:cNvPr>
          <p:cNvSpPr/>
          <p:nvPr/>
        </p:nvSpPr>
        <p:spPr>
          <a:xfrm>
            <a:off x="8185056" y="1939311"/>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96" name="Graphic 11" descr="Checkmark with solid fill">
            <a:extLst>
              <a:ext uri="{FF2B5EF4-FFF2-40B4-BE49-F238E27FC236}">
                <a16:creationId xmlns:a16="http://schemas.microsoft.com/office/drawing/2014/main" id="{8C404A6F-46F3-0D44-C104-FFA1E1F7E6E8}"/>
              </a:ext>
            </a:extLst>
          </p:cNvPr>
          <p:cNvSpPr/>
          <p:nvPr/>
        </p:nvSpPr>
        <p:spPr>
          <a:xfrm>
            <a:off x="8185055" y="2270668"/>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97" name="Graphic 11" descr="Checkmark with solid fill">
            <a:extLst>
              <a:ext uri="{FF2B5EF4-FFF2-40B4-BE49-F238E27FC236}">
                <a16:creationId xmlns:a16="http://schemas.microsoft.com/office/drawing/2014/main" id="{74F620C0-774F-9279-FB7E-D48727900097}"/>
              </a:ext>
            </a:extLst>
          </p:cNvPr>
          <p:cNvSpPr/>
          <p:nvPr/>
        </p:nvSpPr>
        <p:spPr>
          <a:xfrm>
            <a:off x="8185055" y="2599339"/>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98" name="Graphic 11" descr="Checkmark with solid fill">
            <a:extLst>
              <a:ext uri="{FF2B5EF4-FFF2-40B4-BE49-F238E27FC236}">
                <a16:creationId xmlns:a16="http://schemas.microsoft.com/office/drawing/2014/main" id="{3A87F560-9AAD-11DA-5346-EB500088DF39}"/>
              </a:ext>
            </a:extLst>
          </p:cNvPr>
          <p:cNvSpPr/>
          <p:nvPr/>
        </p:nvSpPr>
        <p:spPr>
          <a:xfrm>
            <a:off x="8185055" y="2945612"/>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299" name="Graphic 11" descr="Checkmark with solid fill">
            <a:extLst>
              <a:ext uri="{FF2B5EF4-FFF2-40B4-BE49-F238E27FC236}">
                <a16:creationId xmlns:a16="http://schemas.microsoft.com/office/drawing/2014/main" id="{CAC31EA1-9249-8682-0FBD-366DABA97650}"/>
              </a:ext>
            </a:extLst>
          </p:cNvPr>
          <p:cNvSpPr/>
          <p:nvPr/>
        </p:nvSpPr>
        <p:spPr>
          <a:xfrm>
            <a:off x="8185055" y="3277121"/>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300" name="Graphic 11" descr="Checkmark with solid fill">
            <a:extLst>
              <a:ext uri="{FF2B5EF4-FFF2-40B4-BE49-F238E27FC236}">
                <a16:creationId xmlns:a16="http://schemas.microsoft.com/office/drawing/2014/main" id="{BD574CB5-FCC6-D91C-DB4A-A19E3B4CFF65}"/>
              </a:ext>
            </a:extLst>
          </p:cNvPr>
          <p:cNvSpPr/>
          <p:nvPr/>
        </p:nvSpPr>
        <p:spPr>
          <a:xfrm>
            <a:off x="8185055" y="3607267"/>
            <a:ext cx="257889" cy="241903"/>
          </a:xfrm>
          <a:custGeom>
            <a:avLst/>
            <a:gdLst>
              <a:gd name="csX0" fmla="*/ 293454 w 321650"/>
              <a:gd name="csY0" fmla="*/ 0 h 225920"/>
              <a:gd name="csX1" fmla="*/ 115223 w 321650"/>
              <a:gd name="csY1" fmla="*/ 168483 h 225920"/>
              <a:gd name="csX2" fmla="*/ 29589 w 321650"/>
              <a:gd name="csY2" fmla="*/ 80761 h 225920"/>
              <a:gd name="csX3" fmla="*/ 0 w 321650"/>
              <a:gd name="csY3" fmla="*/ 108957 h 225920"/>
              <a:gd name="csX4" fmla="*/ 113831 w 321650"/>
              <a:gd name="csY4" fmla="*/ 225921 h 225920"/>
              <a:gd name="csX5" fmla="*/ 143768 w 321650"/>
              <a:gd name="csY5" fmla="*/ 198072 h 225920"/>
              <a:gd name="csX6" fmla="*/ 321650 w 321650"/>
              <a:gd name="csY6" fmla="*/ 29241 h 2259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1650" h="225920">
                <a:moveTo>
                  <a:pt x="293454" y="0"/>
                </a:moveTo>
                <a:lnTo>
                  <a:pt x="115223" y="168483"/>
                </a:lnTo>
                <a:lnTo>
                  <a:pt x="29589" y="80761"/>
                </a:lnTo>
                <a:lnTo>
                  <a:pt x="0" y="108957"/>
                </a:lnTo>
                <a:lnTo>
                  <a:pt x="113831" y="225921"/>
                </a:lnTo>
                <a:lnTo>
                  <a:pt x="143768" y="198072"/>
                </a:lnTo>
                <a:lnTo>
                  <a:pt x="321650" y="29241"/>
                </a:lnTo>
                <a:close/>
              </a:path>
            </a:pathLst>
          </a:custGeom>
          <a:solidFill>
            <a:srgbClr val="00B050"/>
          </a:solidFill>
          <a:ln w="3473" cap="flat">
            <a:noFill/>
            <a:prstDash val="solid"/>
            <a:miter/>
          </a:ln>
        </p:spPr>
        <p:txBody>
          <a:bodyPr/>
          <a:lstStyle/>
          <a:p>
            <a:endParaRPr lang="en-MY"/>
          </a:p>
        </p:txBody>
      </p:sp>
      <p:sp>
        <p:nvSpPr>
          <p:cNvPr id="1301" name="Graphic 15" descr="Close with solid fill">
            <a:extLst>
              <a:ext uri="{FF2B5EF4-FFF2-40B4-BE49-F238E27FC236}">
                <a16:creationId xmlns:a16="http://schemas.microsoft.com/office/drawing/2014/main" id="{B91E98F5-0426-7CE6-7AC4-BACD69E713DA}"/>
              </a:ext>
            </a:extLst>
          </p:cNvPr>
          <p:cNvSpPr/>
          <p:nvPr/>
        </p:nvSpPr>
        <p:spPr>
          <a:xfrm>
            <a:off x="8158705" y="3984990"/>
            <a:ext cx="244438" cy="219912"/>
          </a:xfrm>
          <a:custGeom>
            <a:avLst/>
            <a:gdLst>
              <a:gd name="csX0" fmla="*/ 257890 w 257889"/>
              <a:gd name="csY0" fmla="*/ 30961 h 257889"/>
              <a:gd name="csX1" fmla="*/ 226928 w 257889"/>
              <a:gd name="csY1" fmla="*/ 0 h 257889"/>
              <a:gd name="csX2" fmla="*/ 128945 w 257889"/>
              <a:gd name="csY2" fmla="*/ 97984 h 257889"/>
              <a:gd name="csX3" fmla="*/ 30961 w 257889"/>
              <a:gd name="csY3" fmla="*/ 0 h 257889"/>
              <a:gd name="csX4" fmla="*/ 0 w 257889"/>
              <a:gd name="csY4" fmla="*/ 30961 h 257889"/>
              <a:gd name="csX5" fmla="*/ 97984 w 257889"/>
              <a:gd name="csY5" fmla="*/ 128945 h 257889"/>
              <a:gd name="csX6" fmla="*/ 0 w 257889"/>
              <a:gd name="csY6" fmla="*/ 226928 h 257889"/>
              <a:gd name="csX7" fmla="*/ 30961 w 257889"/>
              <a:gd name="csY7" fmla="*/ 257890 h 257889"/>
              <a:gd name="csX8" fmla="*/ 128945 w 257889"/>
              <a:gd name="csY8" fmla="*/ 159906 h 257889"/>
              <a:gd name="csX9" fmla="*/ 226928 w 257889"/>
              <a:gd name="csY9" fmla="*/ 257890 h 257889"/>
              <a:gd name="csX10" fmla="*/ 257890 w 257889"/>
              <a:gd name="csY10" fmla="*/ 226928 h 257889"/>
              <a:gd name="csX11" fmla="*/ 159906 w 257889"/>
              <a:gd name="csY11" fmla="*/ 128945 h 25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57889" h="257889">
                <a:moveTo>
                  <a:pt x="257890" y="30961"/>
                </a:moveTo>
                <a:lnTo>
                  <a:pt x="226928" y="0"/>
                </a:lnTo>
                <a:lnTo>
                  <a:pt x="128945" y="97984"/>
                </a:lnTo>
                <a:lnTo>
                  <a:pt x="30961" y="0"/>
                </a:lnTo>
                <a:lnTo>
                  <a:pt x="0" y="30961"/>
                </a:lnTo>
                <a:lnTo>
                  <a:pt x="97984" y="128945"/>
                </a:lnTo>
                <a:lnTo>
                  <a:pt x="0" y="226928"/>
                </a:lnTo>
                <a:lnTo>
                  <a:pt x="30961" y="257890"/>
                </a:lnTo>
                <a:lnTo>
                  <a:pt x="128945" y="159906"/>
                </a:lnTo>
                <a:lnTo>
                  <a:pt x="226928" y="257890"/>
                </a:lnTo>
                <a:lnTo>
                  <a:pt x="257890" y="226928"/>
                </a:lnTo>
                <a:lnTo>
                  <a:pt x="159906" y="128945"/>
                </a:lnTo>
                <a:close/>
              </a:path>
            </a:pathLst>
          </a:custGeom>
          <a:solidFill>
            <a:srgbClr val="FF0000"/>
          </a:solidFill>
          <a:ln w="3572" cap="flat">
            <a:noFill/>
            <a:prstDash val="solid"/>
            <a:miter/>
          </a:ln>
        </p:spPr>
        <p:txBody>
          <a:bodyPr/>
          <a:lstStyle/>
          <a:p>
            <a:pPr algn="ctr"/>
            <a:endParaRPr lang="en-MY" dirty="0"/>
          </a:p>
        </p:txBody>
      </p:sp>
      <p:cxnSp>
        <p:nvCxnSpPr>
          <p:cNvPr id="1305" name="Straight Connector 1304">
            <a:extLst>
              <a:ext uri="{FF2B5EF4-FFF2-40B4-BE49-F238E27FC236}">
                <a16:creationId xmlns:a16="http://schemas.microsoft.com/office/drawing/2014/main" id="{54250199-65DD-FF5D-89FE-D6DCD824B523}"/>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1306" name="TextBox 1305">
            <a:extLst>
              <a:ext uri="{FF2B5EF4-FFF2-40B4-BE49-F238E27FC236}">
                <a16:creationId xmlns:a16="http://schemas.microsoft.com/office/drawing/2014/main" id="{BB29A86E-72E7-137C-94C2-7AC41ADD8D85}"/>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1307" name="Freeform 19">
            <a:extLst>
              <a:ext uri="{FF2B5EF4-FFF2-40B4-BE49-F238E27FC236}">
                <a16:creationId xmlns:a16="http://schemas.microsoft.com/office/drawing/2014/main" id="{6B2FECAF-207E-E426-C397-7001BD6D8CDD}"/>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1308" name="TextBox 22">
            <a:extLst>
              <a:ext uri="{FF2B5EF4-FFF2-40B4-BE49-F238E27FC236}">
                <a16:creationId xmlns:a16="http://schemas.microsoft.com/office/drawing/2014/main" id="{54FDBFB4-E551-3AD0-07CA-59732697B64B}"/>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07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4">
          <a:extLst>
            <a:ext uri="{FF2B5EF4-FFF2-40B4-BE49-F238E27FC236}">
              <a16:creationId xmlns:a16="http://schemas.microsoft.com/office/drawing/2014/main" id="{5269C097-8A08-BB08-1098-49DD31254ED3}"/>
            </a:ext>
          </a:extLst>
        </p:cNvPr>
        <p:cNvGrpSpPr/>
        <p:nvPr/>
      </p:nvGrpSpPr>
      <p:grpSpPr>
        <a:xfrm>
          <a:off x="0" y="0"/>
          <a:ext cx="0" cy="0"/>
          <a:chOff x="0" y="0"/>
          <a:chExt cx="0" cy="0"/>
        </a:xfrm>
      </p:grpSpPr>
      <p:sp>
        <p:nvSpPr>
          <p:cNvPr id="9" name="Google Shape;1146;p36">
            <a:extLst>
              <a:ext uri="{FF2B5EF4-FFF2-40B4-BE49-F238E27FC236}">
                <a16:creationId xmlns:a16="http://schemas.microsoft.com/office/drawing/2014/main" id="{7A13F73C-5A36-7F00-1521-75E68AADC490}"/>
              </a:ext>
            </a:extLst>
          </p:cNvPr>
          <p:cNvSpPr txBox="1">
            <a:spLocks noGrp="1"/>
          </p:cNvSpPr>
          <p:nvPr>
            <p:ph type="title"/>
          </p:nvPr>
        </p:nvSpPr>
        <p:spPr>
          <a:xfrm>
            <a:off x="1112003" y="0"/>
            <a:ext cx="691999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Competitions Comparison</a:t>
            </a:r>
            <a:endParaRPr dirty="0">
              <a:latin typeface="Lato" panose="020F0502020204030203" pitchFamily="34" charset="0"/>
              <a:ea typeface="Lato" panose="020F0502020204030203" pitchFamily="34" charset="0"/>
              <a:cs typeface="Lato" panose="020F0502020204030203" pitchFamily="34" charset="0"/>
            </a:endParaRPr>
          </a:p>
        </p:txBody>
      </p:sp>
      <p:graphicFrame>
        <p:nvGraphicFramePr>
          <p:cNvPr id="10" name="Table 9">
            <a:extLst>
              <a:ext uri="{FF2B5EF4-FFF2-40B4-BE49-F238E27FC236}">
                <a16:creationId xmlns:a16="http://schemas.microsoft.com/office/drawing/2014/main" id="{134BC02F-BB8E-1F73-0D80-B4D22E4FB5E8}"/>
              </a:ext>
            </a:extLst>
          </p:cNvPr>
          <p:cNvGraphicFramePr>
            <a:graphicFrameLocks noGrp="1"/>
          </p:cNvGraphicFramePr>
          <p:nvPr>
            <p:extLst>
              <p:ext uri="{D42A27DB-BD31-4B8C-83A1-F6EECF244321}">
                <p14:modId xmlns:p14="http://schemas.microsoft.com/office/powerpoint/2010/main" val="1907665384"/>
              </p:ext>
            </p:extLst>
          </p:nvPr>
        </p:nvGraphicFramePr>
        <p:xfrm>
          <a:off x="476250" y="991892"/>
          <a:ext cx="8319038" cy="2211475"/>
        </p:xfrm>
        <a:graphic>
          <a:graphicData uri="http://schemas.openxmlformats.org/drawingml/2006/table">
            <a:tbl>
              <a:tblPr firstRow="1" bandRow="1">
                <a:tableStyleId>{A48569FF-5148-4313-B945-00A72C13E311}</a:tableStyleId>
              </a:tblPr>
              <a:tblGrid>
                <a:gridCol w="1726695">
                  <a:extLst>
                    <a:ext uri="{9D8B030D-6E8A-4147-A177-3AD203B41FA5}">
                      <a16:colId xmlns:a16="http://schemas.microsoft.com/office/drawing/2014/main" val="1265660882"/>
                    </a:ext>
                  </a:extLst>
                </a:gridCol>
                <a:gridCol w="872843">
                  <a:extLst>
                    <a:ext uri="{9D8B030D-6E8A-4147-A177-3AD203B41FA5}">
                      <a16:colId xmlns:a16="http://schemas.microsoft.com/office/drawing/2014/main" val="3878177618"/>
                    </a:ext>
                  </a:extLst>
                </a:gridCol>
                <a:gridCol w="934636">
                  <a:extLst>
                    <a:ext uri="{9D8B030D-6E8A-4147-A177-3AD203B41FA5}">
                      <a16:colId xmlns:a16="http://schemas.microsoft.com/office/drawing/2014/main" val="1922304239"/>
                    </a:ext>
                  </a:extLst>
                </a:gridCol>
                <a:gridCol w="857394">
                  <a:extLst>
                    <a:ext uri="{9D8B030D-6E8A-4147-A177-3AD203B41FA5}">
                      <a16:colId xmlns:a16="http://schemas.microsoft.com/office/drawing/2014/main" val="2539761749"/>
                    </a:ext>
                  </a:extLst>
                </a:gridCol>
                <a:gridCol w="1104570">
                  <a:extLst>
                    <a:ext uri="{9D8B030D-6E8A-4147-A177-3AD203B41FA5}">
                      <a16:colId xmlns:a16="http://schemas.microsoft.com/office/drawing/2014/main" val="3985030236"/>
                    </a:ext>
                  </a:extLst>
                </a:gridCol>
                <a:gridCol w="980982">
                  <a:extLst>
                    <a:ext uri="{9D8B030D-6E8A-4147-A177-3AD203B41FA5}">
                      <a16:colId xmlns:a16="http://schemas.microsoft.com/office/drawing/2014/main" val="698405199"/>
                    </a:ext>
                  </a:extLst>
                </a:gridCol>
                <a:gridCol w="919187">
                  <a:extLst>
                    <a:ext uri="{9D8B030D-6E8A-4147-A177-3AD203B41FA5}">
                      <a16:colId xmlns:a16="http://schemas.microsoft.com/office/drawing/2014/main" val="1798770464"/>
                    </a:ext>
                  </a:extLst>
                </a:gridCol>
                <a:gridCol w="922731">
                  <a:extLst>
                    <a:ext uri="{9D8B030D-6E8A-4147-A177-3AD203B41FA5}">
                      <a16:colId xmlns:a16="http://schemas.microsoft.com/office/drawing/2014/main" val="2081458078"/>
                    </a:ext>
                  </a:extLst>
                </a:gridCol>
              </a:tblGrid>
              <a:tr h="359599">
                <a:tc>
                  <a:txBody>
                    <a:bodyPr/>
                    <a:lstStyle/>
                    <a:p>
                      <a:pPr algn="ctr"/>
                      <a:endParaRPr lang="en-MY" sz="1100" dirty="0"/>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1" i="0" u="none" strike="noStrike" dirty="0" err="1">
                          <a:solidFill>
                            <a:schemeClr val="tx1"/>
                          </a:solidFill>
                          <a:effectLst/>
                          <a:latin typeface="Roboto" panose="02000000000000000000" pitchFamily="2" charset="0"/>
                        </a:rPr>
                        <a:t>LamaNiaga</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iProperty</a:t>
                      </a:r>
                      <a:r>
                        <a:rPr lang="en-MY" sz="1100" b="1" i="0" u="none" strike="noStrike" dirty="0">
                          <a:solidFill>
                            <a:schemeClr val="tx1"/>
                          </a:solidFill>
                          <a:effectLst/>
                          <a:latin typeface="Roboto" panose="02000000000000000000" pitchFamily="2" charset="0"/>
                        </a:rPr>
                        <a:t> + Property Guru</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Rentola</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b">
                        <a:buNone/>
                      </a:pPr>
                      <a:r>
                        <a:rPr lang="en-MY" sz="1100" b="1" i="0" u="none" strike="noStrike" dirty="0" err="1">
                          <a:solidFill>
                            <a:schemeClr val="tx1"/>
                          </a:solidFill>
                          <a:effectLst/>
                          <a:latin typeface="Roboto" panose="02000000000000000000" pitchFamily="2" charset="0"/>
                        </a:rPr>
                        <a:t>SpeedHome</a:t>
                      </a:r>
                      <a:endParaRPr lang="en-MY" sz="1100" b="0" i="0" u="none" strike="noStrike" dirty="0">
                        <a:solidFill>
                          <a:schemeClr val="tx1"/>
                        </a:solidFill>
                        <a:effectLst/>
                        <a:latin typeface="Aptos Narrow" panose="020B00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EasyRenz</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a:solidFill>
                            <a:schemeClr val="tx1"/>
                          </a:solidFill>
                          <a:effectLst/>
                          <a:latin typeface="Roboto" panose="02000000000000000000" pitchFamily="2" charset="0"/>
                        </a:rPr>
                        <a:t>Rent2U.my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fontAlgn="ctr">
                        <a:buNone/>
                      </a:pPr>
                      <a:r>
                        <a:rPr lang="en-MY" sz="1100" b="1" i="0" u="none" strike="noStrike" dirty="0" err="1">
                          <a:solidFill>
                            <a:schemeClr val="tx1"/>
                          </a:solidFill>
                          <a:effectLst/>
                          <a:latin typeface="Roboto" panose="02000000000000000000" pitchFamily="2" charset="0"/>
                        </a:rPr>
                        <a:t>ibilikPlus</a:t>
                      </a:r>
                      <a:endParaRPr lang="en-MY" sz="1100" b="1" i="0" u="none" strike="noStrike" dirty="0">
                        <a:solidFill>
                          <a:schemeClr val="tx1"/>
                        </a:solidFill>
                        <a:effectLst/>
                        <a:latin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535879470"/>
                  </a:ext>
                </a:extLst>
              </a:tr>
              <a:tr h="1006056">
                <a:tc>
                  <a:txBody>
                    <a:bodyPr/>
                    <a:lstStyle/>
                    <a:p>
                      <a:pPr algn="r" fontAlgn="ctr">
                        <a:buNone/>
                      </a:pPr>
                      <a:r>
                        <a:rPr lang="en-MY" sz="1100" b="0" i="0" u="none" strike="noStrike" dirty="0">
                          <a:solidFill>
                            <a:schemeClr val="bg1"/>
                          </a:solidFill>
                          <a:effectLst/>
                          <a:latin typeface="Roboto" panose="02000000000000000000" pitchFamily="2" charset="0"/>
                        </a:rPr>
                        <a:t>User Focus</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fontAlgn="ctr">
                        <a:buNone/>
                      </a:pPr>
                      <a:r>
                        <a:rPr lang="en-GB" sz="1100" b="0" i="0" u="none" strike="noStrike" dirty="0">
                          <a:solidFill>
                            <a:srgbClr val="000000"/>
                          </a:solidFill>
                          <a:effectLst/>
                          <a:latin typeface="Roboto" panose="02000000000000000000" pitchFamily="2" charset="0"/>
                        </a:rPr>
                        <a:t>Property Manager/ Agents, Landlords and Tenant</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fontAlgn="ctr">
                        <a:buNone/>
                      </a:pPr>
                      <a:r>
                        <a:rPr lang="en-MY" sz="1100" b="0" i="0" u="none" strike="noStrike">
                          <a:solidFill>
                            <a:srgbClr val="000000"/>
                          </a:solidFill>
                          <a:effectLst/>
                          <a:latin typeface="Roboto" panose="02000000000000000000" pitchFamily="2" charset="0"/>
                        </a:rPr>
                        <a:t>Tenant &amp; Buyer Search</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fontAlgn="ctr">
                        <a:buNone/>
                      </a:pPr>
                      <a:r>
                        <a:rPr lang="en-MY" sz="1100" b="0" i="0" u="none" strike="noStrike">
                          <a:solidFill>
                            <a:srgbClr val="000000"/>
                          </a:solidFill>
                          <a:effectLst/>
                          <a:latin typeface="Roboto" panose="02000000000000000000" pitchFamily="2" charset="0"/>
                        </a:rPr>
                        <a:t>Tenant &amp; Buyer Search</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fontAlgn="ctr">
                        <a:buNone/>
                      </a:pPr>
                      <a:r>
                        <a:rPr lang="en-MY" sz="1100" b="0" i="0" u="none" strike="noStrike" dirty="0">
                          <a:solidFill>
                            <a:srgbClr val="000000"/>
                          </a:solidFill>
                          <a:effectLst/>
                          <a:latin typeface="Roboto" panose="02000000000000000000" pitchFamily="2" charset="0"/>
                        </a:rPr>
                        <a:t>Landlord &amp; Tenant (focused at KV Only)</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fontAlgn="ctr">
                        <a:buNone/>
                      </a:pPr>
                      <a:r>
                        <a:rPr lang="en-MY" sz="1100" b="0" i="0" u="none" strike="noStrike" dirty="0">
                          <a:solidFill>
                            <a:srgbClr val="000000"/>
                          </a:solidFill>
                          <a:effectLst/>
                          <a:latin typeface="Roboto" panose="02000000000000000000" pitchFamily="2" charset="0"/>
                        </a:rPr>
                        <a:t>Landlord &amp; Property Manager</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fontAlgn="ctr">
                        <a:buNone/>
                      </a:pPr>
                      <a:r>
                        <a:rPr lang="en-MY" sz="1100" b="0" i="0" u="none" strike="noStrike">
                          <a:solidFill>
                            <a:srgbClr val="000000"/>
                          </a:solidFill>
                          <a:effectLst/>
                          <a:latin typeface="Roboto" panose="02000000000000000000" pitchFamily="2" charset="0"/>
                        </a:rPr>
                        <a:t>Tenant &amp; Landlords for Listing</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tc>
                  <a:txBody>
                    <a:bodyPr/>
                    <a:lstStyle/>
                    <a:p>
                      <a:pPr algn="ctr" fontAlgn="ctr">
                        <a:buNone/>
                      </a:pPr>
                      <a:r>
                        <a:rPr lang="en-MY" sz="1100" b="0" i="0" u="none" strike="noStrike" dirty="0">
                          <a:solidFill>
                            <a:srgbClr val="000000"/>
                          </a:solidFill>
                          <a:effectLst/>
                          <a:latin typeface="Roboto" panose="02000000000000000000" pitchFamily="2" charset="0"/>
                        </a:rPr>
                        <a:t>Landlords and Property Manager</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2200198944"/>
                  </a:ext>
                </a:extLst>
              </a:tr>
              <a:tr h="308161">
                <a:tc>
                  <a:txBody>
                    <a:bodyPr/>
                    <a:lstStyle/>
                    <a:p>
                      <a:pPr algn="r" fontAlgn="ctr">
                        <a:buNone/>
                      </a:pPr>
                      <a:r>
                        <a:rPr lang="en-MY" sz="1100" b="0" i="0" u="none" strike="noStrike" dirty="0">
                          <a:solidFill>
                            <a:schemeClr val="bg1"/>
                          </a:solidFill>
                          <a:effectLst/>
                          <a:latin typeface="Roboto" panose="02000000000000000000" pitchFamily="2" charset="0"/>
                        </a:rPr>
                        <a:t>Primary Purpose</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25000"/>
                      </a:schemeClr>
                    </a:solidFill>
                  </a:tcPr>
                </a:tc>
                <a:tc>
                  <a:txBody>
                    <a:bodyPr/>
                    <a:lstStyle/>
                    <a:p>
                      <a:pPr algn="ctr" fontAlgn="ctr">
                        <a:buNone/>
                      </a:pPr>
                      <a:r>
                        <a:rPr lang="en-GB" sz="1100" b="0" i="0" u="none" strike="noStrike" dirty="0">
                          <a:solidFill>
                            <a:srgbClr val="000000"/>
                          </a:solidFill>
                          <a:effectLst/>
                          <a:latin typeface="Roboto" panose="02000000000000000000" pitchFamily="2" charset="0"/>
                        </a:rPr>
                        <a:t>Property Listing and End-to-End Rental Platform</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0" i="0" u="none" strike="noStrike">
                          <a:solidFill>
                            <a:srgbClr val="000000"/>
                          </a:solidFill>
                          <a:effectLst/>
                          <a:latin typeface="Roboto" panose="02000000000000000000" pitchFamily="2" charset="0"/>
                        </a:rPr>
                        <a:t>Property/ Search Listing</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0" i="0" u="none" strike="noStrike">
                          <a:solidFill>
                            <a:srgbClr val="000000"/>
                          </a:solidFill>
                          <a:effectLst/>
                          <a:latin typeface="Roboto" panose="02000000000000000000" pitchFamily="2" charset="0"/>
                        </a:rPr>
                        <a:t>Listing Search Portal</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0" i="0" u="none" strike="noStrike" dirty="0">
                          <a:solidFill>
                            <a:srgbClr val="000000"/>
                          </a:solidFill>
                          <a:effectLst/>
                          <a:latin typeface="Roboto" panose="02000000000000000000" pitchFamily="2" charset="0"/>
                        </a:rPr>
                        <a:t>Property Listing and End-to-End Rental Platform (KV Only)</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0" i="0" u="none" strike="noStrike" dirty="0">
                          <a:solidFill>
                            <a:srgbClr val="000000"/>
                          </a:solidFill>
                          <a:effectLst/>
                          <a:latin typeface="Roboto" panose="02000000000000000000" pitchFamily="2" charset="0"/>
                        </a:rPr>
                        <a:t>Rental Management System</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0" i="0" u="none" strike="noStrike">
                          <a:solidFill>
                            <a:srgbClr val="000000"/>
                          </a:solidFill>
                          <a:effectLst/>
                          <a:latin typeface="Roboto" panose="02000000000000000000" pitchFamily="2" charset="0"/>
                        </a:rPr>
                        <a:t>Rental Classifieds/ Listing</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fontAlgn="ctr">
                        <a:buNone/>
                      </a:pPr>
                      <a:r>
                        <a:rPr lang="en-MY" sz="1100" b="0" i="0" u="none" strike="noStrike" dirty="0">
                          <a:solidFill>
                            <a:srgbClr val="000000"/>
                          </a:solidFill>
                          <a:effectLst/>
                          <a:latin typeface="Roboto" panose="02000000000000000000" pitchFamily="2" charset="0"/>
                        </a:rPr>
                        <a:t>Rental Management System</a:t>
                      </a:r>
                    </a:p>
                  </a:txBody>
                  <a:tcPr marL="7620" marR="7620" marT="762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74066033"/>
                  </a:ext>
                </a:extLst>
              </a:tr>
            </a:tbl>
          </a:graphicData>
        </a:graphic>
      </p:graphicFrame>
      <p:sp>
        <p:nvSpPr>
          <p:cNvPr id="3" name="TextBox 2">
            <a:extLst>
              <a:ext uri="{FF2B5EF4-FFF2-40B4-BE49-F238E27FC236}">
                <a16:creationId xmlns:a16="http://schemas.microsoft.com/office/drawing/2014/main" id="{56FFA7EF-5119-5097-1B03-733702CBEAA0}"/>
              </a:ext>
            </a:extLst>
          </p:cNvPr>
          <p:cNvSpPr txBox="1"/>
          <p:nvPr/>
        </p:nvSpPr>
        <p:spPr>
          <a:xfrm>
            <a:off x="476250" y="3621914"/>
            <a:ext cx="8319037" cy="830997"/>
          </a:xfrm>
          <a:prstGeom prst="rect">
            <a:avLst/>
          </a:prstGeom>
          <a:noFill/>
        </p:spPr>
        <p:txBody>
          <a:bodyPr wrap="square">
            <a:spAutoFit/>
          </a:bodyPr>
          <a:lstStyle/>
          <a:p>
            <a:r>
              <a:rPr lang="en-GB" sz="1200" dirty="0"/>
              <a:t>The idea to implement the development of a comprehensive real estate system was through surveys and comments received from real estate agents and landlords. Therefore, we have conducted due diligence on the systems of major competitors in the real estate system market. We found that there is no comprehensive system for End-to-End digital platform available.</a:t>
            </a:r>
          </a:p>
        </p:txBody>
      </p:sp>
      <p:cxnSp>
        <p:nvCxnSpPr>
          <p:cNvPr id="4" name="Straight Connector 3">
            <a:extLst>
              <a:ext uri="{FF2B5EF4-FFF2-40B4-BE49-F238E27FC236}">
                <a16:creationId xmlns:a16="http://schemas.microsoft.com/office/drawing/2014/main" id="{515E5730-B241-C203-44C1-BB5BD69D3FA0}"/>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E09F7D0A-E1D3-E839-CA5A-7C2BE85CB970}"/>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6" name="Freeform 19">
            <a:extLst>
              <a:ext uri="{FF2B5EF4-FFF2-40B4-BE49-F238E27FC236}">
                <a16:creationId xmlns:a16="http://schemas.microsoft.com/office/drawing/2014/main" id="{B30C83FA-E7D0-ACD4-D76A-ADD7BBA0080F}"/>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7" name="TextBox 22">
            <a:extLst>
              <a:ext uri="{FF2B5EF4-FFF2-40B4-BE49-F238E27FC236}">
                <a16:creationId xmlns:a16="http://schemas.microsoft.com/office/drawing/2014/main" id="{0F9EE6D9-10BA-1643-497E-0497C0AAA8AE}"/>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08</a:t>
            </a:r>
          </a:p>
        </p:txBody>
      </p:sp>
    </p:spTree>
    <p:extLst>
      <p:ext uri="{BB962C8B-B14F-4D97-AF65-F5344CB8AC3E}">
        <p14:creationId xmlns:p14="http://schemas.microsoft.com/office/powerpoint/2010/main" val="301709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45"/>
          <p:cNvSpPr txBox="1">
            <a:spLocks noGrp="1"/>
          </p:cNvSpPr>
          <p:nvPr>
            <p:ph type="title"/>
          </p:nvPr>
        </p:nvSpPr>
        <p:spPr>
          <a:xfrm>
            <a:off x="2106834" y="5404"/>
            <a:ext cx="4930325"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Market Overview</a:t>
            </a:r>
            <a:endParaRPr dirty="0">
              <a:latin typeface="Lato" panose="020F0502020204030203" pitchFamily="34" charset="0"/>
              <a:ea typeface="Lato" panose="020F0502020204030203" pitchFamily="34" charset="0"/>
              <a:cs typeface="Lato" panose="020F0502020204030203" pitchFamily="34" charset="0"/>
            </a:endParaRPr>
          </a:p>
        </p:txBody>
      </p:sp>
      <p:sp>
        <p:nvSpPr>
          <p:cNvPr id="1456" name="Google Shape;1456;p45"/>
          <p:cNvSpPr/>
          <p:nvPr/>
        </p:nvSpPr>
        <p:spPr>
          <a:xfrm>
            <a:off x="646802" y="1630934"/>
            <a:ext cx="224971" cy="21272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panose="020F0502020204030203" pitchFamily="34" charset="0"/>
              <a:ea typeface="Lato" panose="020F0502020204030203" pitchFamily="34" charset="0"/>
              <a:cs typeface="Lato" panose="020F0502020204030203" pitchFamily="34" charset="0"/>
            </a:endParaRPr>
          </a:p>
        </p:txBody>
      </p:sp>
      <p:sp>
        <p:nvSpPr>
          <p:cNvPr id="1458" name="Google Shape;1458;p45"/>
          <p:cNvSpPr txBox="1"/>
          <p:nvPr/>
        </p:nvSpPr>
        <p:spPr>
          <a:xfrm>
            <a:off x="871775" y="1420419"/>
            <a:ext cx="3831959" cy="75471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Fully licensed agents who typically head or represent a real estate firm / Registered Estate Agents (REA) </a:t>
            </a:r>
            <a:endParaRPr sz="12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2" name="Rectangle: Rounded Corners 1">
            <a:extLst>
              <a:ext uri="{FF2B5EF4-FFF2-40B4-BE49-F238E27FC236}">
                <a16:creationId xmlns:a16="http://schemas.microsoft.com/office/drawing/2014/main" id="{74E41450-743D-41D3-4126-0E6C884CEBF5}"/>
              </a:ext>
            </a:extLst>
          </p:cNvPr>
          <p:cNvSpPr/>
          <p:nvPr/>
        </p:nvSpPr>
        <p:spPr>
          <a:xfrm>
            <a:off x="511444" y="756186"/>
            <a:ext cx="4277532" cy="3804834"/>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MY" sz="1200" dirty="0"/>
          </a:p>
        </p:txBody>
      </p:sp>
      <p:sp>
        <p:nvSpPr>
          <p:cNvPr id="3" name="Google Shape;1459;p45">
            <a:extLst>
              <a:ext uri="{FF2B5EF4-FFF2-40B4-BE49-F238E27FC236}">
                <a16:creationId xmlns:a16="http://schemas.microsoft.com/office/drawing/2014/main" id="{99AD6684-754B-0016-8E84-6B9886F54F15}"/>
              </a:ext>
            </a:extLst>
          </p:cNvPr>
          <p:cNvSpPr txBox="1"/>
          <p:nvPr/>
        </p:nvSpPr>
        <p:spPr>
          <a:xfrm>
            <a:off x="511444" y="876622"/>
            <a:ext cx="4277532" cy="424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dirty="0">
                <a:solidFill>
                  <a:schemeClr val="dk1"/>
                </a:solidFill>
                <a:latin typeface="Lato" panose="020F0502020204030203" pitchFamily="34" charset="0"/>
                <a:ea typeface="Lato" panose="020F0502020204030203" pitchFamily="34" charset="0"/>
                <a:cs typeface="Lato" panose="020F0502020204030203" pitchFamily="34" charset="0"/>
                <a:sym typeface="Epilogue"/>
              </a:rPr>
              <a:t>Customer Segment</a:t>
            </a:r>
            <a:endParaRPr sz="1800" b="1" dirty="0">
              <a:solidFill>
                <a:schemeClr val="dk1"/>
              </a:solidFill>
              <a:latin typeface="Lato" panose="020F0502020204030203" pitchFamily="34" charset="0"/>
              <a:ea typeface="Lato" panose="020F0502020204030203" pitchFamily="34" charset="0"/>
              <a:cs typeface="Lato" panose="020F0502020204030203" pitchFamily="34" charset="0"/>
              <a:sym typeface="Epilogue"/>
            </a:endParaRPr>
          </a:p>
        </p:txBody>
      </p:sp>
      <p:sp>
        <p:nvSpPr>
          <p:cNvPr id="4" name="Google Shape;1456;p45">
            <a:extLst>
              <a:ext uri="{FF2B5EF4-FFF2-40B4-BE49-F238E27FC236}">
                <a16:creationId xmlns:a16="http://schemas.microsoft.com/office/drawing/2014/main" id="{F425BA6F-DACA-021B-A744-3D7826678DCE}"/>
              </a:ext>
            </a:extLst>
          </p:cNvPr>
          <p:cNvSpPr/>
          <p:nvPr/>
        </p:nvSpPr>
        <p:spPr>
          <a:xfrm>
            <a:off x="646802" y="2348413"/>
            <a:ext cx="224971" cy="21272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panose="020F0502020204030203" pitchFamily="34" charset="0"/>
              <a:ea typeface="Lato" panose="020F0502020204030203" pitchFamily="34" charset="0"/>
              <a:cs typeface="Lato" panose="020F0502020204030203" pitchFamily="34" charset="0"/>
            </a:endParaRPr>
          </a:p>
        </p:txBody>
      </p:sp>
      <p:sp>
        <p:nvSpPr>
          <p:cNvPr id="5" name="Google Shape;1458;p45">
            <a:extLst>
              <a:ext uri="{FF2B5EF4-FFF2-40B4-BE49-F238E27FC236}">
                <a16:creationId xmlns:a16="http://schemas.microsoft.com/office/drawing/2014/main" id="{1AC0E89C-7F8E-D3C5-F0DF-0A18FE92E247}"/>
              </a:ext>
            </a:extLst>
          </p:cNvPr>
          <p:cNvSpPr txBox="1"/>
          <p:nvPr/>
        </p:nvSpPr>
        <p:spPr>
          <a:xfrm>
            <a:off x="871774" y="2061517"/>
            <a:ext cx="3831961" cy="75471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Licensed negotiators who work under or with licensed estate agents to assist in property deals / Real Estate Negotiator (REN)</a:t>
            </a:r>
            <a:endParaRPr sz="12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6" name="Google Shape;1456;p45">
            <a:extLst>
              <a:ext uri="{FF2B5EF4-FFF2-40B4-BE49-F238E27FC236}">
                <a16:creationId xmlns:a16="http://schemas.microsoft.com/office/drawing/2014/main" id="{FD37457A-B8ED-4808-6EA1-9CE1BD6B7775}"/>
              </a:ext>
            </a:extLst>
          </p:cNvPr>
          <p:cNvSpPr/>
          <p:nvPr/>
        </p:nvSpPr>
        <p:spPr>
          <a:xfrm>
            <a:off x="646804" y="2920119"/>
            <a:ext cx="224971" cy="212728"/>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panose="020F0502020204030203" pitchFamily="34" charset="0"/>
              <a:ea typeface="Lato" panose="020F0502020204030203" pitchFamily="34" charset="0"/>
              <a:cs typeface="Lato" panose="020F0502020204030203" pitchFamily="34" charset="0"/>
            </a:endParaRPr>
          </a:p>
        </p:txBody>
      </p:sp>
      <p:sp>
        <p:nvSpPr>
          <p:cNvPr id="7" name="Google Shape;1458;p45">
            <a:extLst>
              <a:ext uri="{FF2B5EF4-FFF2-40B4-BE49-F238E27FC236}">
                <a16:creationId xmlns:a16="http://schemas.microsoft.com/office/drawing/2014/main" id="{880C8B62-7CD9-7895-EE7D-5FA1BDB9112F}"/>
              </a:ext>
            </a:extLst>
          </p:cNvPr>
          <p:cNvSpPr txBox="1"/>
          <p:nvPr/>
        </p:nvSpPr>
        <p:spPr>
          <a:xfrm>
            <a:off x="871774" y="2799279"/>
            <a:ext cx="3700225" cy="36281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Individual property owners</a:t>
            </a:r>
            <a:endParaRPr sz="12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sp>
        <p:nvSpPr>
          <p:cNvPr id="8" name="Google Shape;1456;p45">
            <a:extLst>
              <a:ext uri="{FF2B5EF4-FFF2-40B4-BE49-F238E27FC236}">
                <a16:creationId xmlns:a16="http://schemas.microsoft.com/office/drawing/2014/main" id="{570748F6-0237-A1A0-34C3-7AD667A7CC04}"/>
              </a:ext>
            </a:extLst>
          </p:cNvPr>
          <p:cNvSpPr/>
          <p:nvPr/>
        </p:nvSpPr>
        <p:spPr>
          <a:xfrm>
            <a:off x="646804" y="3317256"/>
            <a:ext cx="224971" cy="212728"/>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Lato" panose="020F0502020204030203" pitchFamily="34" charset="0"/>
              <a:ea typeface="Lato" panose="020F0502020204030203" pitchFamily="34" charset="0"/>
              <a:cs typeface="Lato" panose="020F0502020204030203" pitchFamily="34" charset="0"/>
            </a:endParaRPr>
          </a:p>
        </p:txBody>
      </p:sp>
      <p:sp>
        <p:nvSpPr>
          <p:cNvPr id="9" name="Google Shape;1458;p45">
            <a:extLst>
              <a:ext uri="{FF2B5EF4-FFF2-40B4-BE49-F238E27FC236}">
                <a16:creationId xmlns:a16="http://schemas.microsoft.com/office/drawing/2014/main" id="{8ADA3AD5-46E3-1021-ADCC-EB26ACAD9958}"/>
              </a:ext>
            </a:extLst>
          </p:cNvPr>
          <p:cNvSpPr txBox="1"/>
          <p:nvPr/>
        </p:nvSpPr>
        <p:spPr>
          <a:xfrm>
            <a:off x="871773" y="3214879"/>
            <a:ext cx="3700224" cy="36281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Individual for prospect buyer or tenant</a:t>
            </a:r>
          </a:p>
        </p:txBody>
      </p:sp>
      <p:sp>
        <p:nvSpPr>
          <p:cNvPr id="11" name="TextBox 10">
            <a:extLst>
              <a:ext uri="{FF2B5EF4-FFF2-40B4-BE49-F238E27FC236}">
                <a16:creationId xmlns:a16="http://schemas.microsoft.com/office/drawing/2014/main" id="{0D04CEF1-9D28-8245-0C7E-659941003CC8}"/>
              </a:ext>
            </a:extLst>
          </p:cNvPr>
          <p:cNvSpPr txBox="1"/>
          <p:nvPr/>
        </p:nvSpPr>
        <p:spPr>
          <a:xfrm>
            <a:off x="4955832" y="1063661"/>
            <a:ext cx="3316392" cy="3046988"/>
          </a:xfrm>
          <a:prstGeom prst="rect">
            <a:avLst/>
          </a:prstGeom>
          <a:noFill/>
        </p:spPr>
        <p:txBody>
          <a:bodyPr wrap="square">
            <a:spAutoFit/>
          </a:bodyPr>
          <a:lstStyle/>
          <a:p>
            <a:pPr algn="just"/>
            <a:r>
              <a:rPr lang="en-GB" sz="1200" dirty="0">
                <a:latin typeface="Lato" panose="020F0502020204030203" pitchFamily="34" charset="0"/>
                <a:ea typeface="Lato" panose="020F0502020204030203" pitchFamily="34" charset="0"/>
                <a:cs typeface="Lato" panose="020F0502020204030203" pitchFamily="34" charset="0"/>
              </a:rPr>
              <a:t>As of the third quarter of 2025, the total housing stock (both owned and rented) in Malaysia reached over 6.48 million units. The total value of the overall residential transaction market for the first half of 2025 was RM58.1 billion. While precise total market size figures for the rental sector alone are unavailable in public reports, the market continues to grow steadily, with the rental segment projected to be the fastest-growing part of the Malaysian real estate market by CAGR (Compound Annual Growth Rate) through 2031.</a:t>
            </a:r>
          </a:p>
          <a:p>
            <a:pPr algn="just"/>
            <a:endParaRPr lang="en-GB" sz="1200" dirty="0">
              <a:latin typeface="Lato" panose="020F0502020204030203" pitchFamily="34" charset="0"/>
              <a:ea typeface="Lato" panose="020F0502020204030203" pitchFamily="34" charset="0"/>
              <a:cs typeface="Lato" panose="020F0502020204030203" pitchFamily="34" charset="0"/>
            </a:endParaRPr>
          </a:p>
          <a:p>
            <a:pPr algn="just"/>
            <a:r>
              <a:rPr lang="en-GB" sz="1200" dirty="0">
                <a:latin typeface="Lato" panose="020F0502020204030203" pitchFamily="34" charset="0"/>
                <a:ea typeface="Lato" panose="020F0502020204030203" pitchFamily="34" charset="0"/>
                <a:cs typeface="Lato" panose="020F0502020204030203" pitchFamily="34" charset="0"/>
              </a:rPr>
              <a:t>Total REA = 3,121</a:t>
            </a:r>
          </a:p>
          <a:p>
            <a:pPr algn="just"/>
            <a:r>
              <a:rPr lang="en-GB" sz="1200" dirty="0">
                <a:latin typeface="Lato" panose="020F0502020204030203" pitchFamily="34" charset="0"/>
                <a:ea typeface="Lato" panose="020F0502020204030203" pitchFamily="34" charset="0"/>
                <a:cs typeface="Lato" panose="020F0502020204030203" pitchFamily="34" charset="0"/>
              </a:rPr>
              <a:t>Total REN = 74,545</a:t>
            </a:r>
          </a:p>
        </p:txBody>
      </p:sp>
      <p:cxnSp>
        <p:nvCxnSpPr>
          <p:cNvPr id="12" name="Straight Connector 11">
            <a:extLst>
              <a:ext uri="{FF2B5EF4-FFF2-40B4-BE49-F238E27FC236}">
                <a16:creationId xmlns:a16="http://schemas.microsoft.com/office/drawing/2014/main" id="{C317EC91-3146-6294-50E7-12D3261EF518}"/>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367751B3-135A-E666-7312-48E49D9EB1DE}"/>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14" name="Freeform 19">
            <a:extLst>
              <a:ext uri="{FF2B5EF4-FFF2-40B4-BE49-F238E27FC236}">
                <a16:creationId xmlns:a16="http://schemas.microsoft.com/office/drawing/2014/main" id="{D82300D8-9727-14E8-65E3-A4835A378E70}"/>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15" name="TextBox 22">
            <a:extLst>
              <a:ext uri="{FF2B5EF4-FFF2-40B4-BE49-F238E27FC236}">
                <a16:creationId xmlns:a16="http://schemas.microsoft.com/office/drawing/2014/main" id="{F585FE05-974C-8BB8-B076-E48216E5972A}"/>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09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8">
          <a:extLst>
            <a:ext uri="{FF2B5EF4-FFF2-40B4-BE49-F238E27FC236}">
              <a16:creationId xmlns:a16="http://schemas.microsoft.com/office/drawing/2014/main" id="{72F4B46F-E1D5-A1E3-EFAF-7AB6A29F55F8}"/>
            </a:ext>
          </a:extLst>
        </p:cNvPr>
        <p:cNvGrpSpPr/>
        <p:nvPr/>
      </p:nvGrpSpPr>
      <p:grpSpPr>
        <a:xfrm>
          <a:off x="0" y="0"/>
          <a:ext cx="0" cy="0"/>
          <a:chOff x="0" y="0"/>
          <a:chExt cx="0" cy="0"/>
        </a:xfrm>
      </p:grpSpPr>
      <p:sp>
        <p:nvSpPr>
          <p:cNvPr id="1449" name="Google Shape;1449;p45">
            <a:extLst>
              <a:ext uri="{FF2B5EF4-FFF2-40B4-BE49-F238E27FC236}">
                <a16:creationId xmlns:a16="http://schemas.microsoft.com/office/drawing/2014/main" id="{B0F4B8AE-CCD4-0771-6D5F-B5824E5ED7D4}"/>
              </a:ext>
            </a:extLst>
          </p:cNvPr>
          <p:cNvSpPr txBox="1">
            <a:spLocks noGrp="1"/>
          </p:cNvSpPr>
          <p:nvPr>
            <p:ph type="title"/>
          </p:nvPr>
        </p:nvSpPr>
        <p:spPr>
          <a:xfrm>
            <a:off x="2122335" y="6045"/>
            <a:ext cx="4930325"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Marketing Strategy</a:t>
            </a:r>
            <a:endParaRPr dirty="0">
              <a:latin typeface="Lato" panose="020F0502020204030203" pitchFamily="34" charset="0"/>
              <a:ea typeface="Lato" panose="020F0502020204030203" pitchFamily="34" charset="0"/>
              <a:cs typeface="Lato" panose="020F0502020204030203" pitchFamily="34" charset="0"/>
            </a:endParaRPr>
          </a:p>
        </p:txBody>
      </p:sp>
      <p:sp>
        <p:nvSpPr>
          <p:cNvPr id="9" name="Google Shape;1458;p45">
            <a:extLst>
              <a:ext uri="{FF2B5EF4-FFF2-40B4-BE49-F238E27FC236}">
                <a16:creationId xmlns:a16="http://schemas.microsoft.com/office/drawing/2014/main" id="{9BBFF23D-726A-421D-190F-0BE5701FD222}"/>
              </a:ext>
            </a:extLst>
          </p:cNvPr>
          <p:cNvSpPr txBox="1"/>
          <p:nvPr/>
        </p:nvSpPr>
        <p:spPr>
          <a:xfrm>
            <a:off x="461233" y="1250732"/>
            <a:ext cx="3459838" cy="976672"/>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dk1"/>
                </a:solidFill>
                <a:latin typeface="Lato" panose="020F0502020204030203" pitchFamily="34" charset="0"/>
                <a:ea typeface="Lato" panose="020F0502020204030203" pitchFamily="34" charset="0"/>
                <a:cs typeface="Lato" panose="020F0502020204030203" pitchFamily="34" charset="0"/>
                <a:sym typeface="Lato"/>
              </a:rPr>
              <a:t>Market Penetration</a:t>
            </a:r>
          </a:p>
          <a:p>
            <a:pPr marL="171450" lvl="0" indent="-171450" algn="l" rtl="0">
              <a:spcBef>
                <a:spcPts val="0"/>
              </a:spcBef>
              <a:spcAft>
                <a:spcPts val="0"/>
              </a:spcAft>
              <a:buFont typeface="Wingdings" panose="05000000000000000000" pitchFamily="2" charset="2"/>
              <a:buChar char="§"/>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During the </a:t>
            </a:r>
            <a:r>
              <a:rPr lang="en-GB" sz="12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softlaunch</a:t>
            </a: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targeting REA and REN, real estate agents will be given free property listings for the first 6 months</a:t>
            </a:r>
          </a:p>
        </p:txBody>
      </p:sp>
      <p:cxnSp>
        <p:nvCxnSpPr>
          <p:cNvPr id="12" name="Straight Connector 11">
            <a:extLst>
              <a:ext uri="{FF2B5EF4-FFF2-40B4-BE49-F238E27FC236}">
                <a16:creationId xmlns:a16="http://schemas.microsoft.com/office/drawing/2014/main" id="{8ED491E2-50CC-61D8-80CE-B8482963C65D}"/>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145FCF2E-D8F2-F060-4D79-0F529FEA4F0F}"/>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14" name="Freeform 19">
            <a:extLst>
              <a:ext uri="{FF2B5EF4-FFF2-40B4-BE49-F238E27FC236}">
                <a16:creationId xmlns:a16="http://schemas.microsoft.com/office/drawing/2014/main" id="{8E444377-3842-810D-ADF2-7E7EF49A81E7}"/>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15" name="TextBox 22">
            <a:extLst>
              <a:ext uri="{FF2B5EF4-FFF2-40B4-BE49-F238E27FC236}">
                <a16:creationId xmlns:a16="http://schemas.microsoft.com/office/drawing/2014/main" id="{2DB81BF2-35DF-40A1-A203-798985FFC999}"/>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10</a:t>
            </a:r>
          </a:p>
        </p:txBody>
      </p:sp>
      <p:sp>
        <p:nvSpPr>
          <p:cNvPr id="2" name="Google Shape;1458;p45">
            <a:extLst>
              <a:ext uri="{FF2B5EF4-FFF2-40B4-BE49-F238E27FC236}">
                <a16:creationId xmlns:a16="http://schemas.microsoft.com/office/drawing/2014/main" id="{C241E8C6-5E0C-347D-C807-B0B84EF7A693}"/>
              </a:ext>
            </a:extLst>
          </p:cNvPr>
          <p:cNvSpPr txBox="1"/>
          <p:nvPr/>
        </p:nvSpPr>
        <p:spPr>
          <a:xfrm>
            <a:off x="461233" y="2732029"/>
            <a:ext cx="3459838" cy="976673"/>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dk1"/>
                </a:solidFill>
                <a:latin typeface="Lato" panose="020F0502020204030203" pitchFamily="34" charset="0"/>
                <a:ea typeface="Lato" panose="020F0502020204030203" pitchFamily="34" charset="0"/>
                <a:cs typeface="Lato" panose="020F0502020204030203" pitchFamily="34" charset="0"/>
                <a:sym typeface="Lato"/>
              </a:rPr>
              <a:t>Direct Marketing</a:t>
            </a:r>
          </a:p>
          <a:p>
            <a:pPr marL="171450" lvl="0" indent="-171450" algn="just" rtl="0">
              <a:spcBef>
                <a:spcPts val="0"/>
              </a:spcBef>
              <a:spcAft>
                <a:spcPts val="0"/>
              </a:spcAft>
              <a:buFont typeface="Wingdings" panose="05000000000000000000" pitchFamily="2" charset="2"/>
              <a:buChar char="§"/>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Presentation of products/apps to REA Agencies through direct marketing - recruitment of marketing personnel. </a:t>
            </a:r>
          </a:p>
        </p:txBody>
      </p:sp>
      <p:sp>
        <p:nvSpPr>
          <p:cNvPr id="3" name="Google Shape;1458;p45">
            <a:extLst>
              <a:ext uri="{FF2B5EF4-FFF2-40B4-BE49-F238E27FC236}">
                <a16:creationId xmlns:a16="http://schemas.microsoft.com/office/drawing/2014/main" id="{AE5D78CB-7C39-F02A-AD20-96AC0457A3B9}"/>
              </a:ext>
            </a:extLst>
          </p:cNvPr>
          <p:cNvSpPr txBox="1"/>
          <p:nvPr/>
        </p:nvSpPr>
        <p:spPr>
          <a:xfrm>
            <a:off x="4333148" y="1177594"/>
            <a:ext cx="3459838" cy="144936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dk1"/>
                </a:solidFill>
                <a:latin typeface="Lato" panose="020F0502020204030203" pitchFamily="34" charset="0"/>
                <a:ea typeface="Lato" panose="020F0502020204030203" pitchFamily="34" charset="0"/>
                <a:cs typeface="Lato" panose="020F0502020204030203" pitchFamily="34" charset="0"/>
                <a:sym typeface="Lato"/>
              </a:rPr>
              <a:t>Digital Platform</a:t>
            </a:r>
          </a:p>
          <a:p>
            <a:pPr marL="171450" lvl="0" indent="-171450" algn="just" rtl="0">
              <a:spcBef>
                <a:spcPts val="0"/>
              </a:spcBef>
              <a:spcAft>
                <a:spcPts val="0"/>
              </a:spcAft>
              <a:buFont typeface="Wingdings" panose="05000000000000000000" pitchFamily="2" charset="2"/>
              <a:buChar char="§"/>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Engagement with content creator for developing infographics video  or promotional visuals</a:t>
            </a:r>
          </a:p>
          <a:p>
            <a:pPr marL="171450" lvl="0" indent="-171450" algn="just" rtl="0">
              <a:spcBef>
                <a:spcPts val="0"/>
              </a:spcBef>
              <a:spcAft>
                <a:spcPts val="0"/>
              </a:spcAft>
              <a:buFont typeface="Wingdings" panose="05000000000000000000" pitchFamily="2" charset="2"/>
              <a:buChar char="§"/>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Ads through social media (Google Ads, </a:t>
            </a:r>
            <a:r>
              <a:rPr lang="en-GB" sz="1200" dirty="0" err="1">
                <a:solidFill>
                  <a:schemeClr val="dk1"/>
                </a:solidFill>
                <a:latin typeface="Lato" panose="020F0502020204030203" pitchFamily="34" charset="0"/>
                <a:ea typeface="Lato" panose="020F0502020204030203" pitchFamily="34" charset="0"/>
                <a:cs typeface="Lato" panose="020F0502020204030203" pitchFamily="34" charset="0"/>
                <a:sym typeface="Lato"/>
              </a:rPr>
              <a:t>Youtube</a:t>
            </a: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 FB and X with targeted audience/  property searcher)</a:t>
            </a:r>
          </a:p>
        </p:txBody>
      </p:sp>
      <p:sp>
        <p:nvSpPr>
          <p:cNvPr id="4" name="Google Shape;1458;p45">
            <a:extLst>
              <a:ext uri="{FF2B5EF4-FFF2-40B4-BE49-F238E27FC236}">
                <a16:creationId xmlns:a16="http://schemas.microsoft.com/office/drawing/2014/main" id="{2A08EB04-66D5-9261-A317-6ED89AF87173}"/>
              </a:ext>
            </a:extLst>
          </p:cNvPr>
          <p:cNvSpPr txBox="1"/>
          <p:nvPr/>
        </p:nvSpPr>
        <p:spPr>
          <a:xfrm>
            <a:off x="4333148" y="2687992"/>
            <a:ext cx="3459838" cy="144936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dk1"/>
                </a:solidFill>
                <a:latin typeface="Lato" panose="020F0502020204030203" pitchFamily="34" charset="0"/>
                <a:ea typeface="Lato" panose="020F0502020204030203" pitchFamily="34" charset="0"/>
                <a:cs typeface="Lato" panose="020F0502020204030203" pitchFamily="34" charset="0"/>
                <a:sym typeface="Lato"/>
              </a:rPr>
              <a:t>Referral Program</a:t>
            </a:r>
          </a:p>
          <a:p>
            <a:pPr marL="171450" lvl="0" indent="-171450" algn="just" rtl="0">
              <a:spcBef>
                <a:spcPts val="0"/>
              </a:spcBef>
              <a:spcAft>
                <a:spcPts val="0"/>
              </a:spcAft>
              <a:buFont typeface="Wingdings" panose="05000000000000000000" pitchFamily="2" charset="2"/>
              <a:buChar char="§"/>
            </a:pPr>
            <a:r>
              <a:rPr lang="en-GB" sz="1200" dirty="0">
                <a:solidFill>
                  <a:schemeClr val="dk1"/>
                </a:solidFill>
                <a:latin typeface="Lato" panose="020F0502020204030203" pitchFamily="34" charset="0"/>
                <a:ea typeface="Lato" panose="020F0502020204030203" pitchFamily="34" charset="0"/>
                <a:cs typeface="Lato" panose="020F0502020204030203" pitchFamily="34" charset="0"/>
                <a:sym typeface="Lato"/>
              </a:rPr>
              <a:t>Member-Get-Member – affiliate program, where Landlords/ Tenants earn points, cashback or fee waivers upon inviting new users to the platform.</a:t>
            </a:r>
          </a:p>
        </p:txBody>
      </p:sp>
    </p:spTree>
    <p:extLst>
      <p:ext uri="{BB962C8B-B14F-4D97-AF65-F5344CB8AC3E}">
        <p14:creationId xmlns:p14="http://schemas.microsoft.com/office/powerpoint/2010/main" val="2169140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8">
          <a:extLst>
            <a:ext uri="{FF2B5EF4-FFF2-40B4-BE49-F238E27FC236}">
              <a16:creationId xmlns:a16="http://schemas.microsoft.com/office/drawing/2014/main" id="{C64C8ABE-9D46-6013-2B0C-1C17A0141740}"/>
            </a:ext>
          </a:extLst>
        </p:cNvPr>
        <p:cNvGrpSpPr/>
        <p:nvPr/>
      </p:nvGrpSpPr>
      <p:grpSpPr>
        <a:xfrm>
          <a:off x="0" y="0"/>
          <a:ext cx="0" cy="0"/>
          <a:chOff x="0" y="0"/>
          <a:chExt cx="0" cy="0"/>
        </a:xfrm>
      </p:grpSpPr>
      <p:sp>
        <p:nvSpPr>
          <p:cNvPr id="1449" name="Google Shape;1449;p45">
            <a:extLst>
              <a:ext uri="{FF2B5EF4-FFF2-40B4-BE49-F238E27FC236}">
                <a16:creationId xmlns:a16="http://schemas.microsoft.com/office/drawing/2014/main" id="{CE0309DC-0724-A02D-D939-D54B2854E3D6}"/>
              </a:ext>
            </a:extLst>
          </p:cNvPr>
          <p:cNvSpPr txBox="1">
            <a:spLocks noGrp="1"/>
          </p:cNvSpPr>
          <p:nvPr>
            <p:ph type="title"/>
          </p:nvPr>
        </p:nvSpPr>
        <p:spPr>
          <a:xfrm>
            <a:off x="2106837" y="0"/>
            <a:ext cx="4930325"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Revenue Model</a:t>
            </a:r>
            <a:endParaRPr dirty="0">
              <a:latin typeface="Lato" panose="020F0502020204030203" pitchFamily="34" charset="0"/>
              <a:ea typeface="Lato" panose="020F0502020204030203" pitchFamily="34" charset="0"/>
              <a:cs typeface="Lato" panose="020F0502020204030203" pitchFamily="34" charset="0"/>
            </a:endParaRPr>
          </a:p>
        </p:txBody>
      </p:sp>
      <p:cxnSp>
        <p:nvCxnSpPr>
          <p:cNvPr id="12" name="Straight Connector 11">
            <a:extLst>
              <a:ext uri="{FF2B5EF4-FFF2-40B4-BE49-F238E27FC236}">
                <a16:creationId xmlns:a16="http://schemas.microsoft.com/office/drawing/2014/main" id="{8B54DDD8-62E0-F3DC-8C31-EBD2C862B94C}"/>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B6B00C4-F847-95D3-BE5D-30C506FDF693}"/>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14" name="Freeform 19">
            <a:extLst>
              <a:ext uri="{FF2B5EF4-FFF2-40B4-BE49-F238E27FC236}">
                <a16:creationId xmlns:a16="http://schemas.microsoft.com/office/drawing/2014/main" id="{1F3C07DF-9FE3-2A85-EF7D-C17D0F8DFB07}"/>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15" name="TextBox 22">
            <a:extLst>
              <a:ext uri="{FF2B5EF4-FFF2-40B4-BE49-F238E27FC236}">
                <a16:creationId xmlns:a16="http://schemas.microsoft.com/office/drawing/2014/main" id="{1F7F6F50-B959-B6F3-E480-3C510E41CAAF}"/>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11</a:t>
            </a:r>
          </a:p>
        </p:txBody>
      </p:sp>
      <p:sp>
        <p:nvSpPr>
          <p:cNvPr id="16" name="TextBox 15">
            <a:extLst>
              <a:ext uri="{FF2B5EF4-FFF2-40B4-BE49-F238E27FC236}">
                <a16:creationId xmlns:a16="http://schemas.microsoft.com/office/drawing/2014/main" id="{0A51C54B-551D-7CE6-92CB-5C9FE6C6DCFC}"/>
              </a:ext>
            </a:extLst>
          </p:cNvPr>
          <p:cNvSpPr txBox="1"/>
          <p:nvPr/>
        </p:nvSpPr>
        <p:spPr>
          <a:xfrm>
            <a:off x="450823" y="1044121"/>
            <a:ext cx="7492060" cy="276999"/>
          </a:xfrm>
          <a:prstGeom prst="rect">
            <a:avLst/>
          </a:prstGeom>
          <a:noFill/>
        </p:spPr>
        <p:txBody>
          <a:bodyPr wrap="square">
            <a:spAutoFit/>
          </a:bodyPr>
          <a:lstStyle/>
          <a:p>
            <a:r>
              <a:rPr lang="en-GB" sz="1200" dirty="0" err="1">
                <a:latin typeface="Lato" panose="020F0502020204030203" pitchFamily="34" charset="0"/>
                <a:ea typeface="Lato" panose="020F0502020204030203" pitchFamily="34" charset="0"/>
                <a:cs typeface="Lato" panose="020F0502020204030203" pitchFamily="34" charset="0"/>
              </a:rPr>
              <a:t>LamaNiaga</a:t>
            </a:r>
            <a:r>
              <a:rPr lang="en-GB" sz="1200" dirty="0">
                <a:latin typeface="Lato" panose="020F0502020204030203" pitchFamily="34" charset="0"/>
                <a:ea typeface="Lato" panose="020F0502020204030203" pitchFamily="34" charset="0"/>
                <a:cs typeface="Lato" panose="020F0502020204030203" pitchFamily="34" charset="0"/>
              </a:rPr>
              <a:t> creates value for users while generating sustainable revenue through three primary streams:</a:t>
            </a:r>
          </a:p>
        </p:txBody>
      </p:sp>
      <p:sp>
        <p:nvSpPr>
          <p:cNvPr id="17" name="Google Shape;1338;p42">
            <a:extLst>
              <a:ext uri="{FF2B5EF4-FFF2-40B4-BE49-F238E27FC236}">
                <a16:creationId xmlns:a16="http://schemas.microsoft.com/office/drawing/2014/main" id="{BFD52D60-435D-F576-AA5C-06A31071C873}"/>
              </a:ext>
            </a:extLst>
          </p:cNvPr>
          <p:cNvSpPr/>
          <p:nvPr/>
        </p:nvSpPr>
        <p:spPr>
          <a:xfrm>
            <a:off x="546541" y="1414421"/>
            <a:ext cx="453100" cy="4302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1"/>
                </a:solidFill>
                <a:latin typeface="Lato" panose="020F0502020204030203" pitchFamily="34" charset="0"/>
                <a:ea typeface="Lato" panose="020F0502020204030203" pitchFamily="34" charset="0"/>
                <a:cs typeface="Lato" panose="020F0502020204030203" pitchFamily="34" charset="0"/>
              </a:rPr>
              <a:t>01</a:t>
            </a:r>
            <a:endParaRPr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TextBox 17">
            <a:extLst>
              <a:ext uri="{FF2B5EF4-FFF2-40B4-BE49-F238E27FC236}">
                <a16:creationId xmlns:a16="http://schemas.microsoft.com/office/drawing/2014/main" id="{7AA86159-C8D1-EBAD-48A5-2F2D2327EBAC}"/>
              </a:ext>
            </a:extLst>
          </p:cNvPr>
          <p:cNvSpPr txBox="1"/>
          <p:nvPr/>
        </p:nvSpPr>
        <p:spPr>
          <a:xfrm>
            <a:off x="999642" y="1383572"/>
            <a:ext cx="6943240" cy="461665"/>
          </a:xfrm>
          <a:prstGeom prst="rect">
            <a:avLst/>
          </a:prstGeom>
          <a:noFill/>
        </p:spPr>
        <p:txBody>
          <a:bodyPr wrap="square">
            <a:spAutoFit/>
          </a:bodyPr>
          <a:lstStyle/>
          <a:p>
            <a:r>
              <a:rPr lang="en-GB" sz="1200" b="1" dirty="0">
                <a:latin typeface="Lato" panose="020F0502020204030203" pitchFamily="34" charset="0"/>
                <a:ea typeface="Lato" panose="020F0502020204030203" pitchFamily="34" charset="0"/>
                <a:cs typeface="Lato" panose="020F0502020204030203" pitchFamily="34" charset="0"/>
              </a:rPr>
              <a:t>Transaction Service Fees</a:t>
            </a:r>
            <a:r>
              <a:rPr lang="en-GB" sz="1200" dirty="0">
                <a:latin typeface="Lato" panose="020F0502020204030203" pitchFamily="34" charset="0"/>
                <a:ea typeface="Lato" panose="020F0502020204030203" pitchFamily="34" charset="0"/>
                <a:cs typeface="Lato" panose="020F0502020204030203" pitchFamily="34" charset="0"/>
              </a:rPr>
              <a:t>: A small service charge or percentage is applied to every successful sales and rental transaction through the app</a:t>
            </a:r>
          </a:p>
        </p:txBody>
      </p:sp>
      <p:sp>
        <p:nvSpPr>
          <p:cNvPr id="19" name="Google Shape;1338;p42">
            <a:extLst>
              <a:ext uri="{FF2B5EF4-FFF2-40B4-BE49-F238E27FC236}">
                <a16:creationId xmlns:a16="http://schemas.microsoft.com/office/drawing/2014/main" id="{3202FB79-65BB-94D5-2D5E-CC092C8845D2}"/>
              </a:ext>
            </a:extLst>
          </p:cNvPr>
          <p:cNvSpPr/>
          <p:nvPr/>
        </p:nvSpPr>
        <p:spPr>
          <a:xfrm>
            <a:off x="546541" y="1979838"/>
            <a:ext cx="453100" cy="4302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1"/>
                </a:solidFill>
                <a:latin typeface="Lato" panose="020F0502020204030203" pitchFamily="34" charset="0"/>
                <a:ea typeface="Lato" panose="020F0502020204030203" pitchFamily="34" charset="0"/>
                <a:cs typeface="Lato" panose="020F0502020204030203" pitchFamily="34" charset="0"/>
              </a:rPr>
              <a:t>02</a:t>
            </a:r>
            <a:endParaRPr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0" name="TextBox 19">
            <a:extLst>
              <a:ext uri="{FF2B5EF4-FFF2-40B4-BE49-F238E27FC236}">
                <a16:creationId xmlns:a16="http://schemas.microsoft.com/office/drawing/2014/main" id="{8CE2007A-85CA-DDD9-A2F6-6B89397350A1}"/>
              </a:ext>
            </a:extLst>
          </p:cNvPr>
          <p:cNvSpPr txBox="1"/>
          <p:nvPr/>
        </p:nvSpPr>
        <p:spPr>
          <a:xfrm>
            <a:off x="999642" y="1938231"/>
            <a:ext cx="6943240" cy="461665"/>
          </a:xfrm>
          <a:prstGeom prst="rect">
            <a:avLst/>
          </a:prstGeom>
          <a:noFill/>
        </p:spPr>
        <p:txBody>
          <a:bodyPr wrap="square">
            <a:spAutoFit/>
          </a:bodyPr>
          <a:lstStyle/>
          <a:p>
            <a:r>
              <a:rPr lang="en-GB" sz="1200" b="1" dirty="0">
                <a:latin typeface="Lato" panose="020F0502020204030203" pitchFamily="34" charset="0"/>
                <a:ea typeface="Lato" panose="020F0502020204030203" pitchFamily="34" charset="0"/>
                <a:cs typeface="Lato" panose="020F0502020204030203" pitchFamily="34" charset="0"/>
              </a:rPr>
              <a:t>Premium Documentation (E-Tenancy Agreements): </a:t>
            </a:r>
            <a:r>
              <a:rPr lang="en-GB" sz="1200" dirty="0">
                <a:latin typeface="Lato" panose="020F0502020204030203" pitchFamily="34" charset="0"/>
                <a:ea typeface="Lato" panose="020F0502020204030203" pitchFamily="34" charset="0"/>
                <a:cs typeface="Lato" panose="020F0502020204030203" pitchFamily="34" charset="0"/>
              </a:rPr>
              <a:t>While basic features are free, the generation of a comprehensive, legally binding Digital Tenancy Agreement is a paid premium service</a:t>
            </a:r>
          </a:p>
        </p:txBody>
      </p:sp>
      <p:sp>
        <p:nvSpPr>
          <p:cNvPr id="21" name="Google Shape;1338;p42">
            <a:extLst>
              <a:ext uri="{FF2B5EF4-FFF2-40B4-BE49-F238E27FC236}">
                <a16:creationId xmlns:a16="http://schemas.microsoft.com/office/drawing/2014/main" id="{A4A76A93-8183-65DA-E64E-8DEB4D23AA3B}"/>
              </a:ext>
            </a:extLst>
          </p:cNvPr>
          <p:cNvSpPr/>
          <p:nvPr/>
        </p:nvSpPr>
        <p:spPr>
          <a:xfrm>
            <a:off x="546541" y="2545255"/>
            <a:ext cx="453100" cy="4302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1"/>
                </a:solidFill>
                <a:latin typeface="Lato" panose="020F0502020204030203" pitchFamily="34" charset="0"/>
                <a:ea typeface="Lato" panose="020F0502020204030203" pitchFamily="34" charset="0"/>
                <a:cs typeface="Lato" panose="020F0502020204030203" pitchFamily="34" charset="0"/>
              </a:rPr>
              <a:t>03</a:t>
            </a:r>
            <a:endParaRPr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453CFAE3-2337-05BD-3DFC-4E93CBF06BEA}"/>
              </a:ext>
            </a:extLst>
          </p:cNvPr>
          <p:cNvSpPr txBox="1"/>
          <p:nvPr/>
        </p:nvSpPr>
        <p:spPr>
          <a:xfrm>
            <a:off x="999642" y="2618185"/>
            <a:ext cx="6943240" cy="276999"/>
          </a:xfrm>
          <a:prstGeom prst="rect">
            <a:avLst/>
          </a:prstGeom>
          <a:noFill/>
        </p:spPr>
        <p:txBody>
          <a:bodyPr wrap="square">
            <a:spAutoFit/>
          </a:bodyPr>
          <a:lstStyle/>
          <a:p>
            <a:r>
              <a:rPr lang="en-GB" sz="1200" b="1" dirty="0">
                <a:latin typeface="Lato" panose="020F0502020204030203" pitchFamily="34" charset="0"/>
                <a:ea typeface="Lato" panose="020F0502020204030203" pitchFamily="34" charset="0"/>
                <a:cs typeface="Lato" panose="020F0502020204030203" pitchFamily="34" charset="0"/>
              </a:rPr>
              <a:t>Subscription Fee</a:t>
            </a:r>
            <a:r>
              <a:rPr lang="en-GB" sz="1200" dirty="0">
                <a:latin typeface="Lato" panose="020F0502020204030203" pitchFamily="34" charset="0"/>
                <a:ea typeface="Lato" panose="020F0502020204030203" pitchFamily="34" charset="0"/>
                <a:cs typeface="Lato" panose="020F0502020204030203" pitchFamily="34" charset="0"/>
              </a:rPr>
              <a:t>: Monthly flat fees for Real Estate Agents/ Negotiator for property listing</a:t>
            </a:r>
          </a:p>
        </p:txBody>
      </p:sp>
    </p:spTree>
    <p:extLst>
      <p:ext uri="{BB962C8B-B14F-4D97-AF65-F5344CB8AC3E}">
        <p14:creationId xmlns:p14="http://schemas.microsoft.com/office/powerpoint/2010/main" val="1930558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0"/>
        <p:cNvGrpSpPr/>
        <p:nvPr/>
      </p:nvGrpSpPr>
      <p:grpSpPr>
        <a:xfrm>
          <a:off x="0" y="0"/>
          <a:ext cx="0" cy="0"/>
          <a:chOff x="0" y="0"/>
          <a:chExt cx="0" cy="0"/>
        </a:xfrm>
      </p:grpSpPr>
      <p:sp>
        <p:nvSpPr>
          <p:cNvPr id="1421" name="Google Shape;1421;p44"/>
          <p:cNvSpPr txBox="1">
            <a:spLocks noGrp="1"/>
          </p:cNvSpPr>
          <p:nvPr>
            <p:ph type="title"/>
          </p:nvPr>
        </p:nvSpPr>
        <p:spPr>
          <a:xfrm>
            <a:off x="720000" y="590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Organizational chart</a:t>
            </a:r>
            <a:endParaRPr dirty="0">
              <a:latin typeface="Lato" panose="020F0502020204030203" pitchFamily="34" charset="0"/>
              <a:ea typeface="Lato" panose="020F0502020204030203" pitchFamily="34" charset="0"/>
              <a:cs typeface="Lato" panose="020F0502020204030203" pitchFamily="34" charset="0"/>
            </a:endParaRPr>
          </a:p>
        </p:txBody>
      </p:sp>
      <p:grpSp>
        <p:nvGrpSpPr>
          <p:cNvPr id="32" name="Group 31">
            <a:extLst>
              <a:ext uri="{FF2B5EF4-FFF2-40B4-BE49-F238E27FC236}">
                <a16:creationId xmlns:a16="http://schemas.microsoft.com/office/drawing/2014/main" id="{08E8F943-C06E-8F8F-14AC-AEE9722D61B9}"/>
              </a:ext>
            </a:extLst>
          </p:cNvPr>
          <p:cNvGrpSpPr/>
          <p:nvPr/>
        </p:nvGrpSpPr>
        <p:grpSpPr>
          <a:xfrm>
            <a:off x="433281" y="1127067"/>
            <a:ext cx="6930971" cy="3367442"/>
            <a:chOff x="1196625" y="1158063"/>
            <a:chExt cx="7532149" cy="4160105"/>
          </a:xfrm>
        </p:grpSpPr>
        <p:cxnSp>
          <p:nvCxnSpPr>
            <p:cNvPr id="33" name="Straight Connector 32">
              <a:extLst>
                <a:ext uri="{FF2B5EF4-FFF2-40B4-BE49-F238E27FC236}">
                  <a16:creationId xmlns:a16="http://schemas.microsoft.com/office/drawing/2014/main" id="{84FF13ED-C47A-99B4-6258-7B2314C6B8AE}"/>
                </a:ext>
              </a:extLst>
            </p:cNvPr>
            <p:cNvCxnSpPr/>
            <p:nvPr/>
          </p:nvCxnSpPr>
          <p:spPr>
            <a:xfrm rot="5400000">
              <a:off x="5707565" y="1669061"/>
              <a:ext cx="457200" cy="1588"/>
            </a:xfrm>
            <a:prstGeom prst="line">
              <a:avLst/>
            </a:prstGeom>
            <a:noFill/>
            <a:ln w="9525" cap="flat" cmpd="sng" algn="ctr">
              <a:solidFill>
                <a:srgbClr val="0488BB">
                  <a:shade val="95000"/>
                  <a:satMod val="105000"/>
                </a:srgbClr>
              </a:solidFill>
              <a:prstDash val="solid"/>
            </a:ln>
            <a:effectLst/>
          </p:spPr>
        </p:cxnSp>
        <p:cxnSp>
          <p:nvCxnSpPr>
            <p:cNvPr id="34" name="Straight Connector 33">
              <a:extLst>
                <a:ext uri="{FF2B5EF4-FFF2-40B4-BE49-F238E27FC236}">
                  <a16:creationId xmlns:a16="http://schemas.microsoft.com/office/drawing/2014/main" id="{101B5DB4-E1BE-A69A-4B52-35E182526FE0}"/>
                </a:ext>
              </a:extLst>
            </p:cNvPr>
            <p:cNvCxnSpPr>
              <a:cxnSpLocks/>
            </p:cNvCxnSpPr>
            <p:nvPr/>
          </p:nvCxnSpPr>
          <p:spPr>
            <a:xfrm>
              <a:off x="3979678" y="3043360"/>
              <a:ext cx="3992593" cy="0"/>
            </a:xfrm>
            <a:prstGeom prst="line">
              <a:avLst/>
            </a:prstGeom>
            <a:noFill/>
            <a:ln w="9525" cap="flat" cmpd="sng" algn="ctr">
              <a:solidFill>
                <a:srgbClr val="0488BB">
                  <a:shade val="95000"/>
                  <a:satMod val="105000"/>
                </a:srgbClr>
              </a:solidFill>
              <a:prstDash val="solid"/>
            </a:ln>
            <a:effectLst/>
          </p:spPr>
        </p:cxnSp>
        <p:sp>
          <p:nvSpPr>
            <p:cNvPr id="35" name="Rectangle 34">
              <a:extLst>
                <a:ext uri="{FF2B5EF4-FFF2-40B4-BE49-F238E27FC236}">
                  <a16:creationId xmlns:a16="http://schemas.microsoft.com/office/drawing/2014/main" id="{EF302A9F-96B6-D90A-B02E-6600AA2BA915}"/>
                </a:ext>
              </a:extLst>
            </p:cNvPr>
            <p:cNvSpPr/>
            <p:nvPr/>
          </p:nvSpPr>
          <p:spPr>
            <a:xfrm>
              <a:off x="5164549" y="2520192"/>
              <a:ext cx="1524000"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Affendi Omar</a:t>
              </a:r>
            </a:p>
          </p:txBody>
        </p:sp>
        <p:sp>
          <p:nvSpPr>
            <p:cNvPr id="36" name="Rectangle 35">
              <a:extLst>
                <a:ext uri="{FF2B5EF4-FFF2-40B4-BE49-F238E27FC236}">
                  <a16:creationId xmlns:a16="http://schemas.microsoft.com/office/drawing/2014/main" id="{4D8194CE-E516-F327-08B5-ED8C34DC57FD}"/>
                </a:ext>
              </a:extLst>
            </p:cNvPr>
            <p:cNvSpPr/>
            <p:nvPr/>
          </p:nvSpPr>
          <p:spPr>
            <a:xfrm>
              <a:off x="3220910" y="3287178"/>
              <a:ext cx="1524000" cy="304800"/>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white"/>
                  </a:solidFill>
                  <a:effectLst/>
                  <a:uLnTx/>
                  <a:uFillTx/>
                  <a:latin typeface="Century Gothic"/>
                  <a:ea typeface="+mn-ea"/>
                  <a:cs typeface="+mn-cs"/>
                </a:rPr>
                <a:t>Lead Developer</a:t>
              </a:r>
            </a:p>
          </p:txBody>
        </p:sp>
        <p:sp>
          <p:nvSpPr>
            <p:cNvPr id="37" name="Rectangle 36">
              <a:extLst>
                <a:ext uri="{FF2B5EF4-FFF2-40B4-BE49-F238E27FC236}">
                  <a16:creationId xmlns:a16="http://schemas.microsoft.com/office/drawing/2014/main" id="{E6DFE65B-151B-0875-B966-AFC0E46677B5}"/>
                </a:ext>
              </a:extLst>
            </p:cNvPr>
            <p:cNvSpPr/>
            <p:nvPr/>
          </p:nvSpPr>
          <p:spPr>
            <a:xfrm>
              <a:off x="3218244" y="3622086"/>
              <a:ext cx="1526665"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Mohd </a:t>
              </a:r>
              <a:r>
                <a:rPr kumimoji="0" lang="en-US" sz="900" b="0" i="0" u="none" strike="noStrike" kern="0" cap="none" spc="0" normalizeH="0" baseline="0" noProof="0" dirty="0" err="1">
                  <a:ln>
                    <a:noFill/>
                  </a:ln>
                  <a:solidFill>
                    <a:prstClr val="black"/>
                  </a:solidFill>
                  <a:effectLst/>
                  <a:uLnTx/>
                  <a:uFillTx/>
                  <a:latin typeface="Century Gothic"/>
                  <a:ea typeface="+mn-ea"/>
                  <a:cs typeface="+mn-cs"/>
                </a:rPr>
                <a:t>Izwan</a:t>
              </a:r>
              <a:endParaRPr kumimoji="0" lang="en-US" sz="900" b="0" i="0" u="none" strike="noStrike" kern="0" cap="none" spc="0" normalizeH="0" baseline="0" noProof="0" dirty="0">
                <a:ln>
                  <a:noFill/>
                </a:ln>
                <a:solidFill>
                  <a:prstClr val="black"/>
                </a:solidFill>
                <a:effectLst/>
                <a:uLnTx/>
                <a:uFillTx/>
                <a:latin typeface="Century Gothic"/>
                <a:ea typeface="+mn-ea"/>
                <a:cs typeface="+mn-cs"/>
              </a:endParaRPr>
            </a:p>
          </p:txBody>
        </p:sp>
        <p:sp>
          <p:nvSpPr>
            <p:cNvPr id="38" name="Rectangle 37">
              <a:extLst>
                <a:ext uri="{FF2B5EF4-FFF2-40B4-BE49-F238E27FC236}">
                  <a16:creationId xmlns:a16="http://schemas.microsoft.com/office/drawing/2014/main" id="{E8591F73-F8CF-8E32-C9B5-5F5CAC02FB21}"/>
                </a:ext>
              </a:extLst>
            </p:cNvPr>
            <p:cNvSpPr/>
            <p:nvPr/>
          </p:nvSpPr>
          <p:spPr>
            <a:xfrm>
              <a:off x="3224780" y="4359741"/>
              <a:ext cx="1524000" cy="304800"/>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kern="0" dirty="0">
                  <a:solidFill>
                    <a:prstClr val="white"/>
                  </a:solidFill>
                  <a:latin typeface="Century Gothic"/>
                </a:rPr>
                <a:t>Developer</a:t>
              </a:r>
              <a:endParaRPr kumimoji="0" lang="en-US" sz="900" b="0" i="0" u="none" strike="noStrike" kern="0" cap="none" spc="0" normalizeH="0" baseline="0" noProof="0" dirty="0">
                <a:ln>
                  <a:noFill/>
                </a:ln>
                <a:solidFill>
                  <a:prstClr val="white"/>
                </a:solidFill>
                <a:effectLst/>
                <a:uLnTx/>
                <a:uFillTx/>
                <a:latin typeface="Century Gothic"/>
                <a:ea typeface="+mn-ea"/>
                <a:cs typeface="+mn-cs"/>
              </a:endParaRPr>
            </a:p>
          </p:txBody>
        </p:sp>
        <p:sp>
          <p:nvSpPr>
            <p:cNvPr id="39" name="Rectangle 38">
              <a:extLst>
                <a:ext uri="{FF2B5EF4-FFF2-40B4-BE49-F238E27FC236}">
                  <a16:creationId xmlns:a16="http://schemas.microsoft.com/office/drawing/2014/main" id="{9F59F42E-0917-3D41-835E-2CAECB2F8129}"/>
                </a:ext>
              </a:extLst>
            </p:cNvPr>
            <p:cNvSpPr/>
            <p:nvPr/>
          </p:nvSpPr>
          <p:spPr>
            <a:xfrm>
              <a:off x="3224780" y="4696440"/>
              <a:ext cx="1524000"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Developer 1</a:t>
              </a:r>
            </a:p>
          </p:txBody>
        </p:sp>
        <p:sp>
          <p:nvSpPr>
            <p:cNvPr id="40" name="Rectangle 39">
              <a:extLst>
                <a:ext uri="{FF2B5EF4-FFF2-40B4-BE49-F238E27FC236}">
                  <a16:creationId xmlns:a16="http://schemas.microsoft.com/office/drawing/2014/main" id="{1E710B6E-D8C1-14D8-917C-64FE37F82633}"/>
                </a:ext>
              </a:extLst>
            </p:cNvPr>
            <p:cNvSpPr/>
            <p:nvPr/>
          </p:nvSpPr>
          <p:spPr>
            <a:xfrm>
              <a:off x="5173371" y="4360206"/>
              <a:ext cx="1524000" cy="304800"/>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white"/>
                  </a:solidFill>
                  <a:effectLst/>
                  <a:uLnTx/>
                  <a:uFillTx/>
                  <a:latin typeface="Century Gothic"/>
                  <a:ea typeface="+mn-ea"/>
                  <a:cs typeface="+mn-cs"/>
                </a:rPr>
                <a:t>Analyst &amp; Tester</a:t>
              </a:r>
            </a:p>
          </p:txBody>
        </p:sp>
        <p:sp>
          <p:nvSpPr>
            <p:cNvPr id="41" name="Rectangle 40">
              <a:extLst>
                <a:ext uri="{FF2B5EF4-FFF2-40B4-BE49-F238E27FC236}">
                  <a16:creationId xmlns:a16="http://schemas.microsoft.com/office/drawing/2014/main" id="{244244E9-9075-E43B-6665-8B38B0088E4F}"/>
                </a:ext>
              </a:extLst>
            </p:cNvPr>
            <p:cNvSpPr/>
            <p:nvPr/>
          </p:nvSpPr>
          <p:spPr>
            <a:xfrm>
              <a:off x="5164549" y="4689475"/>
              <a:ext cx="1524000"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Analyst/ Tester 1</a:t>
              </a:r>
            </a:p>
          </p:txBody>
        </p:sp>
        <p:sp>
          <p:nvSpPr>
            <p:cNvPr id="42" name="Rectangle 41">
              <a:extLst>
                <a:ext uri="{FF2B5EF4-FFF2-40B4-BE49-F238E27FC236}">
                  <a16:creationId xmlns:a16="http://schemas.microsoft.com/office/drawing/2014/main" id="{00528AFC-0E4F-D27C-E402-4B63880DBAFF}"/>
                </a:ext>
              </a:extLst>
            </p:cNvPr>
            <p:cNvSpPr/>
            <p:nvPr/>
          </p:nvSpPr>
          <p:spPr>
            <a:xfrm>
              <a:off x="5164549" y="2215392"/>
              <a:ext cx="1524000" cy="304800"/>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white"/>
                  </a:solidFill>
                  <a:effectLst/>
                  <a:uLnTx/>
                  <a:uFillTx/>
                  <a:latin typeface="Century Gothic"/>
                  <a:ea typeface="+mn-ea"/>
                  <a:cs typeface="+mn-cs"/>
                </a:rPr>
                <a:t>Project Manager</a:t>
              </a:r>
            </a:p>
          </p:txBody>
        </p:sp>
        <p:sp>
          <p:nvSpPr>
            <p:cNvPr id="43" name="Rectangle 42">
              <a:extLst>
                <a:ext uri="{FF2B5EF4-FFF2-40B4-BE49-F238E27FC236}">
                  <a16:creationId xmlns:a16="http://schemas.microsoft.com/office/drawing/2014/main" id="{DE4877E6-D266-DC45-FD04-09BF32D28274}"/>
                </a:ext>
              </a:extLst>
            </p:cNvPr>
            <p:cNvSpPr/>
            <p:nvPr/>
          </p:nvSpPr>
          <p:spPr>
            <a:xfrm>
              <a:off x="5152717" y="1478865"/>
              <a:ext cx="1524000" cy="453598"/>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Mohammad Zam Zam</a:t>
              </a:r>
            </a:p>
            <a:p>
              <a:pPr marL="0" marR="0" lvl="0" indent="0" algn="ctr" defTabSz="914400" eaLnBrk="1" fontAlgn="auto" latinLnBrk="0" hangingPunct="1">
                <a:lnSpc>
                  <a:spcPct val="100000"/>
                </a:lnSpc>
                <a:spcBef>
                  <a:spcPts val="0"/>
                </a:spcBef>
                <a:spcAft>
                  <a:spcPts val="0"/>
                </a:spcAft>
                <a:buClrTx/>
                <a:buSzTx/>
                <a:buFontTx/>
                <a:buNone/>
                <a:tabLst/>
                <a:defRPr/>
              </a:pPr>
              <a:r>
                <a:rPr lang="en-US" sz="900" kern="0" dirty="0">
                  <a:solidFill>
                    <a:prstClr val="black"/>
                  </a:solidFill>
                  <a:latin typeface="Century Gothic"/>
                </a:rPr>
                <a:t>Mohd </a:t>
              </a:r>
              <a:r>
                <a:rPr lang="en-US" sz="900" kern="0" dirty="0" err="1">
                  <a:solidFill>
                    <a:prstClr val="black"/>
                  </a:solidFill>
                  <a:latin typeface="Century Gothic"/>
                </a:rPr>
                <a:t>Izwan</a:t>
              </a:r>
              <a:endParaRPr kumimoji="0" lang="en-US" sz="900" b="0" i="0" u="none" strike="noStrike" kern="0" cap="none" spc="0" normalizeH="0" baseline="0" noProof="0" dirty="0">
                <a:ln>
                  <a:noFill/>
                </a:ln>
                <a:solidFill>
                  <a:prstClr val="black"/>
                </a:solidFill>
                <a:effectLst/>
                <a:uLnTx/>
                <a:uFillTx/>
                <a:latin typeface="Century Gothic"/>
                <a:ea typeface="+mn-ea"/>
                <a:cs typeface="+mn-cs"/>
              </a:endParaRPr>
            </a:p>
          </p:txBody>
        </p:sp>
        <p:sp>
          <p:nvSpPr>
            <p:cNvPr id="44" name="Rectangle 43">
              <a:extLst>
                <a:ext uri="{FF2B5EF4-FFF2-40B4-BE49-F238E27FC236}">
                  <a16:creationId xmlns:a16="http://schemas.microsoft.com/office/drawing/2014/main" id="{A4A2700D-A961-2C98-644A-08B4B5F042E2}"/>
                </a:ext>
              </a:extLst>
            </p:cNvPr>
            <p:cNvSpPr/>
            <p:nvPr/>
          </p:nvSpPr>
          <p:spPr>
            <a:xfrm>
              <a:off x="5152717" y="1158063"/>
              <a:ext cx="1524000" cy="304800"/>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white"/>
                  </a:solidFill>
                  <a:effectLst/>
                  <a:uLnTx/>
                  <a:uFillTx/>
                  <a:latin typeface="Century Gothic"/>
                  <a:ea typeface="+mn-ea"/>
                  <a:cs typeface="+mn-cs"/>
                </a:rPr>
                <a:t>Project </a:t>
              </a:r>
              <a:r>
                <a:rPr lang="en-US" sz="900" b="1" kern="0" dirty="0">
                  <a:solidFill>
                    <a:prstClr val="white"/>
                  </a:solidFill>
                  <a:latin typeface="Century Gothic"/>
                </a:rPr>
                <a:t>Committee Members</a:t>
              </a:r>
              <a:endParaRPr kumimoji="0" lang="en-US" sz="900" b="1" i="0" u="none" strike="noStrike" kern="0" cap="none" spc="0" normalizeH="0" baseline="0" noProof="0" dirty="0">
                <a:ln>
                  <a:noFill/>
                </a:ln>
                <a:solidFill>
                  <a:prstClr val="white"/>
                </a:solidFill>
                <a:effectLst/>
                <a:uLnTx/>
                <a:uFillTx/>
                <a:latin typeface="Century Gothic"/>
                <a:ea typeface="+mn-ea"/>
                <a:cs typeface="+mn-cs"/>
              </a:endParaRPr>
            </a:p>
          </p:txBody>
        </p:sp>
        <p:sp>
          <p:nvSpPr>
            <p:cNvPr id="45" name="Rectangle 44">
              <a:extLst>
                <a:ext uri="{FF2B5EF4-FFF2-40B4-BE49-F238E27FC236}">
                  <a16:creationId xmlns:a16="http://schemas.microsoft.com/office/drawing/2014/main" id="{15AA26B7-7D5B-2AAF-6379-73ACE242934D}"/>
                </a:ext>
              </a:extLst>
            </p:cNvPr>
            <p:cNvSpPr/>
            <p:nvPr/>
          </p:nvSpPr>
          <p:spPr>
            <a:xfrm>
              <a:off x="7204756" y="3287378"/>
              <a:ext cx="1522412" cy="279149"/>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white"/>
                  </a:solidFill>
                  <a:effectLst/>
                  <a:uLnTx/>
                  <a:uFillTx/>
                  <a:latin typeface="Century Gothic"/>
                  <a:ea typeface="+mn-ea"/>
                  <a:cs typeface="+mn-cs"/>
                </a:rPr>
                <a:t>SME</a:t>
              </a:r>
            </a:p>
          </p:txBody>
        </p:sp>
        <p:sp>
          <p:nvSpPr>
            <p:cNvPr id="46" name="Rectangle 45">
              <a:extLst>
                <a:ext uri="{FF2B5EF4-FFF2-40B4-BE49-F238E27FC236}">
                  <a16:creationId xmlns:a16="http://schemas.microsoft.com/office/drawing/2014/main" id="{758D40E6-CEC9-076D-F47D-3DDB2A366F10}"/>
                </a:ext>
              </a:extLst>
            </p:cNvPr>
            <p:cNvSpPr/>
            <p:nvPr/>
          </p:nvSpPr>
          <p:spPr>
            <a:xfrm>
              <a:off x="7209957" y="3588752"/>
              <a:ext cx="1515277" cy="332141"/>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Legal</a:t>
              </a:r>
            </a:p>
          </p:txBody>
        </p:sp>
        <p:sp>
          <p:nvSpPr>
            <p:cNvPr id="47" name="Rectangle 46">
              <a:extLst>
                <a:ext uri="{FF2B5EF4-FFF2-40B4-BE49-F238E27FC236}">
                  <a16:creationId xmlns:a16="http://schemas.microsoft.com/office/drawing/2014/main" id="{76D46740-6165-09EF-B50B-02883E66E932}"/>
                </a:ext>
              </a:extLst>
            </p:cNvPr>
            <p:cNvSpPr/>
            <p:nvPr/>
          </p:nvSpPr>
          <p:spPr>
            <a:xfrm>
              <a:off x="7204774" y="3924008"/>
              <a:ext cx="1524000"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Property Agent</a:t>
              </a:r>
            </a:p>
          </p:txBody>
        </p:sp>
        <p:sp>
          <p:nvSpPr>
            <p:cNvPr id="48" name="Rectangle 47">
              <a:extLst>
                <a:ext uri="{FF2B5EF4-FFF2-40B4-BE49-F238E27FC236}">
                  <a16:creationId xmlns:a16="http://schemas.microsoft.com/office/drawing/2014/main" id="{4A50741A-B3E6-2986-C82A-FA8E24310F0A}"/>
                </a:ext>
              </a:extLst>
            </p:cNvPr>
            <p:cNvSpPr/>
            <p:nvPr/>
          </p:nvSpPr>
          <p:spPr>
            <a:xfrm>
              <a:off x="3224780" y="5013368"/>
              <a:ext cx="1524000"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Developer 2</a:t>
              </a:r>
            </a:p>
          </p:txBody>
        </p:sp>
        <p:sp>
          <p:nvSpPr>
            <p:cNvPr id="49" name="Rectangle 48">
              <a:extLst>
                <a:ext uri="{FF2B5EF4-FFF2-40B4-BE49-F238E27FC236}">
                  <a16:creationId xmlns:a16="http://schemas.microsoft.com/office/drawing/2014/main" id="{896F334B-5BC3-E0A3-B771-C367400FCBE2}"/>
                </a:ext>
              </a:extLst>
            </p:cNvPr>
            <p:cNvSpPr/>
            <p:nvPr/>
          </p:nvSpPr>
          <p:spPr>
            <a:xfrm>
              <a:off x="5164549" y="3274384"/>
              <a:ext cx="1524000" cy="304800"/>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kern="0" dirty="0">
                  <a:solidFill>
                    <a:prstClr val="white"/>
                  </a:solidFill>
                  <a:latin typeface="Century Gothic"/>
                </a:rPr>
                <a:t>Solution Architect</a:t>
              </a:r>
              <a:endParaRPr kumimoji="0" lang="en-US" sz="900" b="0" i="0" u="none" strike="noStrike" kern="0" cap="none" spc="0" normalizeH="0" baseline="0" noProof="0" dirty="0">
                <a:ln>
                  <a:noFill/>
                </a:ln>
                <a:solidFill>
                  <a:prstClr val="white"/>
                </a:solidFill>
                <a:effectLst/>
                <a:uLnTx/>
                <a:uFillTx/>
                <a:latin typeface="Century Gothic"/>
                <a:ea typeface="+mn-ea"/>
                <a:cs typeface="+mn-cs"/>
              </a:endParaRPr>
            </a:p>
          </p:txBody>
        </p:sp>
        <p:sp>
          <p:nvSpPr>
            <p:cNvPr id="50" name="Rectangle 49">
              <a:extLst>
                <a:ext uri="{FF2B5EF4-FFF2-40B4-BE49-F238E27FC236}">
                  <a16:creationId xmlns:a16="http://schemas.microsoft.com/office/drawing/2014/main" id="{BBA427E1-63E9-E9BF-AE5A-1D0552B4D6E8}"/>
                </a:ext>
              </a:extLst>
            </p:cNvPr>
            <p:cNvSpPr/>
            <p:nvPr/>
          </p:nvSpPr>
          <p:spPr>
            <a:xfrm>
              <a:off x="5164549" y="3601510"/>
              <a:ext cx="1524000"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Mohd </a:t>
              </a:r>
              <a:r>
                <a:rPr kumimoji="0" lang="en-US" sz="900" b="0" i="0" u="none" strike="noStrike" kern="0" cap="none" spc="0" normalizeH="0" baseline="0" noProof="0" dirty="0" err="1">
                  <a:ln>
                    <a:noFill/>
                  </a:ln>
                  <a:solidFill>
                    <a:prstClr val="black"/>
                  </a:solidFill>
                  <a:effectLst/>
                  <a:uLnTx/>
                  <a:uFillTx/>
                  <a:latin typeface="Century Gothic"/>
                  <a:ea typeface="+mn-ea"/>
                  <a:cs typeface="+mn-cs"/>
                </a:rPr>
                <a:t>Izwan</a:t>
              </a:r>
              <a:endParaRPr kumimoji="0" lang="en-US" sz="900" b="0" i="0" u="none" strike="noStrike" kern="0" cap="none" spc="0" normalizeH="0" baseline="0" noProof="0" dirty="0">
                <a:ln>
                  <a:noFill/>
                </a:ln>
                <a:solidFill>
                  <a:prstClr val="black"/>
                </a:solidFill>
                <a:effectLst/>
                <a:uLnTx/>
                <a:uFillTx/>
                <a:latin typeface="Century Gothic"/>
                <a:ea typeface="+mn-ea"/>
                <a:cs typeface="+mn-cs"/>
              </a:endParaRPr>
            </a:p>
          </p:txBody>
        </p:sp>
        <p:cxnSp>
          <p:nvCxnSpPr>
            <p:cNvPr id="51" name="Straight Connector 50">
              <a:extLst>
                <a:ext uri="{FF2B5EF4-FFF2-40B4-BE49-F238E27FC236}">
                  <a16:creationId xmlns:a16="http://schemas.microsoft.com/office/drawing/2014/main" id="{12EAC85E-7C4A-6BDD-03C7-77E51DFD4EFA}"/>
                </a:ext>
              </a:extLst>
            </p:cNvPr>
            <p:cNvCxnSpPr/>
            <p:nvPr/>
          </p:nvCxnSpPr>
          <p:spPr>
            <a:xfrm rot="5400000">
              <a:off x="3866172" y="3156055"/>
              <a:ext cx="228600" cy="1588"/>
            </a:xfrm>
            <a:prstGeom prst="line">
              <a:avLst/>
            </a:prstGeom>
            <a:noFill/>
            <a:ln w="9525" cap="flat" cmpd="sng" algn="ctr">
              <a:solidFill>
                <a:srgbClr val="0488BB">
                  <a:shade val="95000"/>
                  <a:satMod val="105000"/>
                </a:srgbClr>
              </a:solidFill>
              <a:prstDash val="solid"/>
            </a:ln>
            <a:effectLst/>
          </p:spPr>
        </p:cxnSp>
        <p:cxnSp>
          <p:nvCxnSpPr>
            <p:cNvPr id="52" name="Straight Connector 51">
              <a:extLst>
                <a:ext uri="{FF2B5EF4-FFF2-40B4-BE49-F238E27FC236}">
                  <a16:creationId xmlns:a16="http://schemas.microsoft.com/office/drawing/2014/main" id="{50661A75-8827-BB42-1424-0544C599912C}"/>
                </a:ext>
              </a:extLst>
            </p:cNvPr>
            <p:cNvCxnSpPr>
              <a:cxnSpLocks/>
              <a:stCxn id="37" idx="2"/>
              <a:endCxn id="38" idx="0"/>
            </p:cNvCxnSpPr>
            <p:nvPr/>
          </p:nvCxnSpPr>
          <p:spPr>
            <a:xfrm>
              <a:off x="3981577" y="3926886"/>
              <a:ext cx="5203" cy="432855"/>
            </a:xfrm>
            <a:prstGeom prst="line">
              <a:avLst/>
            </a:prstGeom>
            <a:noFill/>
            <a:ln w="9525" cap="flat" cmpd="sng" algn="ctr">
              <a:solidFill>
                <a:srgbClr val="0488BB">
                  <a:shade val="95000"/>
                  <a:satMod val="105000"/>
                </a:srgbClr>
              </a:solidFill>
              <a:prstDash val="solid"/>
            </a:ln>
            <a:effectLst/>
          </p:spPr>
        </p:cxnSp>
        <p:cxnSp>
          <p:nvCxnSpPr>
            <p:cNvPr id="53" name="Straight Connector 52">
              <a:extLst>
                <a:ext uri="{FF2B5EF4-FFF2-40B4-BE49-F238E27FC236}">
                  <a16:creationId xmlns:a16="http://schemas.microsoft.com/office/drawing/2014/main" id="{021F0242-F547-CEE3-F1A0-0A0610259334}"/>
                </a:ext>
              </a:extLst>
            </p:cNvPr>
            <p:cNvCxnSpPr>
              <a:cxnSpLocks/>
            </p:cNvCxnSpPr>
            <p:nvPr/>
          </p:nvCxnSpPr>
          <p:spPr>
            <a:xfrm>
              <a:off x="5875241" y="3940352"/>
              <a:ext cx="5203" cy="432855"/>
            </a:xfrm>
            <a:prstGeom prst="line">
              <a:avLst/>
            </a:prstGeom>
            <a:noFill/>
            <a:ln w="9525" cap="flat" cmpd="sng" algn="ctr">
              <a:solidFill>
                <a:srgbClr val="0488BB">
                  <a:shade val="95000"/>
                  <a:satMod val="105000"/>
                </a:srgbClr>
              </a:solidFill>
              <a:prstDash val="solid"/>
            </a:ln>
            <a:effectLst/>
          </p:spPr>
        </p:cxnSp>
        <p:cxnSp>
          <p:nvCxnSpPr>
            <p:cNvPr id="54" name="Straight Connector 53">
              <a:extLst>
                <a:ext uri="{FF2B5EF4-FFF2-40B4-BE49-F238E27FC236}">
                  <a16:creationId xmlns:a16="http://schemas.microsoft.com/office/drawing/2014/main" id="{56A27C48-BF20-022D-5F3C-FC7E6ABFC7E7}"/>
                </a:ext>
              </a:extLst>
            </p:cNvPr>
            <p:cNvCxnSpPr/>
            <p:nvPr/>
          </p:nvCxnSpPr>
          <p:spPr>
            <a:xfrm rot="5400000">
              <a:off x="5821865" y="2928663"/>
              <a:ext cx="228600" cy="1588"/>
            </a:xfrm>
            <a:prstGeom prst="line">
              <a:avLst/>
            </a:prstGeom>
            <a:noFill/>
            <a:ln w="9525" cap="flat" cmpd="sng" algn="ctr">
              <a:solidFill>
                <a:srgbClr val="0488BB">
                  <a:shade val="95000"/>
                  <a:satMod val="105000"/>
                </a:srgbClr>
              </a:solidFill>
              <a:prstDash val="solid"/>
            </a:ln>
            <a:effectLst/>
          </p:spPr>
        </p:cxnSp>
        <p:cxnSp>
          <p:nvCxnSpPr>
            <p:cNvPr id="55" name="Straight Connector 54">
              <a:extLst>
                <a:ext uri="{FF2B5EF4-FFF2-40B4-BE49-F238E27FC236}">
                  <a16:creationId xmlns:a16="http://schemas.microsoft.com/office/drawing/2014/main" id="{52BDAAEC-5F50-0974-4096-78BE733E3518}"/>
                </a:ext>
              </a:extLst>
            </p:cNvPr>
            <p:cNvCxnSpPr/>
            <p:nvPr/>
          </p:nvCxnSpPr>
          <p:spPr>
            <a:xfrm rot="5400000">
              <a:off x="7858765" y="3146894"/>
              <a:ext cx="228600" cy="1588"/>
            </a:xfrm>
            <a:prstGeom prst="line">
              <a:avLst/>
            </a:prstGeom>
            <a:noFill/>
            <a:ln w="9525" cap="flat" cmpd="sng" algn="ctr">
              <a:solidFill>
                <a:srgbClr val="0488BB">
                  <a:shade val="95000"/>
                  <a:satMod val="105000"/>
                </a:srgbClr>
              </a:solidFill>
              <a:prstDash val="solid"/>
            </a:ln>
            <a:effectLst/>
          </p:spPr>
        </p:cxnSp>
        <p:cxnSp>
          <p:nvCxnSpPr>
            <p:cNvPr id="56" name="Straight Connector 55">
              <a:extLst>
                <a:ext uri="{FF2B5EF4-FFF2-40B4-BE49-F238E27FC236}">
                  <a16:creationId xmlns:a16="http://schemas.microsoft.com/office/drawing/2014/main" id="{779E570D-1D03-B351-4213-76F7481698A6}"/>
                </a:ext>
              </a:extLst>
            </p:cNvPr>
            <p:cNvCxnSpPr/>
            <p:nvPr/>
          </p:nvCxnSpPr>
          <p:spPr>
            <a:xfrm rot="5400000">
              <a:off x="5821865" y="3149436"/>
              <a:ext cx="228600" cy="1588"/>
            </a:xfrm>
            <a:prstGeom prst="line">
              <a:avLst/>
            </a:prstGeom>
            <a:noFill/>
            <a:ln w="9525" cap="flat" cmpd="sng" algn="ctr">
              <a:solidFill>
                <a:srgbClr val="0488BB">
                  <a:shade val="95000"/>
                  <a:satMod val="105000"/>
                </a:srgbClr>
              </a:solidFill>
              <a:prstDash val="solid"/>
            </a:ln>
            <a:effectLst/>
          </p:spPr>
        </p:cxnSp>
        <p:cxnSp>
          <p:nvCxnSpPr>
            <p:cNvPr id="57" name="Straight Connector 56">
              <a:extLst>
                <a:ext uri="{FF2B5EF4-FFF2-40B4-BE49-F238E27FC236}">
                  <a16:creationId xmlns:a16="http://schemas.microsoft.com/office/drawing/2014/main" id="{2091E039-5C3E-C7CB-9DB9-C4860E532612}"/>
                </a:ext>
              </a:extLst>
            </p:cNvPr>
            <p:cNvCxnSpPr/>
            <p:nvPr/>
          </p:nvCxnSpPr>
          <p:spPr>
            <a:xfrm rot="5400000">
              <a:off x="5813043" y="2062198"/>
              <a:ext cx="228600" cy="1588"/>
            </a:xfrm>
            <a:prstGeom prst="line">
              <a:avLst/>
            </a:prstGeom>
            <a:noFill/>
            <a:ln w="9525" cap="flat" cmpd="sng" algn="ctr">
              <a:solidFill>
                <a:srgbClr val="0488BB">
                  <a:shade val="95000"/>
                  <a:satMod val="105000"/>
                </a:srgbClr>
              </a:solidFill>
              <a:prstDash val="solid"/>
            </a:ln>
            <a:effectLst/>
          </p:spPr>
        </p:cxnSp>
        <p:sp>
          <p:nvSpPr>
            <p:cNvPr id="58" name="Rectangle 57">
              <a:extLst>
                <a:ext uri="{FF2B5EF4-FFF2-40B4-BE49-F238E27FC236}">
                  <a16:creationId xmlns:a16="http://schemas.microsoft.com/office/drawing/2014/main" id="{9170B91B-FE50-E44A-FC71-0B14E48A8E4F}"/>
                </a:ext>
              </a:extLst>
            </p:cNvPr>
            <p:cNvSpPr/>
            <p:nvPr/>
          </p:nvSpPr>
          <p:spPr>
            <a:xfrm>
              <a:off x="1196625" y="4359741"/>
              <a:ext cx="1524000" cy="304800"/>
            </a:xfrm>
            <a:prstGeom prst="rect">
              <a:avLst/>
            </a:prstGeom>
            <a:solidFill>
              <a:schemeClr val="accent6"/>
            </a:solidFill>
            <a:ln w="25400" cap="flat" cmpd="sng" algn="ctr">
              <a:solidFill>
                <a:srgbClr val="0488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kern="0" dirty="0">
                  <a:solidFill>
                    <a:prstClr val="white"/>
                  </a:solidFill>
                  <a:latin typeface="Century Gothic"/>
                </a:rPr>
                <a:t>UI/UX</a:t>
              </a:r>
              <a:endParaRPr kumimoji="0" lang="en-US" sz="900" b="0" i="0" u="none" strike="noStrike" kern="0" cap="none" spc="0" normalizeH="0" baseline="0" noProof="0" dirty="0">
                <a:ln>
                  <a:noFill/>
                </a:ln>
                <a:solidFill>
                  <a:prstClr val="white"/>
                </a:solidFill>
                <a:effectLst/>
                <a:uLnTx/>
                <a:uFillTx/>
                <a:latin typeface="Century Gothic"/>
                <a:ea typeface="+mn-ea"/>
                <a:cs typeface="+mn-cs"/>
              </a:endParaRPr>
            </a:p>
          </p:txBody>
        </p:sp>
        <p:sp>
          <p:nvSpPr>
            <p:cNvPr id="59" name="Rectangle 58">
              <a:extLst>
                <a:ext uri="{FF2B5EF4-FFF2-40B4-BE49-F238E27FC236}">
                  <a16:creationId xmlns:a16="http://schemas.microsoft.com/office/drawing/2014/main" id="{AC0534A8-3F67-A1A3-2213-ED20EF9E7AD7}"/>
                </a:ext>
              </a:extLst>
            </p:cNvPr>
            <p:cNvSpPr/>
            <p:nvPr/>
          </p:nvSpPr>
          <p:spPr>
            <a:xfrm>
              <a:off x="1196625" y="4696440"/>
              <a:ext cx="1524000" cy="304800"/>
            </a:xfrm>
            <a:prstGeom prst="rect">
              <a:avLst/>
            </a:prstGeom>
            <a:solidFill>
              <a:sysClr val="window" lastClr="FFFFFF"/>
            </a:solidFill>
            <a:ln w="25400" cap="flat" cmpd="sng" algn="ctr">
              <a:solidFill>
                <a:srgbClr val="0488B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entury Gothic"/>
                  <a:ea typeface="+mn-ea"/>
                  <a:cs typeface="+mn-cs"/>
                </a:rPr>
                <a:t>UI/UX Developer</a:t>
              </a:r>
            </a:p>
          </p:txBody>
        </p:sp>
        <p:cxnSp>
          <p:nvCxnSpPr>
            <p:cNvPr id="60" name="Straight Connector 59">
              <a:extLst>
                <a:ext uri="{FF2B5EF4-FFF2-40B4-BE49-F238E27FC236}">
                  <a16:creationId xmlns:a16="http://schemas.microsoft.com/office/drawing/2014/main" id="{FFC913CD-82EF-5FF3-B6F9-86F623242E1A}"/>
                </a:ext>
              </a:extLst>
            </p:cNvPr>
            <p:cNvCxnSpPr>
              <a:cxnSpLocks/>
            </p:cNvCxnSpPr>
            <p:nvPr/>
          </p:nvCxnSpPr>
          <p:spPr>
            <a:xfrm>
              <a:off x="1958625" y="4111590"/>
              <a:ext cx="2021053" cy="0"/>
            </a:xfrm>
            <a:prstGeom prst="line">
              <a:avLst/>
            </a:prstGeom>
            <a:noFill/>
            <a:ln w="9525" cap="flat" cmpd="sng" algn="ctr">
              <a:solidFill>
                <a:srgbClr val="0488BB">
                  <a:shade val="95000"/>
                  <a:satMod val="105000"/>
                </a:srgbClr>
              </a:solidFill>
              <a:prstDash val="solid"/>
            </a:ln>
            <a:effectLst/>
          </p:spPr>
        </p:cxnSp>
        <p:cxnSp>
          <p:nvCxnSpPr>
            <p:cNvPr id="61" name="Straight Connector 60">
              <a:extLst>
                <a:ext uri="{FF2B5EF4-FFF2-40B4-BE49-F238E27FC236}">
                  <a16:creationId xmlns:a16="http://schemas.microsoft.com/office/drawing/2014/main" id="{81859D5B-39EF-ABE2-67CC-C6D1C1D91A30}"/>
                </a:ext>
              </a:extLst>
            </p:cNvPr>
            <p:cNvCxnSpPr/>
            <p:nvPr/>
          </p:nvCxnSpPr>
          <p:spPr>
            <a:xfrm rot="5400000">
              <a:off x="1843220" y="4225096"/>
              <a:ext cx="228600" cy="1588"/>
            </a:xfrm>
            <a:prstGeom prst="line">
              <a:avLst/>
            </a:prstGeom>
            <a:noFill/>
            <a:ln w="9525" cap="flat" cmpd="sng" algn="ctr">
              <a:solidFill>
                <a:srgbClr val="0488BB">
                  <a:shade val="95000"/>
                  <a:satMod val="105000"/>
                </a:srgbClr>
              </a:solidFill>
              <a:prstDash val="solid"/>
            </a:ln>
            <a:effectLst/>
          </p:spPr>
        </p:cxnSp>
      </p:grpSp>
      <p:cxnSp>
        <p:nvCxnSpPr>
          <p:cNvPr id="62" name="Straight Connector 61">
            <a:extLst>
              <a:ext uri="{FF2B5EF4-FFF2-40B4-BE49-F238E27FC236}">
                <a16:creationId xmlns:a16="http://schemas.microsoft.com/office/drawing/2014/main" id="{4BB2D61A-B329-E8C7-2371-CDAED1B6B508}"/>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7CCAB580-BA5F-F4CF-1F75-93AADF3DDD20}"/>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1408" name="Freeform 19">
            <a:extLst>
              <a:ext uri="{FF2B5EF4-FFF2-40B4-BE49-F238E27FC236}">
                <a16:creationId xmlns:a16="http://schemas.microsoft.com/office/drawing/2014/main" id="{C7341B33-EFF5-ED25-80F2-023BADC8454F}"/>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1409" name="TextBox 22">
            <a:extLst>
              <a:ext uri="{FF2B5EF4-FFF2-40B4-BE49-F238E27FC236}">
                <a16:creationId xmlns:a16="http://schemas.microsoft.com/office/drawing/2014/main" id="{ED718E0F-92EA-103D-F8A1-88E34A8485AC}"/>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9"/>
        <p:cNvGrpSpPr/>
        <p:nvPr/>
      </p:nvGrpSpPr>
      <p:grpSpPr>
        <a:xfrm>
          <a:off x="0" y="0"/>
          <a:ext cx="0" cy="0"/>
          <a:chOff x="0" y="0"/>
          <a:chExt cx="0" cy="0"/>
        </a:xfrm>
      </p:grpSpPr>
      <p:sp>
        <p:nvSpPr>
          <p:cNvPr id="1910" name="Google Shape;1910;p50"/>
          <p:cNvSpPr txBox="1">
            <a:spLocks noGrp="1"/>
          </p:cNvSpPr>
          <p:nvPr>
            <p:ph type="title"/>
          </p:nvPr>
        </p:nvSpPr>
        <p:spPr>
          <a:xfrm>
            <a:off x="720000" y="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Key Personnel</a:t>
            </a:r>
            <a:endParaRPr dirty="0">
              <a:latin typeface="Lato" panose="020F0502020204030203" pitchFamily="34" charset="0"/>
              <a:ea typeface="Lato" panose="020F0502020204030203" pitchFamily="34" charset="0"/>
              <a:cs typeface="Lato" panose="020F0502020204030203" pitchFamily="34" charset="0"/>
            </a:endParaRPr>
          </a:p>
        </p:txBody>
      </p:sp>
      <p:sp>
        <p:nvSpPr>
          <p:cNvPr id="4" name="TextBox 26">
            <a:extLst>
              <a:ext uri="{FF2B5EF4-FFF2-40B4-BE49-F238E27FC236}">
                <a16:creationId xmlns:a16="http://schemas.microsoft.com/office/drawing/2014/main" id="{FBFA13CD-04E3-00BC-8E4B-54B9C1B8FE1E}"/>
              </a:ext>
            </a:extLst>
          </p:cNvPr>
          <p:cNvSpPr txBox="1"/>
          <p:nvPr/>
        </p:nvSpPr>
        <p:spPr>
          <a:xfrm>
            <a:off x="812043" y="696046"/>
            <a:ext cx="7519913" cy="4585294"/>
          </a:xfrm>
          <a:prstGeom prst="rect">
            <a:avLst/>
          </a:prstGeom>
        </p:spPr>
        <p:txBody>
          <a:bodyPr wrap="square" lIns="0" tIns="0" rIns="0" bIns="0" rtlCol="0" anchor="t">
            <a:spAutoFit/>
          </a:bodyPr>
          <a:lstStyle/>
          <a:p>
            <a:pPr algn="just">
              <a:lnSpc>
                <a:spcPts val="1960"/>
              </a:lnSpc>
            </a:pPr>
            <a:r>
              <a:rPr lang="en-GB" sz="1200" b="1" u="sng"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Mohammad Zam </a:t>
            </a:r>
            <a:r>
              <a:rPr lang="en-GB" sz="1200" b="1" u="sng" dirty="0" err="1">
                <a:solidFill>
                  <a:srgbClr val="000000"/>
                </a:solidFill>
                <a:latin typeface="Lato" panose="020F0502020204030203" pitchFamily="34" charset="0"/>
                <a:ea typeface="Lato" panose="020F0502020204030203" pitchFamily="34" charset="0"/>
                <a:cs typeface="Lato" panose="020F0502020204030203" pitchFamily="34" charset="0"/>
                <a:sym typeface="Roboto"/>
              </a:rPr>
              <a:t>Zam</a:t>
            </a:r>
            <a:r>
              <a:rPr lang="en-GB" sz="1200" b="1" u="sng"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 Malek - CEO</a:t>
            </a:r>
          </a:p>
          <a:p>
            <a:pPr algn="just">
              <a:lnSpc>
                <a:spcPts val="1960"/>
              </a:lnSpc>
            </a:pPr>
            <a:r>
              <a:rPr lang="en-GB" sz="1200"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XXXX</a:t>
            </a:r>
          </a:p>
          <a:p>
            <a:pPr algn="just">
              <a:lnSpc>
                <a:spcPts val="1960"/>
              </a:lnSpc>
            </a:pPr>
            <a:endParaRPr lang="en-GB" sz="1200" dirty="0">
              <a:solidFill>
                <a:srgbClr val="000000"/>
              </a:solidFill>
              <a:latin typeface="Lato" panose="020F0502020204030203" pitchFamily="34" charset="0"/>
              <a:ea typeface="Lato" panose="020F0502020204030203" pitchFamily="34" charset="0"/>
              <a:cs typeface="Lato" panose="020F0502020204030203" pitchFamily="34" charset="0"/>
              <a:sym typeface="Roboto"/>
            </a:endParaRPr>
          </a:p>
          <a:p>
            <a:pPr algn="just">
              <a:lnSpc>
                <a:spcPts val="1960"/>
              </a:lnSpc>
            </a:pPr>
            <a:endParaRPr lang="en-GB" sz="1200" dirty="0">
              <a:solidFill>
                <a:srgbClr val="000000"/>
              </a:solidFill>
              <a:latin typeface="Lato" panose="020F0502020204030203" pitchFamily="34" charset="0"/>
              <a:ea typeface="Lato" panose="020F0502020204030203" pitchFamily="34" charset="0"/>
              <a:cs typeface="Lato" panose="020F0502020204030203" pitchFamily="34" charset="0"/>
              <a:sym typeface="Roboto"/>
            </a:endParaRPr>
          </a:p>
          <a:p>
            <a:pPr algn="just">
              <a:lnSpc>
                <a:spcPts val="1960"/>
              </a:lnSpc>
            </a:pPr>
            <a:r>
              <a:rPr lang="en-GB" sz="1200" b="1" u="sng"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Affendi Omar – Project Manager/ SCRUM Master</a:t>
            </a:r>
          </a:p>
          <a:p>
            <a:pPr algn="just">
              <a:lnSpc>
                <a:spcPts val="1960"/>
              </a:lnSpc>
            </a:pPr>
            <a:r>
              <a:rPr lang="en-GB" sz="1200"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With over 25 years of experience in IT, including the last 15 years focused on Project Management, PMO, and Project Governance, have been involved in all stages of the application lifecycle—from technical support to database and system operations. Agile Certified Practitioner (PMI-ACP) and Certified CSSD Agile-SCRUM Master, he has been involved in large-scale software development project.</a:t>
            </a:r>
          </a:p>
          <a:p>
            <a:pPr algn="just">
              <a:lnSpc>
                <a:spcPts val="1960"/>
              </a:lnSpc>
            </a:pPr>
            <a:endParaRPr lang="en-GB" sz="1200" dirty="0">
              <a:solidFill>
                <a:srgbClr val="000000"/>
              </a:solidFill>
              <a:latin typeface="Lato" panose="020F0502020204030203" pitchFamily="34" charset="0"/>
              <a:ea typeface="Lato" panose="020F0502020204030203" pitchFamily="34" charset="0"/>
              <a:cs typeface="Lato" panose="020F0502020204030203" pitchFamily="34" charset="0"/>
              <a:sym typeface="Roboto"/>
            </a:endParaRPr>
          </a:p>
          <a:p>
            <a:pPr algn="just">
              <a:lnSpc>
                <a:spcPts val="1960"/>
              </a:lnSpc>
            </a:pPr>
            <a:r>
              <a:rPr lang="en-US" sz="1200" b="1" u="sng"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Mohd </a:t>
            </a:r>
            <a:r>
              <a:rPr lang="en-US" sz="1200" b="1" u="sng" dirty="0" err="1">
                <a:solidFill>
                  <a:srgbClr val="000000"/>
                </a:solidFill>
                <a:latin typeface="Lato" panose="020F0502020204030203" pitchFamily="34" charset="0"/>
                <a:ea typeface="Lato" panose="020F0502020204030203" pitchFamily="34" charset="0"/>
                <a:cs typeface="Lato" panose="020F0502020204030203" pitchFamily="34" charset="0"/>
                <a:sym typeface="Roboto"/>
              </a:rPr>
              <a:t>Izwan</a:t>
            </a:r>
            <a:r>
              <a:rPr lang="en-US" sz="1200" b="1" u="sng" dirty="0">
                <a:solidFill>
                  <a:srgbClr val="000000"/>
                </a:solidFill>
                <a:latin typeface="Lato" panose="020F0502020204030203" pitchFamily="34" charset="0"/>
                <a:ea typeface="Lato" panose="020F0502020204030203" pitchFamily="34" charset="0"/>
                <a:cs typeface="Lato" panose="020F0502020204030203" pitchFamily="34" charset="0"/>
                <a:sym typeface="Roboto"/>
              </a:rPr>
              <a:t> Hafizi A Razak – Solution Architect and Lead Developer</a:t>
            </a:r>
          </a:p>
          <a:p>
            <a:pPr algn="just">
              <a:lnSpc>
                <a:spcPts val="1960"/>
              </a:lnSpc>
            </a:pPr>
            <a:r>
              <a:rPr lang="en-US" sz="1200" dirty="0">
                <a:latin typeface="Lato" panose="020F0502020204030203" pitchFamily="34" charset="0"/>
                <a:ea typeface="Lato" panose="020F0502020204030203" pitchFamily="34" charset="0"/>
                <a:cs typeface="Lato" panose="020F0502020204030203" pitchFamily="34" charset="0"/>
              </a:rPr>
              <a:t>He is a full-stack developer who builds scalable cloud-based systems with strong data integrity and event-driven architecture. He has delivered enterprise HR systems, agency management platforms, and government digital solutions, including integrations with the </a:t>
            </a:r>
            <a:r>
              <a:rPr lang="en-US" sz="1200" dirty="0" err="1">
                <a:latin typeface="Lato" panose="020F0502020204030203" pitchFamily="34" charset="0"/>
                <a:ea typeface="Lato" panose="020F0502020204030203" pitchFamily="34" charset="0"/>
                <a:cs typeface="Lato" panose="020F0502020204030203" pitchFamily="34" charset="0"/>
              </a:rPr>
              <a:t>JPJePlate</a:t>
            </a:r>
            <a:r>
              <a:rPr lang="en-US" sz="1200" dirty="0">
                <a:latin typeface="Lato" panose="020F0502020204030203" pitchFamily="34" charset="0"/>
                <a:ea typeface="Lato" panose="020F0502020204030203" pitchFamily="34" charset="0"/>
                <a:cs typeface="Lato" panose="020F0502020204030203" pitchFamily="34" charset="0"/>
              </a:rPr>
              <a:t> ecosystem. As the founder of a web hosting and cloud infrastructure business, he manages servers, deployments, security, and production monitoring. Over the years, he has built hundreds of commercial websites and custom systems for SMEs, integrating payment gateways, CRM systems, and automation workflows. He also develops AI-powered sustainability platforms and has experience in digital marketing and commercialization strategy.</a:t>
            </a:r>
          </a:p>
        </p:txBody>
      </p:sp>
      <p:cxnSp>
        <p:nvCxnSpPr>
          <p:cNvPr id="5" name="Straight Connector 4">
            <a:extLst>
              <a:ext uri="{FF2B5EF4-FFF2-40B4-BE49-F238E27FC236}">
                <a16:creationId xmlns:a16="http://schemas.microsoft.com/office/drawing/2014/main" id="{9DA9F942-4BF6-9A36-3FE2-E5953C4F20C4}"/>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DC2EC261-2ED1-3963-FBBB-C3E5839CA3A7}"/>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7" name="Freeform 19">
            <a:extLst>
              <a:ext uri="{FF2B5EF4-FFF2-40B4-BE49-F238E27FC236}">
                <a16:creationId xmlns:a16="http://schemas.microsoft.com/office/drawing/2014/main" id="{F37CD505-0717-1FC3-1E88-1EE9C662D0EB}"/>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8" name="TextBox 22">
            <a:extLst>
              <a:ext uri="{FF2B5EF4-FFF2-40B4-BE49-F238E27FC236}">
                <a16:creationId xmlns:a16="http://schemas.microsoft.com/office/drawing/2014/main" id="{92897145-46FA-A9C9-85CE-504202FD8343}"/>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8"/>
        <p:cNvGrpSpPr/>
        <p:nvPr/>
      </p:nvGrpSpPr>
      <p:grpSpPr>
        <a:xfrm>
          <a:off x="0" y="0"/>
          <a:ext cx="0" cy="0"/>
          <a:chOff x="0" y="0"/>
          <a:chExt cx="0" cy="0"/>
        </a:xfrm>
      </p:grpSpPr>
      <p:sp>
        <p:nvSpPr>
          <p:cNvPr id="1469" name="Google Shape;1469;p46"/>
          <p:cNvSpPr txBox="1">
            <a:spLocks noGrp="1"/>
          </p:cNvSpPr>
          <p:nvPr>
            <p:ph type="title"/>
          </p:nvPr>
        </p:nvSpPr>
        <p:spPr>
          <a:xfrm>
            <a:off x="726925" y="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Product Roadmap</a:t>
            </a:r>
            <a:endParaRPr dirty="0">
              <a:latin typeface="Lato" panose="020F0502020204030203" pitchFamily="34" charset="0"/>
              <a:ea typeface="Lato" panose="020F0502020204030203" pitchFamily="34" charset="0"/>
              <a:cs typeface="Lato" panose="020F0502020204030203" pitchFamily="34" charset="0"/>
            </a:endParaRPr>
          </a:p>
        </p:txBody>
      </p:sp>
      <p:graphicFrame>
        <p:nvGraphicFramePr>
          <p:cNvPr id="1470" name="Google Shape;1470;p46"/>
          <p:cNvGraphicFramePr/>
          <p:nvPr>
            <p:extLst>
              <p:ext uri="{D42A27DB-BD31-4B8C-83A1-F6EECF244321}">
                <p14:modId xmlns:p14="http://schemas.microsoft.com/office/powerpoint/2010/main" val="419842100"/>
              </p:ext>
            </p:extLst>
          </p:nvPr>
        </p:nvGraphicFramePr>
        <p:xfrm>
          <a:off x="377018" y="715504"/>
          <a:ext cx="7645849" cy="3342250"/>
        </p:xfrm>
        <a:graphic>
          <a:graphicData uri="http://schemas.openxmlformats.org/drawingml/2006/table">
            <a:tbl>
              <a:tblPr>
                <a:noFill/>
                <a:tableStyleId>{05769D24-F8F7-4550-A4BA-1AF5ECE16DD7}</a:tableStyleId>
              </a:tblPr>
              <a:tblGrid>
                <a:gridCol w="1443831">
                  <a:extLst>
                    <a:ext uri="{9D8B030D-6E8A-4147-A177-3AD203B41FA5}">
                      <a16:colId xmlns:a16="http://schemas.microsoft.com/office/drawing/2014/main" val="20000"/>
                    </a:ext>
                  </a:extLst>
                </a:gridCol>
                <a:gridCol w="2871330">
                  <a:extLst>
                    <a:ext uri="{9D8B030D-6E8A-4147-A177-3AD203B41FA5}">
                      <a16:colId xmlns:a16="http://schemas.microsoft.com/office/drawing/2014/main" val="20001"/>
                    </a:ext>
                  </a:extLst>
                </a:gridCol>
                <a:gridCol w="416336">
                  <a:extLst>
                    <a:ext uri="{9D8B030D-6E8A-4147-A177-3AD203B41FA5}">
                      <a16:colId xmlns:a16="http://schemas.microsoft.com/office/drawing/2014/main" val="20002"/>
                    </a:ext>
                  </a:extLst>
                </a:gridCol>
                <a:gridCol w="416336">
                  <a:extLst>
                    <a:ext uri="{9D8B030D-6E8A-4147-A177-3AD203B41FA5}">
                      <a16:colId xmlns:a16="http://schemas.microsoft.com/office/drawing/2014/main" val="20003"/>
                    </a:ext>
                  </a:extLst>
                </a:gridCol>
                <a:gridCol w="416336">
                  <a:extLst>
                    <a:ext uri="{9D8B030D-6E8A-4147-A177-3AD203B41FA5}">
                      <a16:colId xmlns:a16="http://schemas.microsoft.com/office/drawing/2014/main" val="20004"/>
                    </a:ext>
                  </a:extLst>
                </a:gridCol>
                <a:gridCol w="416336">
                  <a:extLst>
                    <a:ext uri="{9D8B030D-6E8A-4147-A177-3AD203B41FA5}">
                      <a16:colId xmlns:a16="http://schemas.microsoft.com/office/drawing/2014/main" val="20005"/>
                    </a:ext>
                  </a:extLst>
                </a:gridCol>
                <a:gridCol w="416336">
                  <a:extLst>
                    <a:ext uri="{9D8B030D-6E8A-4147-A177-3AD203B41FA5}">
                      <a16:colId xmlns:a16="http://schemas.microsoft.com/office/drawing/2014/main" val="20006"/>
                    </a:ext>
                  </a:extLst>
                </a:gridCol>
                <a:gridCol w="416336">
                  <a:extLst>
                    <a:ext uri="{9D8B030D-6E8A-4147-A177-3AD203B41FA5}">
                      <a16:colId xmlns:a16="http://schemas.microsoft.com/office/drawing/2014/main" val="20007"/>
                    </a:ext>
                  </a:extLst>
                </a:gridCol>
                <a:gridCol w="416336">
                  <a:extLst>
                    <a:ext uri="{9D8B030D-6E8A-4147-A177-3AD203B41FA5}">
                      <a16:colId xmlns:a16="http://schemas.microsoft.com/office/drawing/2014/main" val="20008"/>
                    </a:ext>
                  </a:extLst>
                </a:gridCol>
                <a:gridCol w="416336">
                  <a:extLst>
                    <a:ext uri="{9D8B030D-6E8A-4147-A177-3AD203B41FA5}">
                      <a16:colId xmlns:a16="http://schemas.microsoft.com/office/drawing/2014/main" val="20009"/>
                    </a:ext>
                  </a:extLst>
                </a:gridCol>
              </a:tblGrid>
              <a:tr h="220925">
                <a:tc rowSpan="2">
                  <a:txBody>
                    <a:bodyPr/>
                    <a:lstStyle/>
                    <a:p>
                      <a:pPr marL="0" lvl="0" indent="0" algn="ctr" rtl="0">
                        <a:spcBef>
                          <a:spcPts val="0"/>
                        </a:spcBef>
                        <a:spcAft>
                          <a:spcPts val="0"/>
                        </a:spcAft>
                        <a:buNone/>
                      </a:pPr>
                      <a:r>
                        <a:rPr lang="en" sz="1200" b="1" dirty="0">
                          <a:solidFill>
                            <a:schemeClr val="dk1"/>
                          </a:solidFill>
                          <a:latin typeface="Epilogue"/>
                          <a:ea typeface="Epilogue"/>
                          <a:cs typeface="Epilogue"/>
                          <a:sym typeface="Epilogue"/>
                        </a:rPr>
                        <a:t>Initiative</a:t>
                      </a:r>
                      <a:endParaRPr sz="1800" b="1" dirty="0">
                        <a:solidFill>
                          <a:schemeClr val="dk1"/>
                        </a:solidFill>
                        <a:latin typeface="Epilogue"/>
                        <a:ea typeface="Epilogue"/>
                        <a:cs typeface="Epilogue"/>
                        <a:sym typeface="Epilogue"/>
                      </a:endParaRPr>
                    </a:p>
                  </a:txBody>
                  <a:tcPr marL="91425" marR="91425" marT="68575" marB="68575"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rowSpan="2">
                  <a:txBody>
                    <a:bodyPr/>
                    <a:lstStyle/>
                    <a:p>
                      <a:pPr marL="0" lvl="0" indent="0" algn="ctr" rtl="0">
                        <a:spcBef>
                          <a:spcPts val="0"/>
                        </a:spcBef>
                        <a:spcAft>
                          <a:spcPts val="0"/>
                        </a:spcAft>
                        <a:buNone/>
                      </a:pPr>
                      <a:r>
                        <a:rPr lang="en" sz="1200" b="1" dirty="0">
                          <a:solidFill>
                            <a:schemeClr val="dk1"/>
                          </a:solidFill>
                          <a:latin typeface="Epilogue"/>
                          <a:ea typeface="Epilogue"/>
                          <a:cs typeface="Epilogue"/>
                          <a:sym typeface="Epilogue"/>
                        </a:rPr>
                        <a:t>Objective</a:t>
                      </a:r>
                      <a:endParaRPr sz="1200" b="1" dirty="0">
                        <a:solidFill>
                          <a:schemeClr val="dk1"/>
                        </a:solidFill>
                        <a:latin typeface="Epilogue"/>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gridSpan="8">
                  <a:txBody>
                    <a:bodyPr/>
                    <a:lstStyle/>
                    <a:p>
                      <a:pPr marL="0" lvl="0" indent="0" algn="ctr" rtl="0">
                        <a:spcBef>
                          <a:spcPts val="0"/>
                        </a:spcBef>
                        <a:spcAft>
                          <a:spcPts val="0"/>
                        </a:spcAft>
                        <a:buNone/>
                      </a:pPr>
                      <a:r>
                        <a:rPr lang="en-US" sz="1200" b="1" dirty="0">
                          <a:solidFill>
                            <a:schemeClr val="dk1"/>
                          </a:solidFill>
                          <a:latin typeface="Epilogue"/>
                          <a:sym typeface="Epilogue"/>
                        </a:rPr>
                        <a:t>Month</a:t>
                      </a:r>
                      <a:endParaRPr sz="1200" b="1" dirty="0">
                        <a:solidFill>
                          <a:schemeClr val="dk1"/>
                        </a:solidFill>
                        <a:latin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ysDot"/>
                      <a:round/>
                      <a:headEnd type="none" w="med" len="med"/>
                      <a:tailEnd type="none" w="med" len="med"/>
                    </a:lnB>
                    <a:solidFill>
                      <a:schemeClr val="dk2"/>
                    </a:solidFill>
                  </a:tcPr>
                </a:tc>
                <a:tc hMerge="1">
                  <a:txBody>
                    <a:bodyPr/>
                    <a:lstStyle/>
                    <a:p>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olid"/>
                      <a:round/>
                      <a:headEnd type="none" w="med" len="med"/>
                      <a:tailEnd type="none" w="med" len="med"/>
                    </a:lnB>
                    <a:solidFill>
                      <a:schemeClr val="dk2"/>
                    </a:solidFill>
                  </a:tcPr>
                </a:tc>
                <a:tc hMerge="1">
                  <a:txBody>
                    <a:bodyPr/>
                    <a:lstStyle/>
                    <a:p>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olid"/>
                      <a:round/>
                      <a:headEnd type="none" w="med" len="med"/>
                      <a:tailEnd type="none" w="med" len="med"/>
                    </a:lnB>
                    <a:solidFill>
                      <a:schemeClr val="dk2"/>
                    </a:solidFill>
                  </a:tcPr>
                </a:tc>
                <a:tc hMerge="1">
                  <a:txBody>
                    <a:bodyPr/>
                    <a:lstStyle/>
                    <a:p>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olid"/>
                      <a:round/>
                      <a:headEnd type="none" w="med" len="med"/>
                      <a:tailEnd type="none" w="med" len="med"/>
                    </a:lnB>
                    <a:solidFill>
                      <a:schemeClr val="dk2"/>
                    </a:solidFill>
                  </a:tcPr>
                </a:tc>
                <a:tc hMerge="1">
                  <a:txBody>
                    <a:bodyPr/>
                    <a:lstStyle/>
                    <a:p>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olid"/>
                      <a:round/>
                      <a:headEnd type="none" w="med" len="med"/>
                      <a:tailEnd type="none" w="med" len="med"/>
                    </a:lnB>
                    <a:solidFill>
                      <a:schemeClr val="dk2"/>
                    </a:solidFill>
                  </a:tcPr>
                </a:tc>
                <a:tc hMerge="1">
                  <a:txBody>
                    <a:bodyPr/>
                    <a:lstStyle/>
                    <a:p>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olid"/>
                      <a:round/>
                      <a:headEnd type="none" w="med" len="med"/>
                      <a:tailEnd type="none" w="med" len="med"/>
                    </a:lnB>
                    <a:solidFill>
                      <a:schemeClr val="dk2"/>
                    </a:solidFill>
                  </a:tcPr>
                </a:tc>
                <a:tc hMerge="1">
                  <a:txBody>
                    <a:bodyPr/>
                    <a:lstStyle/>
                    <a:p>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olid"/>
                      <a:round/>
                      <a:headEnd type="none" w="med" len="med"/>
                      <a:tailEnd type="none" w="med" len="med"/>
                    </a:lnB>
                    <a:solidFill>
                      <a:schemeClr val="dk2"/>
                    </a:solidFill>
                  </a:tcPr>
                </a:tc>
                <a:tc hMerge="1">
                  <a:txBody>
                    <a:bodyPr/>
                    <a:lstStyle/>
                    <a:p>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10000"/>
                  </a:ext>
                </a:extLst>
              </a:tr>
              <a:tr h="220925">
                <a:tc vMerge="1">
                  <a:txBody>
                    <a:bodyPr/>
                    <a:lstStyle/>
                    <a:p>
                      <a:endParaRPr lang="en-MY"/>
                    </a:p>
                  </a:txBody>
                  <a:tcPr/>
                </a:tc>
                <a:tc vMerge="1">
                  <a:txBody>
                    <a:bodyPr/>
                    <a:lstStyle/>
                    <a:p>
                      <a:endParaRPr lang="en-MY"/>
                    </a:p>
                  </a:txBody>
                  <a:tcPr/>
                </a:tc>
                <a:tc>
                  <a:txBody>
                    <a:bodyPr/>
                    <a:lstStyle/>
                    <a:p>
                      <a:pPr marL="0" lvl="0" indent="0" algn="ctr" rtl="0">
                        <a:spcBef>
                          <a:spcPts val="0"/>
                        </a:spcBef>
                        <a:spcAft>
                          <a:spcPts val="0"/>
                        </a:spcAft>
                        <a:buNone/>
                      </a:pPr>
                      <a:r>
                        <a:rPr lang="en-US" sz="1200" b="1" dirty="0">
                          <a:solidFill>
                            <a:schemeClr val="dk1"/>
                          </a:solidFill>
                          <a:latin typeface="Epilogue"/>
                          <a:ea typeface="Epilogue"/>
                          <a:cs typeface="Epilogue"/>
                          <a:sym typeface="Epilogue"/>
                        </a:rPr>
                        <a:t>1</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b="1" dirty="0">
                          <a:solidFill>
                            <a:schemeClr val="dk1"/>
                          </a:solidFill>
                          <a:latin typeface="Epilogue"/>
                          <a:ea typeface="Epilogue"/>
                          <a:cs typeface="Epilogue"/>
                          <a:sym typeface="Epilogue"/>
                        </a:rPr>
                        <a:t>2</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b="1" dirty="0">
                          <a:solidFill>
                            <a:schemeClr val="dk1"/>
                          </a:solidFill>
                          <a:latin typeface="Epilogue"/>
                          <a:ea typeface="Epilogue"/>
                          <a:cs typeface="Epilogue"/>
                          <a:sym typeface="Epilogue"/>
                        </a:rPr>
                        <a:t>3</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Clr>
                          <a:srgbClr val="000000"/>
                        </a:buClr>
                        <a:buSzPts val="1100"/>
                        <a:buFont typeface="Arial"/>
                        <a:buNone/>
                      </a:pPr>
                      <a:r>
                        <a:rPr lang="en-US" sz="1200" b="1" dirty="0">
                          <a:solidFill>
                            <a:schemeClr val="dk1"/>
                          </a:solidFill>
                          <a:latin typeface="Epilogue"/>
                          <a:ea typeface="Epilogue"/>
                          <a:cs typeface="Epilogue"/>
                          <a:sym typeface="Epilogue"/>
                        </a:rPr>
                        <a:t>4</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b="1" dirty="0">
                          <a:solidFill>
                            <a:schemeClr val="dk1"/>
                          </a:solidFill>
                          <a:latin typeface="Epilogue"/>
                          <a:ea typeface="Epilogue"/>
                          <a:cs typeface="Epilogue"/>
                          <a:sym typeface="Epilogue"/>
                        </a:rPr>
                        <a:t>5</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b="1" dirty="0">
                          <a:solidFill>
                            <a:schemeClr val="dk1"/>
                          </a:solidFill>
                          <a:latin typeface="Epilogue"/>
                          <a:ea typeface="Epilogue"/>
                          <a:cs typeface="Epilogue"/>
                          <a:sym typeface="Epilogue"/>
                        </a:rPr>
                        <a:t>6</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b="1" dirty="0">
                          <a:solidFill>
                            <a:schemeClr val="dk1"/>
                          </a:solidFill>
                          <a:latin typeface="Epilogue"/>
                          <a:ea typeface="Epilogue"/>
                          <a:cs typeface="Epilogue"/>
                          <a:sym typeface="Epilogue"/>
                        </a:rPr>
                        <a:t>7</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b="1" dirty="0">
                          <a:solidFill>
                            <a:schemeClr val="dk1"/>
                          </a:solidFill>
                          <a:latin typeface="Epilogue"/>
                          <a:ea typeface="Epilogue"/>
                          <a:cs typeface="Epilogue"/>
                          <a:sym typeface="Epilogue"/>
                        </a:rPr>
                        <a:t>8</a:t>
                      </a:r>
                      <a:endParaRPr sz="1200" b="1" dirty="0">
                        <a:solidFill>
                          <a:schemeClr val="dk1"/>
                        </a:solidFill>
                        <a:latin typeface="Epilogue"/>
                        <a:ea typeface="Epilogue"/>
                        <a:cs typeface="Epilogue"/>
                        <a:sym typeface="Epilogue"/>
                      </a:endParaRPr>
                    </a:p>
                  </a:txBody>
                  <a:tcPr marL="0" marR="0" marT="0" marB="0" anchor="ctr">
                    <a:lnL w="9525" cap="flat" cmpd="sng" algn="ctr">
                      <a:solidFill>
                        <a:srgbClr val="595959"/>
                      </a:solidFill>
                      <a:prstDash val="dashDot"/>
                      <a:round/>
                      <a:headEnd type="none" w="sm" len="sm"/>
                      <a:tailEnd type="none" w="sm" len="sm"/>
                    </a:lnL>
                    <a:lnR w="9525" cap="flat" cmpd="sng" algn="ctr">
                      <a:solidFill>
                        <a:srgbClr val="595959"/>
                      </a:solidFill>
                      <a:prstDash val="dashDot"/>
                      <a:round/>
                      <a:headEnd type="none" w="sm" len="sm"/>
                      <a:tailEnd type="none" w="sm" len="sm"/>
                    </a:lnR>
                    <a:lnT w="12700" cap="flat" cmpd="sng" algn="ctr">
                      <a:solidFill>
                        <a:schemeClr val="tx1"/>
                      </a:solidFill>
                      <a:prstDash val="sysDot"/>
                      <a:round/>
                      <a:headEnd type="none" w="med" len="med"/>
                      <a:tailEnd type="none" w="med" len="med"/>
                    </a:lnT>
                    <a:lnB w="9525" cap="flat" cmpd="sng">
                      <a:solidFill>
                        <a:srgbClr val="595959"/>
                      </a:solidFill>
                      <a:prstDash val="dashDot"/>
                      <a:round/>
                      <a:headEnd type="none" w="sm" len="sm"/>
                      <a:tailEnd type="none" w="sm" len="sm"/>
                    </a:lnB>
                    <a:solidFill>
                      <a:schemeClr val="dk2"/>
                    </a:solidFill>
                  </a:tcPr>
                </a:tc>
                <a:extLst>
                  <a:ext uri="{0D108BD9-81ED-4DB2-BD59-A6C34878D82A}">
                    <a16:rowId xmlns:a16="http://schemas.microsoft.com/office/drawing/2014/main" val="3774746669"/>
                  </a:ext>
                </a:extLst>
              </a:tr>
              <a:tr h="450800">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Understanding and Brainstorm Ideas</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Business and system requirements study. Generate ideas based on user/SME feedback and research findings</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lumMod val="60000"/>
                        <a:lumOff val="40000"/>
                      </a:schemeClr>
                    </a:solid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extLst>
                  <a:ext uri="{0D108BD9-81ED-4DB2-BD59-A6C34878D82A}">
                    <a16:rowId xmlns:a16="http://schemas.microsoft.com/office/drawing/2014/main" val="10001"/>
                  </a:ext>
                </a:extLst>
              </a:tr>
              <a:tr h="450800">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Design and Develop a Prototype</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DB Design, UI/UX (visual and interactive elements) and create a basic version of the product (prototype)</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lumMod val="60000"/>
                        <a:lumOff val="40000"/>
                      </a:schemeClr>
                    </a:solid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extLst>
                  <a:ext uri="{0D108BD9-81ED-4DB2-BD59-A6C34878D82A}">
                    <a16:rowId xmlns:a16="http://schemas.microsoft.com/office/drawing/2014/main" val="10002"/>
                  </a:ext>
                </a:extLst>
              </a:tr>
              <a:tr h="450800">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Development and Usability Testing</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Front-End and Back-End Development, review and usability testing</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lumMod val="60000"/>
                        <a:lumOff val="40000"/>
                      </a:schemeClr>
                    </a:solid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lumMod val="60000"/>
                        <a:lumOff val="40000"/>
                      </a:schemeClr>
                    </a:solid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l"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extLst>
                  <a:ext uri="{0D108BD9-81ED-4DB2-BD59-A6C34878D82A}">
                    <a16:rowId xmlns:a16="http://schemas.microsoft.com/office/drawing/2014/main" val="10003"/>
                  </a:ext>
                </a:extLst>
              </a:tr>
              <a:tr h="450800">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Softlaunch</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Softlaunch via Web platform, targeted for Property Agencies and Agents</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lumMod val="60000"/>
                        <a:lumOff val="40000"/>
                      </a:schemeClr>
                    </a:solid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extLst>
                  <a:ext uri="{0D108BD9-81ED-4DB2-BD59-A6C34878D82A}">
                    <a16:rowId xmlns:a16="http://schemas.microsoft.com/office/drawing/2014/main" val="10004"/>
                  </a:ext>
                </a:extLst>
              </a:tr>
              <a:tr h="450800">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Analyze Feedback and Mobile Apps Platform</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Apps fine tuning, mobile apps development, review and testing</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lumMod val="60000"/>
                        <a:lumOff val="40000"/>
                      </a:schemeClr>
                    </a:solid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noFill/>
                  </a:tcPr>
                </a:tc>
                <a:extLst>
                  <a:ext uri="{0D108BD9-81ED-4DB2-BD59-A6C34878D82A}">
                    <a16:rowId xmlns:a16="http://schemas.microsoft.com/office/drawing/2014/main" val="10005"/>
                  </a:ext>
                </a:extLst>
              </a:tr>
              <a:tr h="450800">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Full Deployment</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Lato"/>
                          <a:ea typeface="Lato"/>
                          <a:cs typeface="Lato"/>
                          <a:sym typeface="Lato"/>
                        </a:rPr>
                        <a:t>Full deployment via Web and Mobile Apps for all users</a:t>
                      </a:r>
                      <a:endParaRPr sz="1000" dirty="0">
                        <a:solidFill>
                          <a:schemeClr val="dk1"/>
                        </a:solidFill>
                        <a:latin typeface="Lato"/>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noFill/>
                  </a:tcPr>
                </a:tc>
                <a:tc>
                  <a:txBody>
                    <a:bodyPr/>
                    <a:lstStyle/>
                    <a:p>
                      <a:pPr marL="0" lvl="0" indent="0" algn="ctr" rtl="0">
                        <a:spcBef>
                          <a:spcPts val="0"/>
                        </a:spcBef>
                        <a:spcAft>
                          <a:spcPts val="0"/>
                        </a:spcAft>
                        <a:buNone/>
                      </a:pPr>
                      <a:endParaRPr sz="100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solidFill>
                      <a:schemeClr val="accent1">
                        <a:lumMod val="60000"/>
                        <a:lumOff val="40000"/>
                      </a:schemeClr>
                    </a:solid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noFill/>
                  </a:tcPr>
                </a:tc>
                <a:tc>
                  <a:txBody>
                    <a:bodyPr/>
                    <a:lstStyle/>
                    <a:p>
                      <a:pPr marL="0" lvl="0" indent="0" algn="ctr" rtl="0">
                        <a:spcBef>
                          <a:spcPts val="0"/>
                        </a:spcBef>
                        <a:spcAft>
                          <a:spcPts val="0"/>
                        </a:spcAft>
                        <a:buNone/>
                      </a:pPr>
                      <a:endParaRPr sz="1000" dirty="0">
                        <a:solidFill>
                          <a:schemeClr val="dk1"/>
                        </a:solidFill>
                        <a:latin typeface="Lato"/>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noFill/>
                  </a:tcPr>
                </a:tc>
                <a:extLst>
                  <a:ext uri="{0D108BD9-81ED-4DB2-BD59-A6C34878D82A}">
                    <a16:rowId xmlns:a16="http://schemas.microsoft.com/office/drawing/2014/main" val="10006"/>
                  </a:ext>
                </a:extLst>
              </a:tr>
            </a:tbl>
          </a:graphicData>
        </a:graphic>
      </p:graphicFrame>
      <p:cxnSp>
        <p:nvCxnSpPr>
          <p:cNvPr id="2" name="Straight Connector 1">
            <a:extLst>
              <a:ext uri="{FF2B5EF4-FFF2-40B4-BE49-F238E27FC236}">
                <a16:creationId xmlns:a16="http://schemas.microsoft.com/office/drawing/2014/main" id="{8C66A155-136A-7314-57AF-D503DC174549}"/>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84DBDABE-24FB-0FEC-DBC7-3107AA3B04B5}"/>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4" name="Freeform 19">
            <a:extLst>
              <a:ext uri="{FF2B5EF4-FFF2-40B4-BE49-F238E27FC236}">
                <a16:creationId xmlns:a16="http://schemas.microsoft.com/office/drawing/2014/main" id="{75614755-41BB-EC3C-2FAD-2AA2A1828E94}"/>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5" name="TextBox 22">
            <a:extLst>
              <a:ext uri="{FF2B5EF4-FFF2-40B4-BE49-F238E27FC236}">
                <a16:creationId xmlns:a16="http://schemas.microsoft.com/office/drawing/2014/main" id="{A33293E5-C68C-EE15-CEB3-62EC406BAAF6}"/>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909">
          <a:extLst>
            <a:ext uri="{FF2B5EF4-FFF2-40B4-BE49-F238E27FC236}">
              <a16:creationId xmlns:a16="http://schemas.microsoft.com/office/drawing/2014/main" id="{5DCB7628-EB04-2693-6118-6C4800834BAC}"/>
            </a:ext>
          </a:extLst>
        </p:cNvPr>
        <p:cNvGrpSpPr/>
        <p:nvPr/>
      </p:nvGrpSpPr>
      <p:grpSpPr>
        <a:xfrm>
          <a:off x="0" y="0"/>
          <a:ext cx="0" cy="0"/>
          <a:chOff x="0" y="0"/>
          <a:chExt cx="0" cy="0"/>
        </a:xfrm>
      </p:grpSpPr>
      <p:sp>
        <p:nvSpPr>
          <p:cNvPr id="1910" name="Google Shape;1910;p50">
            <a:extLst>
              <a:ext uri="{FF2B5EF4-FFF2-40B4-BE49-F238E27FC236}">
                <a16:creationId xmlns:a16="http://schemas.microsoft.com/office/drawing/2014/main" id="{7FC72BA1-B127-2135-B7FC-DE98A795D024}"/>
              </a:ext>
            </a:extLst>
          </p:cNvPr>
          <p:cNvSpPr txBox="1">
            <a:spLocks noGrp="1"/>
          </p:cNvSpPr>
          <p:nvPr>
            <p:ph type="title"/>
          </p:nvPr>
        </p:nvSpPr>
        <p:spPr>
          <a:xfrm>
            <a:off x="720000" y="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Business Model Canvas</a:t>
            </a:r>
            <a:endParaRPr dirty="0">
              <a:latin typeface="Lato" panose="020F0502020204030203" pitchFamily="34" charset="0"/>
              <a:ea typeface="Lato" panose="020F0502020204030203" pitchFamily="34" charset="0"/>
              <a:cs typeface="Lato" panose="020F0502020204030203" pitchFamily="34" charset="0"/>
            </a:endParaRPr>
          </a:p>
        </p:txBody>
      </p:sp>
      <p:cxnSp>
        <p:nvCxnSpPr>
          <p:cNvPr id="3" name="Straight Connector 2">
            <a:extLst>
              <a:ext uri="{FF2B5EF4-FFF2-40B4-BE49-F238E27FC236}">
                <a16:creationId xmlns:a16="http://schemas.microsoft.com/office/drawing/2014/main" id="{5BF97154-893E-A57A-DF02-2ED5A63EC5B9}"/>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8E046804-E459-F667-0659-A29FD8DAB361}"/>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6" name="Freeform 19">
            <a:extLst>
              <a:ext uri="{FF2B5EF4-FFF2-40B4-BE49-F238E27FC236}">
                <a16:creationId xmlns:a16="http://schemas.microsoft.com/office/drawing/2014/main" id="{156FCEE0-65C2-5D34-CEBF-2957B0CC8FA7}"/>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7" name="TextBox 22">
            <a:extLst>
              <a:ext uri="{FF2B5EF4-FFF2-40B4-BE49-F238E27FC236}">
                <a16:creationId xmlns:a16="http://schemas.microsoft.com/office/drawing/2014/main" id="{4656884F-7DEE-C3D9-845C-EC76BD73621F}"/>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15</a:t>
            </a:r>
          </a:p>
        </p:txBody>
      </p:sp>
      <p:graphicFrame>
        <p:nvGraphicFramePr>
          <p:cNvPr id="4" name="object 2">
            <a:extLst>
              <a:ext uri="{FF2B5EF4-FFF2-40B4-BE49-F238E27FC236}">
                <a16:creationId xmlns:a16="http://schemas.microsoft.com/office/drawing/2014/main" id="{A03E5D55-5B44-8BCC-2DA5-3A9513B51DA9}"/>
              </a:ext>
            </a:extLst>
          </p:cNvPr>
          <p:cNvGraphicFramePr>
            <a:graphicFrameLocks noGrp="1"/>
          </p:cNvGraphicFramePr>
          <p:nvPr>
            <p:extLst>
              <p:ext uri="{D42A27DB-BD31-4B8C-83A1-F6EECF244321}">
                <p14:modId xmlns:p14="http://schemas.microsoft.com/office/powerpoint/2010/main" val="3705699653"/>
              </p:ext>
            </p:extLst>
          </p:nvPr>
        </p:nvGraphicFramePr>
        <p:xfrm>
          <a:off x="379036" y="626943"/>
          <a:ext cx="8354258" cy="3882390"/>
        </p:xfrm>
        <a:graphic>
          <a:graphicData uri="http://schemas.openxmlformats.org/drawingml/2006/table">
            <a:tbl>
              <a:tblPr firstRow="1" bandRow="1"/>
              <a:tblGrid>
                <a:gridCol w="1488509">
                  <a:extLst>
                    <a:ext uri="{9D8B030D-6E8A-4147-A177-3AD203B41FA5}">
                      <a16:colId xmlns:a16="http://schemas.microsoft.com/office/drawing/2014/main" val="20000"/>
                    </a:ext>
                  </a:extLst>
                </a:gridCol>
                <a:gridCol w="1883044">
                  <a:extLst>
                    <a:ext uri="{9D8B030D-6E8A-4147-A177-3AD203B41FA5}">
                      <a16:colId xmlns:a16="http://schemas.microsoft.com/office/drawing/2014/main" val="20001"/>
                    </a:ext>
                  </a:extLst>
                </a:gridCol>
                <a:gridCol w="920895">
                  <a:extLst>
                    <a:ext uri="{9D8B030D-6E8A-4147-A177-3AD203B41FA5}">
                      <a16:colId xmlns:a16="http://schemas.microsoft.com/office/drawing/2014/main" val="20002"/>
                    </a:ext>
                  </a:extLst>
                </a:gridCol>
                <a:gridCol w="1086135">
                  <a:extLst>
                    <a:ext uri="{9D8B030D-6E8A-4147-A177-3AD203B41FA5}">
                      <a16:colId xmlns:a16="http://schemas.microsoft.com/office/drawing/2014/main" val="20003"/>
                    </a:ext>
                  </a:extLst>
                </a:gridCol>
                <a:gridCol w="1480088">
                  <a:extLst>
                    <a:ext uri="{9D8B030D-6E8A-4147-A177-3AD203B41FA5}">
                      <a16:colId xmlns:a16="http://schemas.microsoft.com/office/drawing/2014/main" val="20004"/>
                    </a:ext>
                  </a:extLst>
                </a:gridCol>
                <a:gridCol w="1495587">
                  <a:extLst>
                    <a:ext uri="{9D8B030D-6E8A-4147-A177-3AD203B41FA5}">
                      <a16:colId xmlns:a16="http://schemas.microsoft.com/office/drawing/2014/main" val="20005"/>
                    </a:ext>
                  </a:extLst>
                </a:gridCol>
              </a:tblGrid>
              <a:tr h="879125">
                <a:tc row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1313" indent="-109538" algn="l">
                        <a:lnSpc>
                          <a:spcPct val="100000"/>
                        </a:lnSpc>
                        <a:spcBef>
                          <a:spcPts val="5"/>
                        </a:spcBef>
                      </a:pPr>
                      <a:r>
                        <a:rPr sz="800" b="1" spc="-30" dirty="0">
                          <a:solidFill>
                            <a:srgbClr val="C00000"/>
                          </a:solidFill>
                          <a:latin typeface="Roboto" panose="02000000000000000000" pitchFamily="2" charset="0"/>
                          <a:ea typeface="Roboto" panose="02000000000000000000" pitchFamily="2" charset="0"/>
                          <a:cs typeface="Roboto" panose="02000000000000000000" pitchFamily="2" charset="0"/>
                        </a:rPr>
                        <a:t>Key</a:t>
                      </a:r>
                      <a:r>
                        <a:rPr sz="800" b="1" spc="-105" dirty="0">
                          <a:solidFill>
                            <a:srgbClr val="C00000"/>
                          </a:solidFill>
                          <a:latin typeface="Roboto" panose="02000000000000000000" pitchFamily="2" charset="0"/>
                          <a:ea typeface="Roboto" panose="02000000000000000000" pitchFamily="2" charset="0"/>
                          <a:cs typeface="Roboto" panose="02000000000000000000" pitchFamily="2" charset="0"/>
                        </a:rPr>
                        <a:t> </a:t>
                      </a: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Partnerships</a:t>
                      </a:r>
                      <a:endParaRPr lang="en-US" sz="800" b="1" spc="-1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341313" indent="-109538" algn="l">
                        <a:lnSpc>
                          <a:spcPct val="100000"/>
                        </a:lnSpc>
                        <a:spcBef>
                          <a:spcPts val="5"/>
                        </a:spcBef>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231775" indent="-109538" algn="l">
                        <a:lnSpc>
                          <a:spcPct val="100000"/>
                        </a:lnSpc>
                        <a:spcBef>
                          <a:spcPts val="5"/>
                        </a:spcBef>
                        <a:buFont typeface="Wingdings" panose="05000000000000000000" pitchFamily="2" charset="2"/>
                        <a:buChar char="§"/>
                      </a:pPr>
                      <a:r>
                        <a:rPr lang="en-US" sz="800" b="1" spc="-10" dirty="0">
                          <a:latin typeface="Roboto" panose="02000000000000000000" pitchFamily="2" charset="0"/>
                          <a:ea typeface="Roboto" panose="02000000000000000000" pitchFamily="2" charset="0"/>
                          <a:cs typeface="Roboto" panose="02000000000000000000" pitchFamily="2" charset="0"/>
                        </a:rPr>
                        <a:t>Service Providers</a:t>
                      </a:r>
                      <a:r>
                        <a:rPr lang="en-US" sz="800" spc="-10" dirty="0">
                          <a:latin typeface="Roboto" panose="02000000000000000000" pitchFamily="2" charset="0"/>
                          <a:ea typeface="Roboto" panose="02000000000000000000" pitchFamily="2" charset="0"/>
                          <a:cs typeface="Roboto" panose="02000000000000000000" pitchFamily="2" charset="0"/>
                        </a:rPr>
                        <a:t>: Platform, software and tools providers</a:t>
                      </a:r>
                    </a:p>
                    <a:p>
                      <a:pPr marL="231775" indent="-109538" algn="l">
                        <a:lnSpc>
                          <a:spcPct val="100000"/>
                        </a:lnSpc>
                        <a:spcBef>
                          <a:spcPts val="5"/>
                        </a:spcBef>
                        <a:buFont typeface="Wingdings" panose="05000000000000000000" pitchFamily="2" charset="2"/>
                        <a:buChar char="§"/>
                      </a:pPr>
                      <a:r>
                        <a:rPr lang="en-US" sz="800" b="1" spc="-10" dirty="0">
                          <a:latin typeface="Roboto" panose="02000000000000000000" pitchFamily="2" charset="0"/>
                          <a:ea typeface="Roboto" panose="02000000000000000000" pitchFamily="2" charset="0"/>
                          <a:cs typeface="Roboto" panose="02000000000000000000" pitchFamily="2" charset="0"/>
                        </a:rPr>
                        <a:t>Financial Institution</a:t>
                      </a:r>
                      <a:r>
                        <a:rPr lang="en-US" sz="800" spc="-10" dirty="0">
                          <a:latin typeface="Roboto" panose="02000000000000000000" pitchFamily="2" charset="0"/>
                          <a:ea typeface="Roboto" panose="02000000000000000000" pitchFamily="2" charset="0"/>
                          <a:cs typeface="Roboto" panose="02000000000000000000" pitchFamily="2" charset="0"/>
                        </a:rPr>
                        <a:t>: Bank and equity partners for payment processing</a:t>
                      </a:r>
                    </a:p>
                    <a:p>
                      <a:pPr marL="231775" indent="-109538" algn="l">
                        <a:lnSpc>
                          <a:spcPct val="100000"/>
                        </a:lnSpc>
                        <a:spcBef>
                          <a:spcPts val="5"/>
                        </a:spcBef>
                        <a:buFont typeface="Wingdings" panose="05000000000000000000" pitchFamily="2" charset="2"/>
                        <a:buChar char="§"/>
                      </a:pPr>
                      <a:r>
                        <a:rPr lang="en-US" sz="800" b="1" spc="-10" dirty="0">
                          <a:latin typeface="Roboto" panose="02000000000000000000" pitchFamily="2" charset="0"/>
                          <a:ea typeface="Roboto" panose="02000000000000000000" pitchFamily="2" charset="0"/>
                          <a:cs typeface="Roboto" panose="02000000000000000000" pitchFamily="2" charset="0"/>
                        </a:rPr>
                        <a:t>Legal/ Compliance</a:t>
                      </a:r>
                      <a:r>
                        <a:rPr lang="en-US" sz="800" spc="-10" dirty="0">
                          <a:latin typeface="Roboto" panose="02000000000000000000" pitchFamily="2" charset="0"/>
                          <a:ea typeface="Roboto" panose="02000000000000000000" pitchFamily="2" charset="0"/>
                          <a:cs typeface="Roboto" panose="02000000000000000000" pitchFamily="2" charset="0"/>
                        </a:rPr>
                        <a:t>: </a:t>
                      </a:r>
                      <a:r>
                        <a:rPr lang="en-GB" sz="800" spc="-10" dirty="0">
                          <a:latin typeface="Roboto" panose="02000000000000000000" pitchFamily="2" charset="0"/>
                          <a:ea typeface="Roboto" panose="02000000000000000000" pitchFamily="2" charset="0"/>
                          <a:cs typeface="Roboto" panose="02000000000000000000" pitchFamily="2" charset="0"/>
                        </a:rPr>
                        <a:t>Legal advisors for lease drafting and regulatory compliance</a:t>
                      </a:r>
                    </a:p>
                    <a:p>
                      <a:pPr marL="231775" indent="-109538" algn="l">
                        <a:lnSpc>
                          <a:spcPct val="100000"/>
                        </a:lnSpc>
                        <a:spcBef>
                          <a:spcPts val="5"/>
                        </a:spcBef>
                        <a:buFont typeface="Wingdings" panose="05000000000000000000" pitchFamily="2" charset="2"/>
                        <a:buChar char="§"/>
                      </a:pPr>
                      <a:r>
                        <a:rPr lang="en-US" sz="800" b="1" dirty="0">
                          <a:latin typeface="Roboto" panose="02000000000000000000" pitchFamily="2" charset="0"/>
                          <a:ea typeface="Roboto" panose="02000000000000000000" pitchFamily="2" charset="0"/>
                          <a:cs typeface="Roboto" panose="02000000000000000000" pitchFamily="2" charset="0"/>
                        </a:rPr>
                        <a:t>REA/ REN: </a:t>
                      </a:r>
                      <a:r>
                        <a:rPr lang="en-US" sz="800" dirty="0">
                          <a:latin typeface="Roboto" panose="02000000000000000000" pitchFamily="2" charset="0"/>
                          <a:ea typeface="Roboto" panose="02000000000000000000" pitchFamily="2" charset="0"/>
                          <a:cs typeface="Roboto" panose="02000000000000000000" pitchFamily="2" charset="0"/>
                        </a:rPr>
                        <a:t>For features, feedback and future enhancement</a:t>
                      </a:r>
                      <a:endParaRPr sz="800" dirty="0">
                        <a:latin typeface="Roboto" panose="02000000000000000000" pitchFamily="2" charset="0"/>
                        <a:ea typeface="Roboto" panose="02000000000000000000" pitchFamily="2" charset="0"/>
                        <a:cs typeface="Roboto" panose="02000000000000000000" pitchFamily="2" charset="0"/>
                      </a:endParaRPr>
                    </a:p>
                  </a:txBody>
                  <a:tcPr marL="0" marR="0" marT="6731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FFFF"/>
                    </a:solidFill>
                  </a:tcPr>
                </a:tc>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31775" indent="-115888">
                        <a:lnSpc>
                          <a:spcPct val="100000"/>
                        </a:lnSpc>
                        <a:spcBef>
                          <a:spcPts val="5"/>
                        </a:spcBef>
                      </a:pPr>
                      <a:r>
                        <a:rPr sz="800" b="1" spc="-30" dirty="0">
                          <a:solidFill>
                            <a:srgbClr val="C00000"/>
                          </a:solidFill>
                          <a:latin typeface="Roboto" panose="02000000000000000000" pitchFamily="2" charset="0"/>
                          <a:ea typeface="Roboto" panose="02000000000000000000" pitchFamily="2" charset="0"/>
                          <a:cs typeface="Roboto" panose="02000000000000000000" pitchFamily="2" charset="0"/>
                        </a:rPr>
                        <a:t>Key</a:t>
                      </a:r>
                      <a:r>
                        <a:rPr sz="800" b="1" spc="-105" dirty="0">
                          <a:solidFill>
                            <a:srgbClr val="C00000"/>
                          </a:solidFill>
                          <a:latin typeface="Roboto" panose="02000000000000000000" pitchFamily="2" charset="0"/>
                          <a:ea typeface="Roboto" panose="02000000000000000000" pitchFamily="2" charset="0"/>
                          <a:cs typeface="Roboto" panose="02000000000000000000" pitchFamily="2" charset="0"/>
                        </a:rPr>
                        <a:t> </a:t>
                      </a: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Activities</a:t>
                      </a:r>
                      <a:endParaRPr lang="en-US" sz="800" b="1" spc="-1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231775" indent="-115888">
                        <a:lnSpc>
                          <a:spcPct val="100000"/>
                        </a:lnSpc>
                        <a:spcBef>
                          <a:spcPts val="5"/>
                        </a:spcBef>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231775" indent="-115888">
                        <a:lnSpc>
                          <a:spcPct val="100000"/>
                        </a:lnSpc>
                        <a:spcBef>
                          <a:spcPts val="5"/>
                        </a:spcBef>
                        <a:buFont typeface="Wingdings" panose="05000000000000000000" pitchFamily="2" charset="2"/>
                        <a:buChar char="§"/>
                      </a:pPr>
                      <a:r>
                        <a:rPr lang="en-US" sz="800" b="1" spc="-10" dirty="0">
                          <a:latin typeface="Roboto" panose="02000000000000000000" pitchFamily="2" charset="0"/>
                          <a:ea typeface="Roboto" panose="02000000000000000000" pitchFamily="2" charset="0"/>
                          <a:cs typeface="Roboto" panose="02000000000000000000" pitchFamily="2" charset="0"/>
                        </a:rPr>
                        <a:t>Platform Maintenance:</a:t>
                      </a:r>
                      <a:r>
                        <a:rPr lang="en-US" sz="800" spc="-10" dirty="0">
                          <a:latin typeface="Roboto" panose="02000000000000000000" pitchFamily="2" charset="0"/>
                          <a:ea typeface="Roboto" panose="02000000000000000000" pitchFamily="2" charset="0"/>
                          <a:cs typeface="Roboto" panose="02000000000000000000" pitchFamily="2" charset="0"/>
                        </a:rPr>
                        <a:t> Updating features, version and security</a:t>
                      </a:r>
                    </a:p>
                    <a:p>
                      <a:pPr marL="231775" indent="-115888">
                        <a:lnSpc>
                          <a:spcPct val="100000"/>
                        </a:lnSpc>
                        <a:spcBef>
                          <a:spcPts val="5"/>
                        </a:spcBef>
                        <a:buFont typeface="Wingdings" panose="05000000000000000000" pitchFamily="2" charset="2"/>
                        <a:buChar char="§"/>
                      </a:pPr>
                      <a:r>
                        <a:rPr lang="en-US" sz="800" b="1" spc="-10" dirty="0">
                          <a:latin typeface="Roboto" panose="02000000000000000000" pitchFamily="2" charset="0"/>
                          <a:ea typeface="Roboto" panose="02000000000000000000" pitchFamily="2" charset="0"/>
                          <a:cs typeface="Roboto" panose="02000000000000000000" pitchFamily="2" charset="0"/>
                        </a:rPr>
                        <a:t>Property Marketing: </a:t>
                      </a:r>
                      <a:r>
                        <a:rPr lang="en-US" sz="800" b="0" spc="-10" dirty="0">
                          <a:latin typeface="Roboto" panose="02000000000000000000" pitchFamily="2" charset="0"/>
                          <a:ea typeface="Roboto" panose="02000000000000000000" pitchFamily="2" charset="0"/>
                          <a:cs typeface="Roboto" panose="02000000000000000000" pitchFamily="2" charset="0"/>
                        </a:rPr>
                        <a:t>C</a:t>
                      </a:r>
                      <a:r>
                        <a:rPr lang="en-US" sz="800" spc="-10" dirty="0">
                          <a:latin typeface="Roboto" panose="02000000000000000000" pitchFamily="2" charset="0"/>
                          <a:ea typeface="Roboto" panose="02000000000000000000" pitchFamily="2" charset="0"/>
                          <a:cs typeface="Roboto" panose="02000000000000000000" pitchFamily="2" charset="0"/>
                        </a:rPr>
                        <a:t>omprehensive features, secured, rental maintenance hub, communication and notifications to attract tenants.</a:t>
                      </a:r>
                    </a:p>
                    <a:p>
                      <a:pPr marL="231775" indent="-115888">
                        <a:lnSpc>
                          <a:spcPct val="100000"/>
                        </a:lnSpc>
                        <a:spcBef>
                          <a:spcPts val="5"/>
                        </a:spcBef>
                        <a:buFont typeface="Wingdings" panose="05000000000000000000" pitchFamily="2" charset="2"/>
                        <a:buChar char="§"/>
                      </a:pPr>
                      <a:r>
                        <a:rPr lang="en-US" sz="800" b="1" spc="-10" dirty="0">
                          <a:latin typeface="Roboto" panose="02000000000000000000" pitchFamily="2" charset="0"/>
                          <a:ea typeface="Roboto" panose="02000000000000000000" pitchFamily="2" charset="0"/>
                          <a:cs typeface="Roboto" panose="02000000000000000000" pitchFamily="2" charset="0"/>
                        </a:rPr>
                        <a:t>Conflict Resolution:</a:t>
                      </a:r>
                      <a:r>
                        <a:rPr lang="en-US" sz="800" spc="-10" dirty="0">
                          <a:latin typeface="Roboto" panose="02000000000000000000" pitchFamily="2" charset="0"/>
                          <a:ea typeface="Roboto" panose="02000000000000000000" pitchFamily="2" charset="0"/>
                          <a:cs typeface="Roboto" panose="02000000000000000000" pitchFamily="2" charset="0"/>
                        </a:rPr>
                        <a:t> Digitally stored evidence to managing disputes between parties</a:t>
                      </a:r>
                      <a:endParaRPr sz="800" dirty="0">
                        <a:latin typeface="Roboto" panose="02000000000000000000" pitchFamily="2" charset="0"/>
                        <a:ea typeface="Roboto" panose="02000000000000000000" pitchFamily="2" charset="0"/>
                        <a:cs typeface="Roboto" panose="02000000000000000000" pitchFamily="2" charset="0"/>
                      </a:endParaRPr>
                    </a:p>
                  </a:txBody>
                  <a:tcPr marL="0" marR="0" marT="6731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FFFF"/>
                    </a:solidFill>
                  </a:tcPr>
                </a:tc>
                <a:tc rowSpan="3"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60350" indent="-144463">
                        <a:lnSpc>
                          <a:spcPct val="100000"/>
                        </a:lnSpc>
                        <a:spcBef>
                          <a:spcPts val="5"/>
                        </a:spcBef>
                      </a:pP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Value</a:t>
                      </a:r>
                      <a:r>
                        <a:rPr sz="800" b="1" spc="-130" dirty="0">
                          <a:solidFill>
                            <a:srgbClr val="C00000"/>
                          </a:solidFill>
                          <a:latin typeface="Roboto" panose="02000000000000000000" pitchFamily="2" charset="0"/>
                          <a:ea typeface="Roboto" panose="02000000000000000000" pitchFamily="2" charset="0"/>
                          <a:cs typeface="Roboto" panose="02000000000000000000" pitchFamily="2" charset="0"/>
                        </a:rPr>
                        <a:t> </a:t>
                      </a: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Propositions</a:t>
                      </a:r>
                      <a:endParaRPr lang="en-US" sz="800" b="1" spc="-1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260350" indent="-144463">
                        <a:lnSpc>
                          <a:spcPct val="100000"/>
                        </a:lnSpc>
                        <a:spcBef>
                          <a:spcPts val="5"/>
                        </a:spcBef>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260350" indent="-144463">
                        <a:lnSpc>
                          <a:spcPct val="100000"/>
                        </a:lnSpc>
                        <a:spcBef>
                          <a:spcPts val="5"/>
                        </a:spcBef>
                      </a:pPr>
                      <a:r>
                        <a:rPr lang="en-US" sz="800" b="1" u="sng" spc="-10" dirty="0">
                          <a:latin typeface="Roboto" panose="02000000000000000000" pitchFamily="2" charset="0"/>
                          <a:ea typeface="Roboto" panose="02000000000000000000" pitchFamily="2" charset="0"/>
                          <a:cs typeface="Roboto" panose="02000000000000000000" pitchFamily="2" charset="0"/>
                        </a:rPr>
                        <a:t>For Property Owners</a:t>
                      </a:r>
                    </a:p>
                    <a:p>
                      <a:pPr marL="260350" indent="-144463">
                        <a:lnSpc>
                          <a:spcPct val="100000"/>
                        </a:lnSpc>
                        <a:spcBef>
                          <a:spcPts val="5"/>
                        </a:spcBef>
                        <a:buFont typeface="Wingdings" panose="05000000000000000000" pitchFamily="2" charset="2"/>
                        <a:buChar char="§"/>
                      </a:pPr>
                      <a:r>
                        <a:rPr lang="en-GB" sz="800" spc="-10" dirty="0">
                          <a:latin typeface="Roboto" panose="02000000000000000000" pitchFamily="2" charset="0"/>
                          <a:ea typeface="Roboto" panose="02000000000000000000" pitchFamily="2" charset="0"/>
                          <a:cs typeface="Roboto" panose="02000000000000000000" pitchFamily="2" charset="0"/>
                        </a:rPr>
                        <a:t>Automated rent collection, tenant screening, and maintenance coordination to reduce management burden</a:t>
                      </a:r>
                    </a:p>
                    <a:p>
                      <a:pPr marL="260350" indent="-144463">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Editable digital templating/ leasing management which can view, sign and store.</a:t>
                      </a:r>
                    </a:p>
                    <a:p>
                      <a:pPr marL="260350" indent="-144463">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Customizable terms, owners easily to define rates, deposit and specific clauses.</a:t>
                      </a:r>
                    </a:p>
                    <a:p>
                      <a:pPr marL="260350" indent="-144463">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Reporting and monitoring for all tenant in one centralize dashboard.</a:t>
                      </a:r>
                    </a:p>
                    <a:p>
                      <a:pPr marL="260350" indent="-144463">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Communication and notifications</a:t>
                      </a:r>
                    </a:p>
                    <a:p>
                      <a:pPr marL="260350" indent="-144463">
                        <a:lnSpc>
                          <a:spcPct val="100000"/>
                        </a:lnSpc>
                        <a:spcBef>
                          <a:spcPts val="5"/>
                        </a:spcBef>
                        <a:buFont typeface="Wingdings" panose="05000000000000000000" pitchFamily="2" charset="2"/>
                        <a:buNone/>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260350" indent="-144463">
                        <a:lnSpc>
                          <a:spcPct val="100000"/>
                        </a:lnSpc>
                        <a:spcBef>
                          <a:spcPts val="5"/>
                        </a:spcBef>
                        <a:buFont typeface="Wingdings" panose="05000000000000000000" pitchFamily="2" charset="2"/>
                        <a:buNone/>
                      </a:pPr>
                      <a:r>
                        <a:rPr lang="en-US" sz="800" b="1" u="sng" spc="-10" dirty="0">
                          <a:latin typeface="Roboto" panose="02000000000000000000" pitchFamily="2" charset="0"/>
                          <a:ea typeface="Roboto" panose="02000000000000000000" pitchFamily="2" charset="0"/>
                          <a:cs typeface="Roboto" panose="02000000000000000000" pitchFamily="2" charset="0"/>
                        </a:rPr>
                        <a:t>For Tenants</a:t>
                      </a:r>
                    </a:p>
                    <a:p>
                      <a:pPr marL="260350" indent="-144463">
                        <a:lnSpc>
                          <a:spcPct val="100000"/>
                        </a:lnSpc>
                        <a:spcBef>
                          <a:spcPts val="5"/>
                        </a:spcBef>
                        <a:buFont typeface="Wingdings" panose="05000000000000000000" pitchFamily="2" charset="2"/>
                        <a:buChar char="§"/>
                      </a:pPr>
                      <a:r>
                        <a:rPr lang="en-GB" sz="800" spc="-10" dirty="0">
                          <a:latin typeface="Roboto" panose="02000000000000000000" pitchFamily="2" charset="0"/>
                          <a:ea typeface="Roboto" panose="02000000000000000000" pitchFamily="2" charset="0"/>
                          <a:cs typeface="Roboto" panose="02000000000000000000" pitchFamily="2" charset="0"/>
                        </a:rPr>
                        <a:t>Easy property search, digital lease signing, and secure online payment portals.</a:t>
                      </a:r>
                    </a:p>
                    <a:p>
                      <a:pPr marL="260350" indent="-144463">
                        <a:lnSpc>
                          <a:spcPct val="100000"/>
                        </a:lnSpc>
                        <a:spcBef>
                          <a:spcPts val="5"/>
                        </a:spcBef>
                        <a:buFont typeface="Wingdings" panose="05000000000000000000" pitchFamily="2" charset="2"/>
                        <a:buChar char="§"/>
                      </a:pPr>
                      <a:r>
                        <a:rPr lang="en-GB" sz="800" spc="-10" dirty="0">
                          <a:latin typeface="Roboto" panose="02000000000000000000" pitchFamily="2" charset="0"/>
                          <a:ea typeface="Roboto" panose="02000000000000000000" pitchFamily="2" charset="0"/>
                          <a:cs typeface="Roboto" panose="02000000000000000000" pitchFamily="2" charset="0"/>
                        </a:rPr>
                        <a:t>Communication and notifications</a:t>
                      </a:r>
                      <a:endParaRPr lang="en-US" sz="800" spc="-10" dirty="0">
                        <a:latin typeface="Roboto" panose="02000000000000000000" pitchFamily="2" charset="0"/>
                        <a:ea typeface="Roboto" panose="02000000000000000000" pitchFamily="2" charset="0"/>
                        <a:cs typeface="Roboto" panose="02000000000000000000" pitchFamily="2" charset="0"/>
                      </a:endParaRPr>
                    </a:p>
                    <a:p>
                      <a:pPr marL="260350" indent="-144463">
                        <a:lnSpc>
                          <a:spcPct val="100000"/>
                        </a:lnSpc>
                        <a:spcBef>
                          <a:spcPts val="5"/>
                        </a:spcBef>
                        <a:buFont typeface="Wingdings" panose="05000000000000000000" pitchFamily="2" charset="2"/>
                        <a:buChar char="§"/>
                      </a:pPr>
                      <a:endParaRPr sz="800" dirty="0">
                        <a:latin typeface="Roboto" panose="02000000000000000000" pitchFamily="2" charset="0"/>
                        <a:ea typeface="Roboto" panose="02000000000000000000" pitchFamily="2" charset="0"/>
                        <a:cs typeface="Roboto" panose="02000000000000000000" pitchFamily="2" charset="0"/>
                      </a:endParaRPr>
                    </a:p>
                  </a:txBody>
                  <a:tcPr marL="0" marR="0" marT="6731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FFFF"/>
                    </a:solidFill>
                  </a:tcPr>
                </a:tc>
                <a:tc rowSpan="3" hMerge="1">
                  <a:txBody>
                    <a:bodyPr/>
                    <a:lstStyle/>
                    <a:p>
                      <a:endParaRPr/>
                    </a:p>
                  </a:txBody>
                  <a:tcPr marL="0" marR="0" marT="0" marB="0"/>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45415">
                        <a:lnSpc>
                          <a:spcPct val="100000"/>
                        </a:lnSpc>
                        <a:spcBef>
                          <a:spcPts val="5"/>
                        </a:spcBef>
                      </a:pPr>
                      <a:r>
                        <a:rPr sz="800" b="1" spc="-25" dirty="0">
                          <a:solidFill>
                            <a:srgbClr val="C00000"/>
                          </a:solidFill>
                          <a:latin typeface="Roboto" panose="02000000000000000000" pitchFamily="2" charset="0"/>
                          <a:ea typeface="Roboto" panose="02000000000000000000" pitchFamily="2" charset="0"/>
                          <a:cs typeface="Roboto" panose="02000000000000000000" pitchFamily="2" charset="0"/>
                        </a:rPr>
                        <a:t>Customer</a:t>
                      </a:r>
                      <a:r>
                        <a:rPr sz="800" b="1" spc="-70" dirty="0">
                          <a:solidFill>
                            <a:srgbClr val="C00000"/>
                          </a:solidFill>
                          <a:latin typeface="Roboto" panose="02000000000000000000" pitchFamily="2" charset="0"/>
                          <a:ea typeface="Roboto" panose="02000000000000000000" pitchFamily="2" charset="0"/>
                          <a:cs typeface="Roboto" panose="02000000000000000000" pitchFamily="2" charset="0"/>
                        </a:rPr>
                        <a:t> </a:t>
                      </a: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Relationships</a:t>
                      </a:r>
                      <a:endParaRPr lang="en-US" sz="800" b="1" spc="-1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145415">
                        <a:lnSpc>
                          <a:spcPct val="100000"/>
                        </a:lnSpc>
                        <a:spcBef>
                          <a:spcPts val="5"/>
                        </a:spcBef>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285750" indent="-169863">
                        <a:lnSpc>
                          <a:spcPct val="100000"/>
                        </a:lnSpc>
                        <a:spcBef>
                          <a:spcPts val="5"/>
                        </a:spcBef>
                        <a:buFont typeface="Wingdings" panose="05000000000000000000" pitchFamily="2" charset="2"/>
                        <a:buChar char="§"/>
                        <a:tabLst>
                          <a:tab pos="511175" algn="l"/>
                        </a:tabLst>
                      </a:pPr>
                      <a:r>
                        <a:rPr lang="en-US" sz="800" spc="-10" dirty="0">
                          <a:latin typeface="Roboto" panose="02000000000000000000" pitchFamily="2" charset="0"/>
                          <a:ea typeface="Roboto" panose="02000000000000000000" pitchFamily="2" charset="0"/>
                          <a:cs typeface="Roboto" panose="02000000000000000000" pitchFamily="2" charset="0"/>
                        </a:rPr>
                        <a:t>Self service, automated portal for tenant screening, feedbacks response for tenant and landlords.</a:t>
                      </a:r>
                    </a:p>
                    <a:p>
                      <a:pPr marL="145415" indent="0">
                        <a:lnSpc>
                          <a:spcPct val="100000"/>
                        </a:lnSpc>
                        <a:spcBef>
                          <a:spcPts val="5"/>
                        </a:spcBef>
                        <a:buFont typeface="Wingdings" panose="05000000000000000000" pitchFamily="2" charset="2"/>
                        <a:buNone/>
                      </a:pPr>
                      <a:endParaRPr sz="800" dirty="0">
                        <a:latin typeface="Roboto" panose="02000000000000000000" pitchFamily="2" charset="0"/>
                        <a:ea typeface="Roboto" panose="02000000000000000000" pitchFamily="2" charset="0"/>
                        <a:cs typeface="Roboto" panose="02000000000000000000" pitchFamily="2" charset="0"/>
                      </a:endParaRPr>
                    </a:p>
                  </a:txBody>
                  <a:tcPr marL="0" marR="0" marT="6731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FFFF"/>
                    </a:solidFill>
                  </a:tcPr>
                </a:tc>
                <a:tc row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45415">
                        <a:lnSpc>
                          <a:spcPct val="100000"/>
                        </a:lnSpc>
                        <a:spcBef>
                          <a:spcPts val="5"/>
                        </a:spcBef>
                      </a:pPr>
                      <a:r>
                        <a:rPr sz="800" b="1" spc="-25" dirty="0">
                          <a:solidFill>
                            <a:srgbClr val="C00000"/>
                          </a:solidFill>
                          <a:latin typeface="Roboto" panose="02000000000000000000" pitchFamily="2" charset="0"/>
                          <a:ea typeface="Roboto" panose="02000000000000000000" pitchFamily="2" charset="0"/>
                          <a:cs typeface="Roboto" panose="02000000000000000000" pitchFamily="2" charset="0"/>
                        </a:rPr>
                        <a:t>Customer</a:t>
                      </a:r>
                      <a:r>
                        <a:rPr sz="800" b="1" spc="-70" dirty="0">
                          <a:solidFill>
                            <a:srgbClr val="C00000"/>
                          </a:solidFill>
                          <a:latin typeface="Roboto" panose="02000000000000000000" pitchFamily="2" charset="0"/>
                          <a:ea typeface="Roboto" panose="02000000000000000000" pitchFamily="2" charset="0"/>
                          <a:cs typeface="Roboto" panose="02000000000000000000" pitchFamily="2" charset="0"/>
                        </a:rPr>
                        <a:t> </a:t>
                      </a: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Segments</a:t>
                      </a:r>
                      <a:endParaRPr lang="en-US" sz="800" b="1" spc="-1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145415">
                        <a:lnSpc>
                          <a:spcPct val="100000"/>
                        </a:lnSpc>
                        <a:spcBef>
                          <a:spcPts val="5"/>
                        </a:spcBef>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287338" indent="-142875">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Registered Estate Agents</a:t>
                      </a:r>
                    </a:p>
                    <a:p>
                      <a:pPr marL="287338" indent="-142875">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Real Estate Negotiator</a:t>
                      </a:r>
                    </a:p>
                    <a:p>
                      <a:pPr marL="287338" indent="-142875">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Individual property owner</a:t>
                      </a:r>
                    </a:p>
                    <a:p>
                      <a:pPr marL="287338" indent="-142875">
                        <a:lnSpc>
                          <a:spcPct val="100000"/>
                        </a:lnSpc>
                        <a:spcBef>
                          <a:spcPts val="5"/>
                        </a:spcBef>
                        <a:buFont typeface="Wingdings" panose="05000000000000000000" pitchFamily="2" charset="2"/>
                        <a:buChar char="§"/>
                      </a:pPr>
                      <a:r>
                        <a:rPr lang="en-US" sz="800" spc="-10" dirty="0">
                          <a:latin typeface="Roboto" panose="02000000000000000000" pitchFamily="2" charset="0"/>
                          <a:ea typeface="Roboto" panose="02000000000000000000" pitchFamily="2" charset="0"/>
                          <a:cs typeface="Roboto" panose="02000000000000000000" pitchFamily="2" charset="0"/>
                        </a:rPr>
                        <a:t>Individual for prospect buyer or tenant</a:t>
                      </a:r>
                      <a:endParaRPr sz="800" dirty="0">
                        <a:latin typeface="Roboto" panose="02000000000000000000" pitchFamily="2" charset="0"/>
                        <a:ea typeface="Roboto" panose="02000000000000000000" pitchFamily="2" charset="0"/>
                        <a:cs typeface="Roboto" panose="02000000000000000000" pitchFamily="2" charset="0"/>
                      </a:endParaRPr>
                    </a:p>
                  </a:txBody>
                  <a:tcPr marL="0" marR="0" marT="67310" marB="0">
                    <a:lnL w="12700">
                      <a:solidFill>
                        <a:srgbClr val="000000"/>
                      </a:solidFill>
                      <a:prstDash val="solid"/>
                    </a:lnL>
                    <a:lnR w="38100">
                      <a:solidFill>
                        <a:srgbClr val="000000"/>
                      </a:solidFill>
                      <a:prstDash val="solid"/>
                    </a:lnR>
                    <a:lnT w="381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567825">
                <a:tc vMerge="1">
                  <a:txBody>
                    <a:bodyPr/>
                    <a:lstStyle/>
                    <a:p>
                      <a:endParaRPr lang="en-MY"/>
                    </a:p>
                  </a:txBody>
                  <a:tcPr/>
                </a:tc>
                <a:tc vMerge="1">
                  <a:txBody>
                    <a:bodyPr/>
                    <a:lstStyle/>
                    <a:p>
                      <a:pPr marL="431165" indent="-285750">
                        <a:lnSpc>
                          <a:spcPct val="100000"/>
                        </a:lnSpc>
                        <a:spcBef>
                          <a:spcPts val="5"/>
                        </a:spcBef>
                        <a:buFont typeface="Wingdings" panose="05000000000000000000" pitchFamily="2" charset="2"/>
                        <a:buChar char="§"/>
                      </a:pPr>
                      <a:endParaRPr sz="900" dirty="0">
                        <a:latin typeface="Roboto" panose="02000000000000000000" pitchFamily="2" charset="0"/>
                        <a:ea typeface="Roboto" panose="02000000000000000000" pitchFamily="2" charset="0"/>
                        <a:cs typeface="Roboto" panose="02000000000000000000" pitchFamily="2" charset="0"/>
                      </a:endParaRPr>
                    </a:p>
                  </a:txBody>
                  <a:tcPr marL="0" marR="0" marT="673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lnTlToBr w="12700" cmpd="sng">
                      <a:noFill/>
                      <a:prstDash val="solid"/>
                    </a:lnTlToBr>
                    <a:lnBlToTr w="12700" cmpd="sng">
                      <a:noFill/>
                      <a:prstDash val="solid"/>
                    </a:lnBlToTr>
                    <a:solidFill>
                      <a:srgbClr val="FFFFFF"/>
                    </a:solidFill>
                  </a:tcPr>
                </a:tc>
                <a:tc gridSpan="2" vMerge="1">
                  <a:txBody>
                    <a:bodyPr/>
                    <a:lstStyle/>
                    <a:p>
                      <a:endParaRPr lang="en-MY"/>
                    </a:p>
                  </a:txBody>
                  <a:tcPr/>
                </a:tc>
                <a:tc hMerge="1" vMerge="1">
                  <a:txBody>
                    <a:bodyPr/>
                    <a:lstStyle/>
                    <a:p>
                      <a:endParaRPr lang="en-MY"/>
                    </a:p>
                  </a:txBody>
                  <a:tcPr/>
                </a:tc>
                <a:tc rowSpan="2">
                  <a:txBody>
                    <a:bodyPr/>
                    <a:lstStyle/>
                    <a:p>
                      <a:pPr>
                        <a:lnSpc>
                          <a:spcPct val="100000"/>
                        </a:lnSpc>
                        <a:spcBef>
                          <a:spcPts val="340"/>
                        </a:spcBef>
                      </a:pPr>
                      <a:endParaRPr lang="en-MY" sz="800" dirty="0">
                        <a:latin typeface="Roboto" panose="02000000000000000000" pitchFamily="2" charset="0"/>
                        <a:ea typeface="Roboto" panose="02000000000000000000" pitchFamily="2" charset="0"/>
                        <a:cs typeface="Roboto" panose="02000000000000000000" pitchFamily="2" charset="0"/>
                      </a:endParaRPr>
                    </a:p>
                    <a:p>
                      <a:pPr marL="145415">
                        <a:lnSpc>
                          <a:spcPct val="100000"/>
                        </a:lnSpc>
                      </a:pPr>
                      <a:r>
                        <a:rPr lang="en-MY" sz="800" b="1" spc="-10" dirty="0">
                          <a:solidFill>
                            <a:srgbClr val="C00000"/>
                          </a:solidFill>
                          <a:latin typeface="Roboto" panose="02000000000000000000" pitchFamily="2" charset="0"/>
                          <a:ea typeface="Roboto" panose="02000000000000000000" pitchFamily="2" charset="0"/>
                          <a:cs typeface="Roboto" panose="02000000000000000000" pitchFamily="2" charset="0"/>
                        </a:rPr>
                        <a:t>Channels</a:t>
                      </a:r>
                    </a:p>
                    <a:p>
                      <a:pPr marL="145415">
                        <a:lnSpc>
                          <a:spcPct val="100000"/>
                        </a:lnSpc>
                      </a:pPr>
                      <a:endParaRPr lang="en-MY" sz="800" spc="-10" dirty="0">
                        <a:latin typeface="Roboto" panose="02000000000000000000" pitchFamily="2" charset="0"/>
                        <a:ea typeface="Roboto" panose="02000000000000000000" pitchFamily="2" charset="0"/>
                        <a:cs typeface="Roboto" panose="02000000000000000000" pitchFamily="2" charset="0"/>
                      </a:endParaRPr>
                    </a:p>
                    <a:p>
                      <a:pPr marL="287338" indent="-142875">
                        <a:lnSpc>
                          <a:spcPct val="100000"/>
                        </a:lnSpc>
                        <a:buFont typeface="Wingdings" panose="05000000000000000000" pitchFamily="2" charset="2"/>
                        <a:buChar char="§"/>
                      </a:pPr>
                      <a:r>
                        <a:rPr lang="en-MY" sz="800" spc="-10" dirty="0">
                          <a:latin typeface="Roboto" panose="02000000000000000000" pitchFamily="2" charset="0"/>
                          <a:ea typeface="Roboto" panose="02000000000000000000" pitchFamily="2" charset="0"/>
                          <a:cs typeface="Roboto" panose="02000000000000000000" pitchFamily="2" charset="0"/>
                        </a:rPr>
                        <a:t>Digital platform via mobile apps and website</a:t>
                      </a:r>
                    </a:p>
                    <a:p>
                      <a:pPr marL="287338" indent="-142875">
                        <a:lnSpc>
                          <a:spcPct val="100000"/>
                        </a:lnSpc>
                        <a:buFont typeface="Wingdings" panose="05000000000000000000" pitchFamily="2" charset="2"/>
                        <a:buChar char="§"/>
                      </a:pPr>
                      <a:r>
                        <a:rPr lang="en-MY" sz="800" spc="-10" dirty="0">
                          <a:latin typeface="Roboto" panose="02000000000000000000" pitchFamily="2" charset="0"/>
                          <a:ea typeface="Roboto" panose="02000000000000000000" pitchFamily="2" charset="0"/>
                          <a:cs typeface="Roboto" panose="02000000000000000000" pitchFamily="2" charset="0"/>
                        </a:rPr>
                        <a:t>Social media (FB, Instagram, X, </a:t>
                      </a:r>
                      <a:r>
                        <a:rPr lang="en-MY" sz="800" spc="-10" dirty="0" err="1">
                          <a:latin typeface="Roboto" panose="02000000000000000000" pitchFamily="2" charset="0"/>
                          <a:ea typeface="Roboto" panose="02000000000000000000" pitchFamily="2" charset="0"/>
                          <a:cs typeface="Roboto" panose="02000000000000000000" pitchFamily="2" charset="0"/>
                        </a:rPr>
                        <a:t>Youtube</a:t>
                      </a:r>
                      <a:r>
                        <a:rPr lang="en-MY" sz="800" spc="-10" dirty="0">
                          <a:latin typeface="Roboto" panose="02000000000000000000" pitchFamily="2" charset="0"/>
                          <a:ea typeface="Roboto" panose="02000000000000000000" pitchFamily="2" charset="0"/>
                          <a:cs typeface="Roboto" panose="02000000000000000000" pitchFamily="2" charset="0"/>
                        </a:rPr>
                        <a:t> Channel) for targeted advertising</a:t>
                      </a:r>
                    </a:p>
                    <a:p>
                      <a:pPr marL="287338" indent="-142875">
                        <a:lnSpc>
                          <a:spcPct val="100000"/>
                        </a:lnSpc>
                        <a:buFont typeface="Wingdings" panose="05000000000000000000" pitchFamily="2" charset="2"/>
                        <a:buChar char="§"/>
                      </a:pPr>
                      <a:r>
                        <a:rPr lang="en-MY" sz="800" spc="-10" dirty="0">
                          <a:latin typeface="Roboto" panose="02000000000000000000" pitchFamily="2" charset="0"/>
                          <a:ea typeface="Roboto" panose="02000000000000000000" pitchFamily="2" charset="0"/>
                          <a:cs typeface="Roboto" panose="02000000000000000000" pitchFamily="2" charset="0"/>
                        </a:rPr>
                        <a:t>Direct sales through real estate agents and real estate negotiator</a:t>
                      </a: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FFFF"/>
                    </a:solidFill>
                  </a:tcPr>
                </a:tc>
                <a:tc vMerge="1">
                  <a:txBody>
                    <a:bodyPr/>
                    <a:lstStyle/>
                    <a:p>
                      <a:endParaRPr lang="en-MY"/>
                    </a:p>
                  </a:txBody>
                  <a:tcPr/>
                </a:tc>
                <a:extLst>
                  <a:ext uri="{0D108BD9-81ED-4DB2-BD59-A6C34878D82A}">
                    <a16:rowId xmlns:a16="http://schemas.microsoft.com/office/drawing/2014/main" val="4077005022"/>
                  </a:ext>
                </a:extLst>
              </a:tr>
              <a:tr h="1260449">
                <a:tc vMerge="1">
                  <a:txBody>
                    <a:bodyPr/>
                    <a:lstStyle/>
                    <a:p>
                      <a:endParaRPr lang="en-MY"/>
                    </a:p>
                  </a:txBody>
                  <a:tcPr/>
                </a:tc>
                <a:tc>
                  <a:txBody>
                    <a:bodyPr/>
                    <a:lstStyle/>
                    <a:p>
                      <a:pPr marL="145415">
                        <a:lnSpc>
                          <a:spcPct val="100000"/>
                        </a:lnSpc>
                      </a:pPr>
                      <a:r>
                        <a:rPr lang="en-GB" sz="800" b="1" spc="-30" dirty="0">
                          <a:solidFill>
                            <a:srgbClr val="C00000"/>
                          </a:solidFill>
                          <a:latin typeface="Roboto" panose="02000000000000000000" pitchFamily="2" charset="0"/>
                          <a:ea typeface="Roboto" panose="02000000000000000000" pitchFamily="2" charset="0"/>
                          <a:cs typeface="Roboto" panose="02000000000000000000" pitchFamily="2" charset="0"/>
                        </a:rPr>
                        <a:t>Key</a:t>
                      </a:r>
                      <a:r>
                        <a:rPr lang="en-GB" sz="800" b="1" spc="-105" dirty="0">
                          <a:solidFill>
                            <a:srgbClr val="C00000"/>
                          </a:solidFill>
                          <a:latin typeface="Roboto" panose="02000000000000000000" pitchFamily="2" charset="0"/>
                          <a:ea typeface="Roboto" panose="02000000000000000000" pitchFamily="2" charset="0"/>
                          <a:cs typeface="Roboto" panose="02000000000000000000" pitchFamily="2" charset="0"/>
                        </a:rPr>
                        <a:t> </a:t>
                      </a:r>
                      <a:r>
                        <a:rPr lang="en-GB" sz="800" b="1" spc="-10" dirty="0">
                          <a:solidFill>
                            <a:srgbClr val="C00000"/>
                          </a:solidFill>
                          <a:latin typeface="Roboto" panose="02000000000000000000" pitchFamily="2" charset="0"/>
                          <a:ea typeface="Roboto" panose="02000000000000000000" pitchFamily="2" charset="0"/>
                          <a:cs typeface="Roboto" panose="02000000000000000000" pitchFamily="2" charset="0"/>
                        </a:rPr>
                        <a:t>Resources</a:t>
                      </a:r>
                    </a:p>
                    <a:p>
                      <a:pPr marL="144463" indent="-90488">
                        <a:lnSpc>
                          <a:spcPct val="100000"/>
                        </a:lnSpc>
                      </a:pPr>
                      <a:endParaRPr lang="en-GB" sz="800" spc="-10" dirty="0">
                        <a:latin typeface="Roboto" panose="02000000000000000000" pitchFamily="2" charset="0"/>
                        <a:ea typeface="Roboto" panose="02000000000000000000" pitchFamily="2" charset="0"/>
                        <a:cs typeface="Roboto" panose="02000000000000000000" pitchFamily="2" charset="0"/>
                      </a:endParaRPr>
                    </a:p>
                    <a:p>
                      <a:pPr marL="231775" indent="-115888">
                        <a:lnSpc>
                          <a:spcPct val="100000"/>
                        </a:lnSpc>
                        <a:buFont typeface="Wingdings" panose="05000000000000000000" pitchFamily="2" charset="2"/>
                        <a:buChar char="§"/>
                      </a:pPr>
                      <a:r>
                        <a:rPr lang="en-GB" sz="800" b="1" spc="-10" dirty="0">
                          <a:latin typeface="Roboto" panose="02000000000000000000" pitchFamily="2" charset="0"/>
                          <a:ea typeface="Roboto" panose="02000000000000000000" pitchFamily="2" charset="0"/>
                          <a:cs typeface="Roboto" panose="02000000000000000000" pitchFamily="2" charset="0"/>
                        </a:rPr>
                        <a:t>Technology </a:t>
                      </a:r>
                      <a:r>
                        <a:rPr lang="en-GB" sz="800" b="1" spc="-10" dirty="0" err="1">
                          <a:latin typeface="Roboto" panose="02000000000000000000" pitchFamily="2" charset="0"/>
                          <a:ea typeface="Roboto" panose="02000000000000000000" pitchFamily="2" charset="0"/>
                          <a:cs typeface="Roboto" panose="02000000000000000000" pitchFamily="2" charset="0"/>
                        </a:rPr>
                        <a:t>Insfrastructure</a:t>
                      </a:r>
                      <a:r>
                        <a:rPr lang="en-GB" sz="800" b="1" spc="-10" dirty="0">
                          <a:latin typeface="Roboto" panose="02000000000000000000" pitchFamily="2" charset="0"/>
                          <a:ea typeface="Roboto" panose="02000000000000000000" pitchFamily="2" charset="0"/>
                          <a:cs typeface="Roboto" panose="02000000000000000000" pitchFamily="2" charset="0"/>
                        </a:rPr>
                        <a:t>:</a:t>
                      </a:r>
                      <a:r>
                        <a:rPr lang="en-GB" sz="800" spc="-10" dirty="0">
                          <a:latin typeface="Roboto" panose="02000000000000000000" pitchFamily="2" charset="0"/>
                          <a:ea typeface="Roboto" panose="02000000000000000000" pitchFamily="2" charset="0"/>
                          <a:cs typeface="Roboto" panose="02000000000000000000" pitchFamily="2" charset="0"/>
                        </a:rPr>
                        <a:t> </a:t>
                      </a:r>
                      <a:r>
                        <a:rPr lang="en-GB" sz="800" spc="-10" dirty="0" err="1">
                          <a:latin typeface="Roboto" panose="02000000000000000000" pitchFamily="2" charset="0"/>
                          <a:ea typeface="Roboto" panose="02000000000000000000" pitchFamily="2" charset="0"/>
                          <a:cs typeface="Roboto" panose="02000000000000000000" pitchFamily="2" charset="0"/>
                        </a:rPr>
                        <a:t>Proprietory</a:t>
                      </a:r>
                      <a:r>
                        <a:rPr lang="en-GB" sz="800" spc="-10" dirty="0">
                          <a:latin typeface="Roboto" panose="02000000000000000000" pitchFamily="2" charset="0"/>
                          <a:ea typeface="Roboto" panose="02000000000000000000" pitchFamily="2" charset="0"/>
                          <a:cs typeface="Roboto" panose="02000000000000000000" pitchFamily="2" charset="0"/>
                        </a:rPr>
                        <a:t> software, mobile apps, database management, cloud services and integration.</a:t>
                      </a:r>
                    </a:p>
                    <a:p>
                      <a:pPr marL="231775" indent="-115888">
                        <a:lnSpc>
                          <a:spcPct val="100000"/>
                        </a:lnSpc>
                        <a:buFont typeface="Wingdings" panose="05000000000000000000" pitchFamily="2" charset="2"/>
                        <a:buChar char="§"/>
                      </a:pPr>
                      <a:r>
                        <a:rPr lang="en-GB" sz="800" b="1" spc="-10" dirty="0">
                          <a:latin typeface="Roboto" panose="02000000000000000000" pitchFamily="2" charset="0"/>
                          <a:ea typeface="Roboto" panose="02000000000000000000" pitchFamily="2" charset="0"/>
                          <a:cs typeface="Roboto" panose="02000000000000000000" pitchFamily="2" charset="0"/>
                        </a:rPr>
                        <a:t>Human capital:</a:t>
                      </a:r>
                      <a:r>
                        <a:rPr lang="en-GB" sz="800" spc="-10" dirty="0">
                          <a:latin typeface="Roboto" panose="02000000000000000000" pitchFamily="2" charset="0"/>
                          <a:ea typeface="Roboto" panose="02000000000000000000" pitchFamily="2" charset="0"/>
                          <a:cs typeface="Roboto" panose="02000000000000000000" pitchFamily="2" charset="0"/>
                        </a:rPr>
                        <a:t> Skilled and professional management team</a:t>
                      </a:r>
                    </a:p>
                    <a:p>
                      <a:pPr marL="231775" indent="-115888">
                        <a:lnSpc>
                          <a:spcPct val="100000"/>
                        </a:lnSpc>
                        <a:buFont typeface="Wingdings" panose="05000000000000000000" pitchFamily="2" charset="2"/>
                        <a:buChar char="§"/>
                      </a:pPr>
                      <a:r>
                        <a:rPr lang="en-GB" sz="800" b="1" spc="-10" dirty="0">
                          <a:latin typeface="Roboto" panose="02000000000000000000" pitchFamily="2" charset="0"/>
                          <a:ea typeface="Roboto" panose="02000000000000000000" pitchFamily="2" charset="0"/>
                          <a:cs typeface="Roboto" panose="02000000000000000000" pitchFamily="2" charset="0"/>
                        </a:rPr>
                        <a:t>Data:</a:t>
                      </a:r>
                      <a:r>
                        <a:rPr lang="en-GB" sz="800" spc="-10" dirty="0">
                          <a:latin typeface="Roboto" panose="02000000000000000000" pitchFamily="2" charset="0"/>
                          <a:ea typeface="Roboto" panose="02000000000000000000" pitchFamily="2" charset="0"/>
                          <a:cs typeface="Roboto" panose="02000000000000000000" pitchFamily="2" charset="0"/>
                        </a:rPr>
                        <a:t> Market insight and valuation data</a:t>
                      </a:r>
                      <a:endParaRPr sz="800" dirty="0">
                        <a:latin typeface="Roboto" panose="02000000000000000000" pitchFamily="2" charset="0"/>
                        <a:ea typeface="Roboto" panose="02000000000000000000" pitchFamily="2" charset="0"/>
                        <a:cs typeface="Roboto" panose="02000000000000000000" pitchFamily="2" charset="0"/>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solidFill>
                      <a:srgbClr val="FFFFFF"/>
                    </a:solidFill>
                  </a:tcPr>
                </a:tc>
                <a:tc gridSpan="2" vMerge="1">
                  <a:txBody>
                    <a:bodyPr/>
                    <a:lstStyle/>
                    <a:p>
                      <a:endParaRPr lang="en-MY"/>
                    </a:p>
                  </a:txBody>
                  <a:tcPr/>
                </a:tc>
                <a:tc hMerge="1" vMerge="1">
                  <a:txBody>
                    <a:bodyPr/>
                    <a:lstStyle/>
                    <a:p>
                      <a:endParaRPr lang="en-MY"/>
                    </a:p>
                  </a:txBody>
                  <a:tcPr/>
                </a:tc>
                <a:tc vMerge="1">
                  <a:txBody>
                    <a:bodyPr/>
                    <a:lstStyle/>
                    <a:p>
                      <a:pPr marL="145415" indent="0">
                        <a:lnSpc>
                          <a:spcPct val="100000"/>
                        </a:lnSpc>
                        <a:spcBef>
                          <a:spcPts val="5"/>
                        </a:spcBef>
                        <a:buFont typeface="Wingdings" panose="05000000000000000000" pitchFamily="2" charset="2"/>
                        <a:buNone/>
                      </a:pPr>
                      <a:endParaRPr sz="900" dirty="0">
                        <a:latin typeface="Roboto" panose="02000000000000000000" pitchFamily="2" charset="0"/>
                        <a:ea typeface="Roboto" panose="02000000000000000000" pitchFamily="2" charset="0"/>
                        <a:cs typeface="Roboto" panose="02000000000000000000" pitchFamily="2" charset="0"/>
                      </a:endParaRPr>
                    </a:p>
                  </a:txBody>
                  <a:tcPr marL="0" marR="0" marT="673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lnTlToBr w="12700" cmpd="sng">
                      <a:noFill/>
                      <a:prstDash val="solid"/>
                    </a:lnTlToBr>
                    <a:lnBlToTr w="12700" cmpd="sng">
                      <a:noFill/>
                      <a:prstDash val="solid"/>
                    </a:lnBlToTr>
                    <a:solidFill>
                      <a:srgbClr val="FFFFFF"/>
                    </a:solidFill>
                  </a:tcPr>
                </a:tc>
                <a:tc vMerge="1">
                  <a:txBody>
                    <a:bodyPr/>
                    <a:lstStyle/>
                    <a:p>
                      <a:endParaRPr lang="en-MY"/>
                    </a:p>
                  </a:txBody>
                  <a:tcPr/>
                </a:tc>
                <a:extLst>
                  <a:ext uri="{0D108BD9-81ED-4DB2-BD59-A6C34878D82A}">
                    <a16:rowId xmlns:a16="http://schemas.microsoft.com/office/drawing/2014/main" val="16464155"/>
                  </a:ext>
                </a:extLst>
              </a:tr>
              <a:tr h="778599">
                <a:tc grid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64465">
                        <a:lnSpc>
                          <a:spcPct val="100000"/>
                        </a:lnSpc>
                        <a:spcBef>
                          <a:spcPts val="5"/>
                        </a:spcBef>
                      </a:pPr>
                      <a:r>
                        <a:rPr sz="800" b="1" dirty="0">
                          <a:solidFill>
                            <a:srgbClr val="C00000"/>
                          </a:solidFill>
                          <a:latin typeface="Roboto" panose="02000000000000000000" pitchFamily="2" charset="0"/>
                          <a:ea typeface="Roboto" panose="02000000000000000000" pitchFamily="2" charset="0"/>
                          <a:cs typeface="Roboto" panose="02000000000000000000" pitchFamily="2" charset="0"/>
                        </a:rPr>
                        <a:t>Cost</a:t>
                      </a:r>
                      <a:r>
                        <a:rPr sz="800" b="1" spc="-55" dirty="0">
                          <a:solidFill>
                            <a:srgbClr val="C00000"/>
                          </a:solidFill>
                          <a:latin typeface="Roboto" panose="02000000000000000000" pitchFamily="2" charset="0"/>
                          <a:ea typeface="Roboto" panose="02000000000000000000" pitchFamily="2" charset="0"/>
                          <a:cs typeface="Roboto" panose="02000000000000000000" pitchFamily="2" charset="0"/>
                        </a:rPr>
                        <a:t> </a:t>
                      </a: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Structure</a:t>
                      </a:r>
                      <a:endParaRPr lang="en-US" sz="800" b="1" spc="-1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164465">
                        <a:lnSpc>
                          <a:spcPct val="100000"/>
                        </a:lnSpc>
                        <a:spcBef>
                          <a:spcPts val="5"/>
                        </a:spcBef>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341313" indent="-177800">
                        <a:lnSpc>
                          <a:spcPct val="100000"/>
                        </a:lnSpc>
                        <a:spcBef>
                          <a:spcPts val="5"/>
                        </a:spcBef>
                        <a:buFont typeface="Wingdings" panose="05000000000000000000" pitchFamily="2" charset="2"/>
                        <a:buChar char="§"/>
                      </a:pPr>
                      <a:r>
                        <a:rPr lang="en-GB" sz="800" b="1" dirty="0">
                          <a:latin typeface="Roboto" panose="02000000000000000000" pitchFamily="2" charset="0"/>
                          <a:ea typeface="Roboto" panose="02000000000000000000" pitchFamily="2" charset="0"/>
                          <a:cs typeface="Roboto" panose="02000000000000000000" pitchFamily="2" charset="0"/>
                        </a:rPr>
                        <a:t>IT &amp; Development</a:t>
                      </a:r>
                      <a:r>
                        <a:rPr lang="en-GB" sz="800" dirty="0">
                          <a:latin typeface="Roboto" panose="02000000000000000000" pitchFamily="2" charset="0"/>
                          <a:ea typeface="Roboto" panose="02000000000000000000" pitchFamily="2" charset="0"/>
                          <a:cs typeface="Roboto" panose="02000000000000000000" pitchFamily="2" charset="0"/>
                        </a:rPr>
                        <a:t>: Costs for platform updates and hosting</a:t>
                      </a:r>
                    </a:p>
                    <a:p>
                      <a:pPr marL="341313" indent="-177800">
                        <a:lnSpc>
                          <a:spcPct val="100000"/>
                        </a:lnSpc>
                        <a:spcBef>
                          <a:spcPts val="5"/>
                        </a:spcBef>
                        <a:buFont typeface="Wingdings" panose="05000000000000000000" pitchFamily="2" charset="2"/>
                        <a:buChar char="§"/>
                      </a:pPr>
                      <a:r>
                        <a:rPr lang="en-GB" sz="800" b="1" dirty="0">
                          <a:latin typeface="Roboto" panose="02000000000000000000" pitchFamily="2" charset="0"/>
                          <a:ea typeface="Roboto" panose="02000000000000000000" pitchFamily="2" charset="0"/>
                          <a:cs typeface="Roboto" panose="02000000000000000000" pitchFamily="2" charset="0"/>
                        </a:rPr>
                        <a:t>Marketing:</a:t>
                      </a:r>
                      <a:r>
                        <a:rPr lang="en-GB" sz="800" dirty="0">
                          <a:latin typeface="Roboto" panose="02000000000000000000" pitchFamily="2" charset="0"/>
                          <a:ea typeface="Roboto" panose="02000000000000000000" pitchFamily="2" charset="0"/>
                          <a:cs typeface="Roboto" panose="02000000000000000000" pitchFamily="2" charset="0"/>
                        </a:rPr>
                        <a:t> Customer acquisition costs and advertising spend</a:t>
                      </a:r>
                    </a:p>
                    <a:p>
                      <a:pPr marL="341313" indent="-177800">
                        <a:lnSpc>
                          <a:spcPct val="100000"/>
                        </a:lnSpc>
                        <a:spcBef>
                          <a:spcPts val="5"/>
                        </a:spcBef>
                        <a:buFont typeface="Wingdings" panose="05000000000000000000" pitchFamily="2" charset="2"/>
                        <a:buChar char="§"/>
                      </a:pPr>
                      <a:r>
                        <a:rPr lang="en-GB" sz="800" b="1" dirty="0">
                          <a:latin typeface="Roboto" panose="02000000000000000000" pitchFamily="2" charset="0"/>
                          <a:ea typeface="Roboto" panose="02000000000000000000" pitchFamily="2" charset="0"/>
                          <a:cs typeface="Roboto" panose="02000000000000000000" pitchFamily="2" charset="0"/>
                        </a:rPr>
                        <a:t>Operations:</a:t>
                      </a:r>
                      <a:r>
                        <a:rPr lang="en-GB" sz="800" dirty="0">
                          <a:latin typeface="Roboto" panose="02000000000000000000" pitchFamily="2" charset="0"/>
                          <a:ea typeface="Roboto" panose="02000000000000000000" pitchFamily="2" charset="0"/>
                          <a:cs typeface="Roboto" panose="02000000000000000000" pitchFamily="2" charset="0"/>
                        </a:rPr>
                        <a:t> Salaries for staff and others business operating expenditure. </a:t>
                      </a:r>
                      <a:endParaRPr sz="800" dirty="0">
                        <a:latin typeface="Roboto" panose="02000000000000000000" pitchFamily="2" charset="0"/>
                        <a:ea typeface="Roboto" panose="02000000000000000000" pitchFamily="2" charset="0"/>
                        <a:cs typeface="Roboto" panose="02000000000000000000" pitchFamily="2" charset="0"/>
                      </a:endParaRPr>
                    </a:p>
                  </a:txBody>
                  <a:tcPr marL="0" marR="0" marT="35560" marB="0">
                    <a:lnL w="381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a:solidFill>
                        <a:srgbClr val="000000"/>
                      </a:solidFill>
                      <a:prstDash val="solid"/>
                    </a:lnB>
                    <a:lnTlToBr w="12700" cmpd="sng">
                      <a:noFill/>
                      <a:prstDash val="solid"/>
                    </a:lnTlToBr>
                    <a:lnBlToTr w="12700" cmpd="sng">
                      <a:noFill/>
                      <a:prstDash val="solid"/>
                    </a:lnBlToTr>
                    <a:solidFill>
                      <a:srgbClr val="FFFFFF"/>
                    </a:solidFill>
                  </a:tcPr>
                </a:tc>
                <a:tc hMerge="1">
                  <a:txBody>
                    <a:bodyPr/>
                    <a:lstStyle/>
                    <a:p>
                      <a:endParaRPr/>
                    </a:p>
                  </a:txBody>
                  <a:tcPr marL="0" marR="0" marT="0" marB="0"/>
                </a:tc>
                <a:tc hMerge="1">
                  <a:txBody>
                    <a:bodyPr/>
                    <a:lstStyle/>
                    <a:p>
                      <a:endParaRPr/>
                    </a:p>
                  </a:txBody>
                  <a:tcPr marL="0" marR="0" marT="0" marB="0"/>
                </a:tc>
                <a:tc grid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1313" indent="-171450">
                        <a:lnSpc>
                          <a:spcPct val="100000"/>
                        </a:lnSpc>
                        <a:spcBef>
                          <a:spcPts val="5"/>
                        </a:spcBef>
                      </a:pPr>
                      <a:r>
                        <a:rPr sz="800" b="1" spc="-30" dirty="0">
                          <a:solidFill>
                            <a:srgbClr val="C00000"/>
                          </a:solidFill>
                          <a:latin typeface="Roboto" panose="02000000000000000000" pitchFamily="2" charset="0"/>
                          <a:ea typeface="Roboto" panose="02000000000000000000" pitchFamily="2" charset="0"/>
                          <a:cs typeface="Roboto" panose="02000000000000000000" pitchFamily="2" charset="0"/>
                        </a:rPr>
                        <a:t>Revenue</a:t>
                      </a:r>
                      <a:r>
                        <a:rPr sz="800" b="1" spc="-75" dirty="0">
                          <a:solidFill>
                            <a:srgbClr val="C00000"/>
                          </a:solidFill>
                          <a:latin typeface="Roboto" panose="02000000000000000000" pitchFamily="2" charset="0"/>
                          <a:ea typeface="Roboto" panose="02000000000000000000" pitchFamily="2" charset="0"/>
                          <a:cs typeface="Roboto" panose="02000000000000000000" pitchFamily="2" charset="0"/>
                        </a:rPr>
                        <a:t> </a:t>
                      </a:r>
                      <a:r>
                        <a:rPr sz="800" b="1" spc="-10" dirty="0">
                          <a:solidFill>
                            <a:srgbClr val="C00000"/>
                          </a:solidFill>
                          <a:latin typeface="Roboto" panose="02000000000000000000" pitchFamily="2" charset="0"/>
                          <a:ea typeface="Roboto" panose="02000000000000000000" pitchFamily="2" charset="0"/>
                          <a:cs typeface="Roboto" panose="02000000000000000000" pitchFamily="2" charset="0"/>
                        </a:rPr>
                        <a:t>Streams</a:t>
                      </a:r>
                      <a:endParaRPr lang="en-US" sz="800" b="1" spc="-10" dirty="0">
                        <a:solidFill>
                          <a:srgbClr val="C00000"/>
                        </a:solidFill>
                        <a:latin typeface="Roboto" panose="02000000000000000000" pitchFamily="2" charset="0"/>
                        <a:ea typeface="Roboto" panose="02000000000000000000" pitchFamily="2" charset="0"/>
                        <a:cs typeface="Roboto" panose="02000000000000000000" pitchFamily="2" charset="0"/>
                      </a:endParaRPr>
                    </a:p>
                    <a:p>
                      <a:pPr marL="341313" indent="-171450">
                        <a:lnSpc>
                          <a:spcPct val="100000"/>
                        </a:lnSpc>
                        <a:spcBef>
                          <a:spcPts val="5"/>
                        </a:spcBef>
                      </a:pPr>
                      <a:endParaRPr lang="en-US" sz="800" spc="-10" dirty="0">
                        <a:latin typeface="Roboto" panose="02000000000000000000" pitchFamily="2" charset="0"/>
                        <a:ea typeface="Roboto" panose="02000000000000000000" pitchFamily="2" charset="0"/>
                        <a:cs typeface="Roboto" panose="02000000000000000000" pitchFamily="2" charset="0"/>
                      </a:endParaRPr>
                    </a:p>
                    <a:p>
                      <a:pPr marL="341313" indent="-171450">
                        <a:lnSpc>
                          <a:spcPct val="100000"/>
                        </a:lnSpc>
                        <a:spcBef>
                          <a:spcPts val="5"/>
                        </a:spcBef>
                        <a:buFont typeface="Wingdings" panose="05000000000000000000" pitchFamily="2" charset="2"/>
                        <a:buChar char="§"/>
                      </a:pPr>
                      <a:r>
                        <a:rPr lang="en-US" sz="800" b="1" spc="-10" dirty="0">
                          <a:latin typeface="Roboto" panose="02000000000000000000" pitchFamily="2" charset="0"/>
                          <a:ea typeface="Roboto" panose="02000000000000000000" pitchFamily="2" charset="0"/>
                          <a:cs typeface="Roboto" panose="02000000000000000000" pitchFamily="2" charset="0"/>
                        </a:rPr>
                        <a:t>Transaction Service Fees: </a:t>
                      </a:r>
                      <a:r>
                        <a:rPr lang="en-GB" sz="800" spc="-10" dirty="0">
                          <a:latin typeface="Roboto" panose="02000000000000000000" pitchFamily="2" charset="0"/>
                          <a:ea typeface="Roboto" panose="02000000000000000000" pitchFamily="2" charset="0"/>
                          <a:cs typeface="Roboto" panose="02000000000000000000" pitchFamily="2" charset="0"/>
                        </a:rPr>
                        <a:t>Commissions on each successful booking or lease signed</a:t>
                      </a:r>
                    </a:p>
                    <a:p>
                      <a:pPr marL="341313" indent="-171450">
                        <a:lnSpc>
                          <a:spcPct val="100000"/>
                        </a:lnSpc>
                        <a:spcBef>
                          <a:spcPts val="5"/>
                        </a:spcBef>
                        <a:buFont typeface="Wingdings" panose="05000000000000000000" pitchFamily="2" charset="2"/>
                        <a:buChar char="§"/>
                      </a:pPr>
                      <a:r>
                        <a:rPr lang="en-GB" sz="800" b="1" spc="-10" dirty="0">
                          <a:latin typeface="Roboto" panose="02000000000000000000" pitchFamily="2" charset="0"/>
                          <a:ea typeface="Roboto" panose="02000000000000000000" pitchFamily="2" charset="0"/>
                          <a:cs typeface="Roboto" panose="02000000000000000000" pitchFamily="2" charset="0"/>
                        </a:rPr>
                        <a:t>Subscription Fee</a:t>
                      </a:r>
                      <a:r>
                        <a:rPr lang="en-GB" sz="800" spc="-10" dirty="0">
                          <a:latin typeface="Roboto" panose="02000000000000000000" pitchFamily="2" charset="0"/>
                          <a:ea typeface="Roboto" panose="02000000000000000000" pitchFamily="2" charset="0"/>
                          <a:cs typeface="Roboto" panose="02000000000000000000" pitchFamily="2" charset="0"/>
                        </a:rPr>
                        <a:t>: Monthly flat fees for Real Estate Agents/ Negotiator for property listing</a:t>
                      </a:r>
                    </a:p>
                    <a:p>
                      <a:pPr marL="341313" indent="-171450">
                        <a:lnSpc>
                          <a:spcPct val="100000"/>
                        </a:lnSpc>
                        <a:spcBef>
                          <a:spcPts val="5"/>
                        </a:spcBef>
                        <a:buFont typeface="Wingdings" panose="05000000000000000000" pitchFamily="2" charset="2"/>
                        <a:buChar char="§"/>
                      </a:pPr>
                      <a:r>
                        <a:rPr lang="en-GB" sz="800" b="1" spc="-10" dirty="0">
                          <a:latin typeface="Roboto" panose="02000000000000000000" pitchFamily="2" charset="0"/>
                          <a:ea typeface="Roboto" panose="02000000000000000000" pitchFamily="2" charset="0"/>
                          <a:cs typeface="Roboto" panose="02000000000000000000" pitchFamily="2" charset="0"/>
                        </a:rPr>
                        <a:t>Service Fees: </a:t>
                      </a:r>
                      <a:r>
                        <a:rPr lang="en-GB" sz="800" spc="-10" dirty="0">
                          <a:latin typeface="Roboto" panose="02000000000000000000" pitchFamily="2" charset="0"/>
                          <a:ea typeface="Roboto" panose="02000000000000000000" pitchFamily="2" charset="0"/>
                          <a:cs typeface="Roboto" panose="02000000000000000000" pitchFamily="2" charset="0"/>
                        </a:rPr>
                        <a:t>Charges for tenant screening</a:t>
                      </a:r>
                    </a:p>
                    <a:p>
                      <a:pPr marL="341313" indent="-171450">
                        <a:lnSpc>
                          <a:spcPct val="100000"/>
                        </a:lnSpc>
                        <a:spcBef>
                          <a:spcPts val="5"/>
                        </a:spcBef>
                        <a:buFont typeface="Wingdings" panose="05000000000000000000" pitchFamily="2" charset="2"/>
                        <a:buChar char="§"/>
                      </a:pPr>
                      <a:endParaRPr sz="800" dirty="0">
                        <a:latin typeface="Roboto" panose="02000000000000000000" pitchFamily="2" charset="0"/>
                        <a:ea typeface="Roboto" panose="02000000000000000000" pitchFamily="2" charset="0"/>
                        <a:cs typeface="Roboto" panose="02000000000000000000" pitchFamily="2" charset="0"/>
                      </a:endParaRPr>
                    </a:p>
                  </a:txBody>
                  <a:tcPr marL="0" marR="0" marT="35560" marB="0">
                    <a:lnL w="12700" cap="flat" cmpd="sng" algn="ctr">
                      <a:solidFill>
                        <a:srgbClr val="000000"/>
                      </a:solidFill>
                      <a:prstDash val="solid"/>
                      <a:round/>
                      <a:headEnd type="none" w="med" len="med"/>
                      <a:tailEnd type="none" w="med" len="med"/>
                    </a:lnL>
                    <a:lnR w="38100">
                      <a:solidFill>
                        <a:srgbClr val="000000"/>
                      </a:solidFill>
                      <a:prstDash val="solid"/>
                    </a:lnR>
                    <a:lnT w="12700">
                      <a:solidFill>
                        <a:srgbClr val="000000"/>
                      </a:solidFill>
                      <a:prstDash val="solid"/>
                    </a:lnT>
                    <a:lnB w="38100">
                      <a:solidFill>
                        <a:srgbClr val="000000"/>
                      </a:solidFill>
                      <a:prstDash val="solid"/>
                    </a:lnB>
                    <a:lnTlToBr w="12700" cmpd="sng">
                      <a:noFill/>
                      <a:prstDash val="solid"/>
                    </a:lnTlToBr>
                    <a:lnBlToTr w="12700" cmpd="sng">
                      <a:noFill/>
                      <a:prstDash val="solid"/>
                    </a:lnBlToTr>
                    <a:solidFill>
                      <a:srgbClr val="FFFFFF"/>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26808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9">
          <a:extLst>
            <a:ext uri="{FF2B5EF4-FFF2-40B4-BE49-F238E27FC236}">
              <a16:creationId xmlns:a16="http://schemas.microsoft.com/office/drawing/2014/main" id="{8E3CBAC3-25D1-7388-A2F1-EEFA20062E0B}"/>
            </a:ext>
          </a:extLst>
        </p:cNvPr>
        <p:cNvGrpSpPr/>
        <p:nvPr/>
      </p:nvGrpSpPr>
      <p:grpSpPr>
        <a:xfrm>
          <a:off x="0" y="0"/>
          <a:ext cx="0" cy="0"/>
          <a:chOff x="0" y="0"/>
          <a:chExt cx="0" cy="0"/>
        </a:xfrm>
      </p:grpSpPr>
      <p:sp>
        <p:nvSpPr>
          <p:cNvPr id="1910" name="Google Shape;1910;p50">
            <a:extLst>
              <a:ext uri="{FF2B5EF4-FFF2-40B4-BE49-F238E27FC236}">
                <a16:creationId xmlns:a16="http://schemas.microsoft.com/office/drawing/2014/main" id="{E114D690-0A70-1329-B49F-BA8027F740D7}"/>
              </a:ext>
            </a:extLst>
          </p:cNvPr>
          <p:cNvSpPr txBox="1">
            <a:spLocks noGrp="1"/>
          </p:cNvSpPr>
          <p:nvPr>
            <p:ph type="title"/>
          </p:nvPr>
        </p:nvSpPr>
        <p:spPr>
          <a:xfrm>
            <a:off x="720000" y="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Funding</a:t>
            </a:r>
            <a:endParaRPr dirty="0">
              <a:latin typeface="Lato" panose="020F0502020204030203" pitchFamily="34" charset="0"/>
              <a:ea typeface="Lato" panose="020F0502020204030203" pitchFamily="34" charset="0"/>
              <a:cs typeface="Lato" panose="020F0502020204030203" pitchFamily="34" charset="0"/>
            </a:endParaRPr>
          </a:p>
        </p:txBody>
      </p:sp>
      <p:graphicFrame>
        <p:nvGraphicFramePr>
          <p:cNvPr id="2" name="Table 1">
            <a:extLst>
              <a:ext uri="{FF2B5EF4-FFF2-40B4-BE49-F238E27FC236}">
                <a16:creationId xmlns:a16="http://schemas.microsoft.com/office/drawing/2014/main" id="{8BF067E7-3188-0BF3-710D-13D6FE000E17}"/>
              </a:ext>
            </a:extLst>
          </p:cNvPr>
          <p:cNvGraphicFramePr>
            <a:graphicFrameLocks noGrp="1"/>
          </p:cNvGraphicFramePr>
          <p:nvPr>
            <p:extLst>
              <p:ext uri="{D42A27DB-BD31-4B8C-83A1-F6EECF244321}">
                <p14:modId xmlns:p14="http://schemas.microsoft.com/office/powerpoint/2010/main" val="3679990080"/>
              </p:ext>
            </p:extLst>
          </p:nvPr>
        </p:nvGraphicFramePr>
        <p:xfrm>
          <a:off x="1011266" y="618233"/>
          <a:ext cx="7121468" cy="3929685"/>
        </p:xfrm>
        <a:graphic>
          <a:graphicData uri="http://schemas.openxmlformats.org/drawingml/2006/table">
            <a:tbl>
              <a:tblPr/>
              <a:tblGrid>
                <a:gridCol w="2232103">
                  <a:extLst>
                    <a:ext uri="{9D8B030D-6E8A-4147-A177-3AD203B41FA5}">
                      <a16:colId xmlns:a16="http://schemas.microsoft.com/office/drawing/2014/main" val="549273449"/>
                    </a:ext>
                  </a:extLst>
                </a:gridCol>
                <a:gridCol w="425161">
                  <a:extLst>
                    <a:ext uri="{9D8B030D-6E8A-4147-A177-3AD203B41FA5}">
                      <a16:colId xmlns:a16="http://schemas.microsoft.com/office/drawing/2014/main" val="2562805702"/>
                    </a:ext>
                  </a:extLst>
                </a:gridCol>
                <a:gridCol w="744034">
                  <a:extLst>
                    <a:ext uri="{9D8B030D-6E8A-4147-A177-3AD203B41FA5}">
                      <a16:colId xmlns:a16="http://schemas.microsoft.com/office/drawing/2014/main" val="1912789194"/>
                    </a:ext>
                  </a:extLst>
                </a:gridCol>
                <a:gridCol w="744034">
                  <a:extLst>
                    <a:ext uri="{9D8B030D-6E8A-4147-A177-3AD203B41FA5}">
                      <a16:colId xmlns:a16="http://schemas.microsoft.com/office/drawing/2014/main" val="1849570047"/>
                    </a:ext>
                  </a:extLst>
                </a:gridCol>
                <a:gridCol w="744034">
                  <a:extLst>
                    <a:ext uri="{9D8B030D-6E8A-4147-A177-3AD203B41FA5}">
                      <a16:colId xmlns:a16="http://schemas.microsoft.com/office/drawing/2014/main" val="1138144646"/>
                    </a:ext>
                  </a:extLst>
                </a:gridCol>
                <a:gridCol w="744034">
                  <a:extLst>
                    <a:ext uri="{9D8B030D-6E8A-4147-A177-3AD203B41FA5}">
                      <a16:colId xmlns:a16="http://schemas.microsoft.com/office/drawing/2014/main" val="3908716657"/>
                    </a:ext>
                  </a:extLst>
                </a:gridCol>
                <a:gridCol w="744034">
                  <a:extLst>
                    <a:ext uri="{9D8B030D-6E8A-4147-A177-3AD203B41FA5}">
                      <a16:colId xmlns:a16="http://schemas.microsoft.com/office/drawing/2014/main" val="1361538739"/>
                    </a:ext>
                  </a:extLst>
                </a:gridCol>
                <a:gridCol w="744034">
                  <a:extLst>
                    <a:ext uri="{9D8B030D-6E8A-4147-A177-3AD203B41FA5}">
                      <a16:colId xmlns:a16="http://schemas.microsoft.com/office/drawing/2014/main" val="2378407056"/>
                    </a:ext>
                  </a:extLst>
                </a:gridCol>
              </a:tblGrid>
              <a:tr h="140947">
                <a:tc>
                  <a:txBody>
                    <a:bodyPr/>
                    <a:lstStyle/>
                    <a:p>
                      <a:pPr algn="l" fontAlgn="ctr">
                        <a:buNone/>
                      </a:pPr>
                      <a:r>
                        <a:rPr lang="en-GB" sz="1000" b="1" i="0" u="none" strike="noStrike" dirty="0">
                          <a:solidFill>
                            <a:srgbClr val="000000"/>
                          </a:solidFill>
                          <a:effectLst/>
                          <a:latin typeface="Roboto" panose="02000000000000000000" pitchFamily="2" charset="0"/>
                        </a:rPr>
                        <a:t>High Level Breakdown of Funding Required</a:t>
                      </a:r>
                    </a:p>
                  </a:txBody>
                  <a:tcPr marL="5860" marR="5860" marT="5860" marB="0" anchor="ctr">
                    <a:lnL>
                      <a:noFill/>
                    </a:lnL>
                    <a:lnR>
                      <a:noFill/>
                    </a:lnR>
                    <a:lnT>
                      <a:noFill/>
                    </a:lnT>
                    <a:lnB>
                      <a:noFill/>
                    </a:lnB>
                    <a:noFill/>
                  </a:tcPr>
                </a:tc>
                <a:tc>
                  <a:txBody>
                    <a:bodyPr/>
                    <a:lstStyle/>
                    <a:p>
                      <a:pPr algn="ctr" fontAlgn="ctr">
                        <a:buNone/>
                      </a:pPr>
                      <a:endParaRPr lang="en-MY" sz="1000" b="1" i="0" u="none" strike="noStrike" dirty="0">
                        <a:solidFill>
                          <a:srgbClr val="000000"/>
                        </a:solidFill>
                        <a:effectLst/>
                        <a:latin typeface="Roboto" panose="02000000000000000000" pitchFamily="2" charset="0"/>
                      </a:endParaRPr>
                    </a:p>
                  </a:txBody>
                  <a:tcPr marL="5860" marR="5860" marT="586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dirty="0">
                        <a:solidFill>
                          <a:srgbClr val="000000"/>
                        </a:solidFill>
                        <a:effectLst/>
                        <a:latin typeface="Roboto" panose="02000000000000000000" pitchFamily="2" charset="0"/>
                      </a:endParaRPr>
                    </a:p>
                  </a:txBody>
                  <a:tcPr marL="5860" marR="5860" marT="586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4953754"/>
                  </a:ext>
                </a:extLst>
              </a:tr>
              <a:tr h="153761">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w="6350" cap="flat" cmpd="sng" algn="ctr">
                      <a:solidFill>
                        <a:srgbClr val="000000"/>
                      </a:solidFill>
                      <a:prstDash val="solid"/>
                      <a:round/>
                      <a:headEnd type="none" w="med" len="med"/>
                      <a:tailEnd type="none" w="med" len="med"/>
                    </a:lnR>
                    <a:lnT>
                      <a:noFill/>
                    </a:lnT>
                    <a:lnB>
                      <a:noFill/>
                    </a:lnB>
                    <a:noFill/>
                  </a:tcPr>
                </a:tc>
                <a:tc rowSpan="2">
                  <a:txBody>
                    <a:bodyPr/>
                    <a:lstStyle/>
                    <a:p>
                      <a:pPr algn="ctr" fontAlgn="ctr">
                        <a:buNone/>
                      </a:pPr>
                      <a:r>
                        <a:rPr lang="en-MY" sz="900" b="1" i="0" u="none" strike="noStrike">
                          <a:solidFill>
                            <a:srgbClr val="FFFFFF"/>
                          </a:solidFill>
                          <a:effectLst/>
                          <a:latin typeface="Roboto" panose="02000000000000000000" pitchFamily="2" charset="0"/>
                        </a:rPr>
                        <a:t>Unit</a:t>
                      </a:r>
                    </a:p>
                  </a:txBody>
                  <a:tcPr marL="5860" marR="5860" marT="5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fontAlgn="ctr">
                        <a:buNone/>
                      </a:pPr>
                      <a:r>
                        <a:rPr lang="en-MY" sz="900" b="1" i="0" u="none" strike="noStrike">
                          <a:solidFill>
                            <a:srgbClr val="FFFFFF"/>
                          </a:solidFill>
                          <a:effectLst/>
                          <a:latin typeface="Roboto" panose="02000000000000000000" pitchFamily="2" charset="0"/>
                        </a:rPr>
                        <a:t>Month1</a:t>
                      </a:r>
                    </a:p>
                  </a:txBody>
                  <a:tcPr marL="5860" marR="5860" marT="5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fontAlgn="ctr">
                        <a:buNone/>
                      </a:pPr>
                      <a:r>
                        <a:rPr lang="en-MY" sz="900" b="1" i="0" u="none" strike="noStrike">
                          <a:solidFill>
                            <a:srgbClr val="FFFFFF"/>
                          </a:solidFill>
                          <a:effectLst/>
                          <a:latin typeface="Roboto" panose="02000000000000000000" pitchFamily="2" charset="0"/>
                        </a:rPr>
                        <a:t>Month 2</a:t>
                      </a:r>
                    </a:p>
                  </a:txBody>
                  <a:tcPr marL="5860" marR="5860" marT="5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fontAlgn="ctr">
                        <a:buNone/>
                      </a:pPr>
                      <a:r>
                        <a:rPr lang="en-MY" sz="900" b="1" i="0" u="none" strike="noStrike">
                          <a:solidFill>
                            <a:srgbClr val="FFFFFF"/>
                          </a:solidFill>
                          <a:effectLst/>
                          <a:latin typeface="Roboto" panose="02000000000000000000" pitchFamily="2" charset="0"/>
                        </a:rPr>
                        <a:t>Month 3</a:t>
                      </a:r>
                    </a:p>
                  </a:txBody>
                  <a:tcPr marL="5860" marR="5860" marT="5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fontAlgn="ctr">
                        <a:buNone/>
                      </a:pPr>
                      <a:r>
                        <a:rPr lang="en-MY" sz="900" b="1" i="0" u="none" strike="noStrike">
                          <a:solidFill>
                            <a:srgbClr val="FFFFFF"/>
                          </a:solidFill>
                          <a:effectLst/>
                          <a:latin typeface="Roboto" panose="02000000000000000000" pitchFamily="2" charset="0"/>
                        </a:rPr>
                        <a:t>Month 4</a:t>
                      </a:r>
                    </a:p>
                  </a:txBody>
                  <a:tcPr marL="5860" marR="5860" marT="5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fontAlgn="ctr">
                        <a:buNone/>
                      </a:pPr>
                      <a:r>
                        <a:rPr lang="en-MY" sz="900" b="1" i="0" u="none" strike="noStrike">
                          <a:solidFill>
                            <a:srgbClr val="FFFFFF"/>
                          </a:solidFill>
                          <a:effectLst/>
                          <a:latin typeface="Roboto" panose="02000000000000000000" pitchFamily="2" charset="0"/>
                        </a:rPr>
                        <a:t>Month 5</a:t>
                      </a:r>
                    </a:p>
                  </a:txBody>
                  <a:tcPr marL="5860" marR="5860" marT="5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rowSpan="2">
                  <a:txBody>
                    <a:bodyPr/>
                    <a:lstStyle/>
                    <a:p>
                      <a:pPr algn="ctr" fontAlgn="ctr">
                        <a:buNone/>
                      </a:pPr>
                      <a:r>
                        <a:rPr lang="en-MY" sz="900" b="1" i="0" u="none" strike="noStrike">
                          <a:solidFill>
                            <a:srgbClr val="FFFFFF"/>
                          </a:solidFill>
                          <a:effectLst/>
                          <a:latin typeface="Roboto" panose="02000000000000000000" pitchFamily="2" charset="0"/>
                        </a:rPr>
                        <a:t>Month 6</a:t>
                      </a:r>
                    </a:p>
                  </a:txBody>
                  <a:tcPr marL="5860" marR="5860" marT="5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extLst>
                  <a:ext uri="{0D108BD9-81ED-4DB2-BD59-A6C34878D82A}">
                    <a16:rowId xmlns:a16="http://schemas.microsoft.com/office/drawing/2014/main" val="3191260009"/>
                  </a:ext>
                </a:extLst>
              </a:tr>
              <a:tr h="281894">
                <a:tc>
                  <a:txBody>
                    <a:bodyPr/>
                    <a:lstStyle/>
                    <a:p>
                      <a:pPr algn="l" fontAlgn="ctr">
                        <a:buNone/>
                      </a:pPr>
                      <a:r>
                        <a:rPr lang="en-MY" sz="900" b="1" i="0" u="none" strike="noStrike">
                          <a:solidFill>
                            <a:srgbClr val="000000"/>
                          </a:solidFill>
                          <a:effectLst/>
                          <a:latin typeface="Roboto" panose="02000000000000000000" pitchFamily="2" charset="0"/>
                        </a:rPr>
                        <a:t>Wages</a:t>
                      </a:r>
                    </a:p>
                  </a:txBody>
                  <a:tcPr marL="5860" marR="5860" marT="586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4DCF8"/>
                    </a:solidFill>
                  </a:tcPr>
                </a:tc>
                <a:tc vMerge="1">
                  <a:txBody>
                    <a:bodyPr/>
                    <a:lstStyle/>
                    <a:p>
                      <a:endParaRPr lang="en-MY"/>
                    </a:p>
                  </a:txBody>
                  <a:tcPr/>
                </a:tc>
                <a:tc vMerge="1">
                  <a:txBody>
                    <a:bodyPr/>
                    <a:lstStyle/>
                    <a:p>
                      <a:endParaRPr lang="en-MY"/>
                    </a:p>
                  </a:txBody>
                  <a:tcPr/>
                </a:tc>
                <a:tc vMerge="1">
                  <a:txBody>
                    <a:bodyPr/>
                    <a:lstStyle/>
                    <a:p>
                      <a:endParaRPr lang="en-MY"/>
                    </a:p>
                  </a:txBody>
                  <a:tcPr/>
                </a:tc>
                <a:tc vMerge="1">
                  <a:txBody>
                    <a:bodyPr/>
                    <a:lstStyle/>
                    <a:p>
                      <a:endParaRPr lang="en-MY"/>
                    </a:p>
                  </a:txBody>
                  <a:tcPr/>
                </a:tc>
                <a:tc vMerge="1">
                  <a:txBody>
                    <a:bodyPr/>
                    <a:lstStyle/>
                    <a:p>
                      <a:endParaRPr lang="en-MY"/>
                    </a:p>
                  </a:txBody>
                  <a:tcPr/>
                </a:tc>
                <a:tc vMerge="1">
                  <a:txBody>
                    <a:bodyPr/>
                    <a:lstStyle/>
                    <a:p>
                      <a:endParaRPr lang="en-MY"/>
                    </a:p>
                  </a:txBody>
                  <a:tcPr/>
                </a:tc>
                <a:tc vMerge="1">
                  <a:txBody>
                    <a:bodyPr/>
                    <a:lstStyle/>
                    <a:p>
                      <a:endParaRPr lang="en-MY"/>
                    </a:p>
                  </a:txBody>
                  <a:tcPr/>
                </a:tc>
                <a:extLst>
                  <a:ext uri="{0D108BD9-81ED-4DB2-BD59-A6C34878D82A}">
                    <a16:rowId xmlns:a16="http://schemas.microsoft.com/office/drawing/2014/main" val="1026687432"/>
                  </a:ext>
                </a:extLst>
              </a:tr>
              <a:tr h="281894">
                <a:tc>
                  <a:txBody>
                    <a:bodyPr/>
                    <a:lstStyle/>
                    <a:p>
                      <a:pPr algn="r" fontAlgn="ctr">
                        <a:buNone/>
                      </a:pPr>
                      <a:r>
                        <a:rPr lang="en-MY" sz="900" b="0" i="0" u="none" strike="noStrike">
                          <a:solidFill>
                            <a:srgbClr val="000000"/>
                          </a:solidFill>
                          <a:effectLst/>
                          <a:latin typeface="Roboto" panose="02000000000000000000" pitchFamily="2" charset="0"/>
                        </a:rPr>
                        <a:t>Project Manager@SCRUM Master</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9,000.00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9,000.00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9,000.00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9,000.00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9,000.00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9,000.00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8454983"/>
                  </a:ext>
                </a:extLst>
              </a:tr>
              <a:tr h="140947">
                <a:tc>
                  <a:txBody>
                    <a:bodyPr/>
                    <a:lstStyle/>
                    <a:p>
                      <a:pPr algn="r" fontAlgn="ctr">
                        <a:buNone/>
                      </a:pPr>
                      <a:r>
                        <a:rPr lang="en-MY" sz="900" b="0" i="0" u="none" strike="noStrike">
                          <a:solidFill>
                            <a:srgbClr val="000000"/>
                          </a:solidFill>
                          <a:effectLst/>
                          <a:latin typeface="Roboto" panose="02000000000000000000" pitchFamily="2" charset="0"/>
                        </a:rPr>
                        <a:t>Developers</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2</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10,000.00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10,000.00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10,000.00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10,000.00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10,000.00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10,000.00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8169076"/>
                  </a:ext>
                </a:extLst>
              </a:tr>
              <a:tr h="140947">
                <a:tc>
                  <a:txBody>
                    <a:bodyPr/>
                    <a:lstStyle/>
                    <a:p>
                      <a:pPr algn="r" fontAlgn="ctr">
                        <a:buNone/>
                      </a:pPr>
                      <a:r>
                        <a:rPr lang="en-MY" sz="900" b="0" i="0" u="none" strike="noStrike" dirty="0">
                          <a:solidFill>
                            <a:srgbClr val="000000"/>
                          </a:solidFill>
                          <a:effectLst/>
                          <a:latin typeface="Roboto" panose="02000000000000000000" pitchFamily="2" charset="0"/>
                        </a:rPr>
                        <a:t>UI/UX Developer</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7,500.00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7,500.00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3276641"/>
                  </a:ext>
                </a:extLst>
              </a:tr>
              <a:tr h="140947">
                <a:tc>
                  <a:txBody>
                    <a:bodyPr/>
                    <a:lstStyle/>
                    <a:p>
                      <a:pPr algn="r" fontAlgn="ctr">
                        <a:buNone/>
                      </a:pPr>
                      <a:r>
                        <a:rPr lang="en-MY" sz="900" b="0" i="0" u="none" strike="noStrike">
                          <a:solidFill>
                            <a:srgbClr val="000000"/>
                          </a:solidFill>
                          <a:effectLst/>
                          <a:latin typeface="Roboto" panose="02000000000000000000" pitchFamily="2" charset="0"/>
                        </a:rPr>
                        <a:t>Tester</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92059"/>
                  </a:ext>
                </a:extLst>
              </a:tr>
              <a:tr h="140947">
                <a:tc>
                  <a:txBody>
                    <a:bodyPr/>
                    <a:lstStyle/>
                    <a:p>
                      <a:pPr algn="r" fontAlgn="ctr">
                        <a:buNone/>
                      </a:pPr>
                      <a:r>
                        <a:rPr lang="en-MY" sz="900" b="0" i="0" u="none" strike="noStrike">
                          <a:solidFill>
                            <a:srgbClr val="000000"/>
                          </a:solidFill>
                          <a:effectLst/>
                          <a:latin typeface="Roboto" panose="02000000000000000000" pitchFamily="2" charset="0"/>
                        </a:rPr>
                        <a:t>SME Legal</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7,000.00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5040592"/>
                  </a:ext>
                </a:extLst>
              </a:tr>
              <a:tr h="140947">
                <a:tc>
                  <a:txBody>
                    <a:bodyPr/>
                    <a:lstStyle/>
                    <a:p>
                      <a:pPr algn="r" fontAlgn="ctr">
                        <a:buNone/>
                      </a:pPr>
                      <a:r>
                        <a:rPr lang="en-MY" sz="900" b="0" i="0" u="none" strike="noStrike">
                          <a:solidFill>
                            <a:srgbClr val="000000"/>
                          </a:solidFill>
                          <a:effectLst/>
                          <a:latin typeface="Roboto" panose="02000000000000000000" pitchFamily="2" charset="0"/>
                        </a:rPr>
                        <a:t>SME Property Agent Consultant</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15,000.00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4418211"/>
                  </a:ext>
                </a:extLst>
              </a:tr>
              <a:tr h="288300">
                <a:tc>
                  <a:txBody>
                    <a:bodyPr/>
                    <a:lstStyle/>
                    <a:p>
                      <a:pPr algn="r" fontAlgn="ctr">
                        <a:buNone/>
                      </a:pPr>
                      <a:r>
                        <a:rPr lang="en-MY" sz="900" b="0" i="0" u="none" strike="noStrike">
                          <a:solidFill>
                            <a:srgbClr val="000000"/>
                          </a:solidFill>
                          <a:effectLst/>
                          <a:latin typeface="Roboto" panose="02000000000000000000" pitchFamily="2" charset="0"/>
                        </a:rPr>
                        <a:t>Marketing</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1304439"/>
                  </a:ext>
                </a:extLst>
              </a:tr>
              <a:tr h="147354">
                <a:tc>
                  <a:txBody>
                    <a:bodyPr/>
                    <a:lstStyle/>
                    <a:p>
                      <a:pPr algn="r" fontAlgn="ctr">
                        <a:buNone/>
                      </a:pPr>
                      <a:r>
                        <a:rPr lang="en-MY" sz="900" b="1" i="0" u="none" strike="noStrike">
                          <a:solidFill>
                            <a:srgbClr val="000000"/>
                          </a:solidFill>
                          <a:effectLst/>
                          <a:latin typeface="Roboto" panose="02000000000000000000" pitchFamily="2" charset="0"/>
                        </a:rPr>
                        <a:t>Total Wages by Month</a:t>
                      </a:r>
                    </a:p>
                  </a:txBody>
                  <a:tcPr marL="5860" marR="5860" marT="586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41,000.00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26,500.00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32,500.00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35,000.00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30,000.00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30,000.00</a:t>
                      </a:r>
                    </a:p>
                  </a:txBody>
                  <a:tcPr marL="5860" marR="5860" marT="586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808261139"/>
                  </a:ext>
                </a:extLst>
              </a:tr>
              <a:tr h="153761">
                <a:tc>
                  <a:txBody>
                    <a:bodyPr/>
                    <a:lstStyle/>
                    <a:p>
                      <a:pPr algn="l" fontAlgn="ctr">
                        <a:buNone/>
                      </a:pPr>
                      <a:r>
                        <a:rPr lang="en-MY" sz="900" b="1" i="0" u="none" strike="noStrike">
                          <a:solidFill>
                            <a:srgbClr val="000000"/>
                          </a:solidFill>
                          <a:effectLst/>
                          <a:latin typeface="Roboto" panose="02000000000000000000" pitchFamily="2" charset="0"/>
                        </a:rPr>
                        <a:t>Hardware, Software and Tools</a:t>
                      </a: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DCF8"/>
                    </a:solidFill>
                  </a:tcPr>
                </a:tc>
                <a:tc>
                  <a:txBody>
                    <a:bodyPr/>
                    <a:lstStyle/>
                    <a:p>
                      <a:pPr algn="ctr"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MY" sz="900" b="0" i="0" u="none" strike="noStrike">
                        <a:solidFill>
                          <a:srgbClr val="000000"/>
                        </a:solidFill>
                        <a:effectLst/>
                        <a:latin typeface="Roboto" panose="02000000000000000000" pitchFamily="2" charset="0"/>
                      </a:endParaRPr>
                    </a:p>
                  </a:txBody>
                  <a:tcPr marL="5860" marR="5860" marT="586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9799940"/>
                  </a:ext>
                </a:extLst>
              </a:tr>
              <a:tr h="140947">
                <a:tc>
                  <a:txBody>
                    <a:bodyPr/>
                    <a:lstStyle/>
                    <a:p>
                      <a:pPr algn="r" fontAlgn="ctr">
                        <a:buNone/>
                      </a:pPr>
                      <a:r>
                        <a:rPr lang="en-MY" sz="900" b="0" i="0" u="none" strike="noStrike">
                          <a:solidFill>
                            <a:srgbClr val="000000"/>
                          </a:solidFill>
                          <a:effectLst/>
                          <a:latin typeface="Roboto" panose="02000000000000000000" pitchFamily="2" charset="0"/>
                        </a:rPr>
                        <a:t>VPS Server - OVHCloud</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360.00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360.00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360.00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360.00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360.00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360.00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0450020"/>
                  </a:ext>
                </a:extLst>
              </a:tr>
              <a:tr h="140947">
                <a:tc>
                  <a:txBody>
                    <a:bodyPr/>
                    <a:lstStyle/>
                    <a:p>
                      <a:pPr algn="r" fontAlgn="ctr">
                        <a:buNone/>
                      </a:pPr>
                      <a:r>
                        <a:rPr lang="en-MY" sz="900" b="0" i="0" u="none" strike="noStrike">
                          <a:solidFill>
                            <a:srgbClr val="000000"/>
                          </a:solidFill>
                          <a:effectLst/>
                          <a:latin typeface="Roboto" panose="02000000000000000000" pitchFamily="2" charset="0"/>
                        </a:rPr>
                        <a:t>Control Panel - PLESK</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5699119"/>
                  </a:ext>
                </a:extLst>
              </a:tr>
              <a:tr h="140947">
                <a:tc>
                  <a:txBody>
                    <a:bodyPr/>
                    <a:lstStyle/>
                    <a:p>
                      <a:pPr algn="r" fontAlgn="ctr">
                        <a:buNone/>
                      </a:pPr>
                      <a:r>
                        <a:rPr lang="en-MY" sz="900" b="0" i="0" u="none" strike="noStrike">
                          <a:solidFill>
                            <a:srgbClr val="000000"/>
                          </a:solidFill>
                          <a:effectLst/>
                          <a:latin typeface="Roboto" panose="02000000000000000000" pitchFamily="2" charset="0"/>
                        </a:rPr>
                        <a:t>Antivirus - Imunify*</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570.00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4215225"/>
                  </a:ext>
                </a:extLst>
              </a:tr>
              <a:tr h="140947">
                <a:tc>
                  <a:txBody>
                    <a:bodyPr/>
                    <a:lstStyle/>
                    <a:p>
                      <a:pPr algn="r" fontAlgn="ctr">
                        <a:buNone/>
                      </a:pPr>
                      <a:r>
                        <a:rPr lang="en-MY" sz="900" b="0" i="0" u="none" strike="noStrike">
                          <a:solidFill>
                            <a:srgbClr val="000000"/>
                          </a:solidFill>
                          <a:effectLst/>
                          <a:latin typeface="Roboto" panose="02000000000000000000" pitchFamily="2" charset="0"/>
                        </a:rPr>
                        <a:t>S3 Data Server - Backblaze B2</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25.00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25.00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25.00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25.00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25.00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25.00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0160794"/>
                  </a:ext>
                </a:extLst>
              </a:tr>
              <a:tr h="140947">
                <a:tc>
                  <a:txBody>
                    <a:bodyPr/>
                    <a:lstStyle/>
                    <a:p>
                      <a:pPr algn="r" fontAlgn="ctr">
                        <a:buNone/>
                      </a:pPr>
                      <a:r>
                        <a:rPr lang="en-MY" sz="900" b="0" i="0" u="none" strike="noStrike">
                          <a:solidFill>
                            <a:srgbClr val="000000"/>
                          </a:solidFill>
                          <a:effectLst/>
                          <a:latin typeface="Roboto" panose="02000000000000000000" pitchFamily="2" charset="0"/>
                        </a:rPr>
                        <a:t>Domain Name - Hostinger*</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70.00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819027"/>
                  </a:ext>
                </a:extLst>
              </a:tr>
              <a:tr h="140947">
                <a:tc>
                  <a:txBody>
                    <a:bodyPr/>
                    <a:lstStyle/>
                    <a:p>
                      <a:pPr algn="r" fontAlgn="ctr">
                        <a:buNone/>
                      </a:pPr>
                      <a:r>
                        <a:rPr lang="en-MY" sz="900" b="0" i="0" u="none" strike="noStrike">
                          <a:solidFill>
                            <a:srgbClr val="000000"/>
                          </a:solidFill>
                          <a:effectLst/>
                          <a:latin typeface="Roboto" panose="02000000000000000000" pitchFamily="2" charset="0"/>
                        </a:rPr>
                        <a:t>Email SMTP - Brevo</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67.50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67.50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67.50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67.50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67.50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67.50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2339073"/>
                  </a:ext>
                </a:extLst>
              </a:tr>
              <a:tr h="140947">
                <a:tc>
                  <a:txBody>
                    <a:bodyPr/>
                    <a:lstStyle/>
                    <a:p>
                      <a:pPr algn="r" fontAlgn="ctr">
                        <a:buNone/>
                      </a:pPr>
                      <a:r>
                        <a:rPr lang="en-MY" sz="900" b="0" i="0" u="none" strike="noStrike">
                          <a:solidFill>
                            <a:srgbClr val="000000"/>
                          </a:solidFill>
                          <a:effectLst/>
                          <a:latin typeface="Roboto" panose="02000000000000000000" pitchFamily="2" charset="0"/>
                        </a:rPr>
                        <a:t>SMS/ Whatsapp Comm - Twillio</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500.00</a:t>
                      </a:r>
                    </a:p>
                  </a:txBody>
                  <a:tcPr marL="5860" marR="5860" marT="586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6208550"/>
                  </a:ext>
                </a:extLst>
              </a:tr>
              <a:tr h="147354">
                <a:tc>
                  <a:txBody>
                    <a:bodyPr/>
                    <a:lstStyle/>
                    <a:p>
                      <a:pPr algn="r" fontAlgn="ctr">
                        <a:buNone/>
                      </a:pPr>
                      <a:r>
                        <a:rPr lang="en-MY" sz="900" b="0" i="0" u="none" strike="noStrike">
                          <a:solidFill>
                            <a:srgbClr val="000000"/>
                          </a:solidFill>
                          <a:effectLst/>
                          <a:latin typeface="Roboto" panose="02000000000000000000" pitchFamily="2" charset="0"/>
                        </a:rPr>
                        <a:t>Backup Server - Contabo</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MY" sz="900" b="0" i="0" u="none" strike="noStrike">
                          <a:solidFill>
                            <a:srgbClr val="000000"/>
                          </a:solidFill>
                          <a:effectLst/>
                          <a:latin typeface="Roboto" panose="02000000000000000000" pitchFamily="2" charset="0"/>
                        </a:rPr>
                        <a:t>1</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35.00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35.00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35.00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35.00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35.00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MY" sz="900" b="0" i="0" u="none" strike="noStrike">
                          <a:solidFill>
                            <a:srgbClr val="000000"/>
                          </a:solidFill>
                          <a:effectLst/>
                          <a:latin typeface="Roboto" panose="02000000000000000000" pitchFamily="2" charset="0"/>
                        </a:rPr>
                        <a:t>35.00</a:t>
                      </a:r>
                    </a:p>
                  </a:txBody>
                  <a:tcPr marL="5860" marR="5860" marT="586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9315446"/>
                  </a:ext>
                </a:extLst>
              </a:tr>
              <a:tr h="288300">
                <a:tc>
                  <a:txBody>
                    <a:bodyPr/>
                    <a:lstStyle/>
                    <a:p>
                      <a:pPr algn="r" fontAlgn="ctr">
                        <a:buNone/>
                      </a:pPr>
                      <a:r>
                        <a:rPr lang="en-GB" sz="900" b="1" i="0" u="none" strike="noStrike">
                          <a:solidFill>
                            <a:srgbClr val="000000"/>
                          </a:solidFill>
                          <a:effectLst/>
                          <a:latin typeface="Roboto" panose="02000000000000000000" pitchFamily="2" charset="0"/>
                        </a:rPr>
                        <a:t>Total Hardware, Software and Tools by Month</a:t>
                      </a:r>
                    </a:p>
                  </a:txBody>
                  <a:tcPr marL="5860" marR="5860" marT="586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MY" sz="900" b="0" i="0" u="none" strike="noStrike">
                          <a:solidFill>
                            <a:srgbClr val="000000"/>
                          </a:solidFill>
                          <a:effectLst/>
                          <a:latin typeface="Roboto" panose="02000000000000000000" pitchFamily="2" charset="0"/>
                        </a:rPr>
                        <a:t> </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1,692.50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1,052.50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1,052.50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1,052.50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1,052.50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en-MY" sz="900" b="0" i="0" u="none" strike="noStrike">
                          <a:solidFill>
                            <a:srgbClr val="000000"/>
                          </a:solidFill>
                          <a:effectLst/>
                          <a:latin typeface="Roboto" panose="02000000000000000000" pitchFamily="2" charset="0"/>
                        </a:rPr>
                        <a:t>1,052.50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696316561"/>
                  </a:ext>
                </a:extLst>
              </a:tr>
              <a:tr h="160167">
                <a:tc>
                  <a:txBody>
                    <a:bodyPr/>
                    <a:lstStyle/>
                    <a:p>
                      <a:pPr algn="r" fontAlgn="ctr">
                        <a:buNone/>
                      </a:pPr>
                      <a:r>
                        <a:rPr lang="en-MY" sz="900" b="1" i="0" u="none" strike="noStrike">
                          <a:solidFill>
                            <a:srgbClr val="000000"/>
                          </a:solidFill>
                          <a:effectLst/>
                          <a:latin typeface="Roboto" panose="02000000000000000000" pitchFamily="2" charset="0"/>
                        </a:rPr>
                        <a:t>Grand Total By Month</a:t>
                      </a:r>
                    </a:p>
                  </a:txBody>
                  <a:tcPr marL="5860" marR="5860" marT="586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MY" sz="900" b="1" i="0" u="none" strike="noStrike">
                          <a:solidFill>
                            <a:srgbClr val="000000"/>
                          </a:solidFill>
                          <a:effectLst/>
                          <a:latin typeface="Roboto" panose="02000000000000000000" pitchFamily="2" charset="0"/>
                        </a:rPr>
                        <a:t> </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en-MY" sz="900" b="1" i="0" u="none" strike="noStrike">
                          <a:solidFill>
                            <a:srgbClr val="000000"/>
                          </a:solidFill>
                          <a:effectLst/>
                          <a:latin typeface="Roboto" panose="02000000000000000000" pitchFamily="2" charset="0"/>
                        </a:rPr>
                        <a:t>42,692.50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en-MY" sz="900" b="1" i="0" u="none" strike="noStrike">
                          <a:solidFill>
                            <a:srgbClr val="000000"/>
                          </a:solidFill>
                          <a:effectLst/>
                          <a:latin typeface="Roboto" panose="02000000000000000000" pitchFamily="2" charset="0"/>
                        </a:rPr>
                        <a:t>27,552.50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en-MY" sz="900" b="1" i="0" u="none" strike="noStrike">
                          <a:solidFill>
                            <a:srgbClr val="000000"/>
                          </a:solidFill>
                          <a:effectLst/>
                          <a:latin typeface="Roboto" panose="02000000000000000000" pitchFamily="2" charset="0"/>
                        </a:rPr>
                        <a:t>33,552.50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en-MY" sz="900" b="1" i="0" u="none" strike="noStrike">
                          <a:solidFill>
                            <a:srgbClr val="000000"/>
                          </a:solidFill>
                          <a:effectLst/>
                          <a:latin typeface="Roboto" panose="02000000000000000000" pitchFamily="2" charset="0"/>
                        </a:rPr>
                        <a:t>36,052.50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en-MY" sz="900" b="1" i="0" u="none" strike="noStrike">
                          <a:solidFill>
                            <a:srgbClr val="000000"/>
                          </a:solidFill>
                          <a:effectLst/>
                          <a:latin typeface="Roboto" panose="02000000000000000000" pitchFamily="2" charset="0"/>
                        </a:rPr>
                        <a:t>31,052.50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en-MY" sz="900" b="1" i="0" u="none" strike="noStrike" dirty="0">
                          <a:solidFill>
                            <a:srgbClr val="000000"/>
                          </a:solidFill>
                          <a:effectLst/>
                          <a:latin typeface="Roboto" panose="02000000000000000000" pitchFamily="2" charset="0"/>
                        </a:rPr>
                        <a:t>31,052.50</a:t>
                      </a:r>
                    </a:p>
                  </a:txBody>
                  <a:tcPr marL="5860" marR="5860" marT="586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768760204"/>
                  </a:ext>
                </a:extLst>
              </a:tr>
            </a:tbl>
          </a:graphicData>
        </a:graphic>
      </p:graphicFrame>
      <p:cxnSp>
        <p:nvCxnSpPr>
          <p:cNvPr id="3" name="Straight Connector 2">
            <a:extLst>
              <a:ext uri="{FF2B5EF4-FFF2-40B4-BE49-F238E27FC236}">
                <a16:creationId xmlns:a16="http://schemas.microsoft.com/office/drawing/2014/main" id="{D46B09B5-E119-4DB7-995E-495058B3E6ED}"/>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791875EC-4B77-5288-18F4-226B83341720}"/>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6" name="Freeform 19">
            <a:extLst>
              <a:ext uri="{FF2B5EF4-FFF2-40B4-BE49-F238E27FC236}">
                <a16:creationId xmlns:a16="http://schemas.microsoft.com/office/drawing/2014/main" id="{C99A8933-16E0-B893-FB23-53F71FDB9531}"/>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7" name="TextBox 22">
            <a:extLst>
              <a:ext uri="{FF2B5EF4-FFF2-40B4-BE49-F238E27FC236}">
                <a16:creationId xmlns:a16="http://schemas.microsoft.com/office/drawing/2014/main" id="{E8B1E996-A0A4-721C-FE55-13368AB8851F}"/>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16</a:t>
            </a:r>
          </a:p>
        </p:txBody>
      </p:sp>
    </p:spTree>
    <p:extLst>
      <p:ext uri="{BB962C8B-B14F-4D97-AF65-F5344CB8AC3E}">
        <p14:creationId xmlns:p14="http://schemas.microsoft.com/office/powerpoint/2010/main" val="1656608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9">
          <a:extLst>
            <a:ext uri="{FF2B5EF4-FFF2-40B4-BE49-F238E27FC236}">
              <a16:creationId xmlns:a16="http://schemas.microsoft.com/office/drawing/2014/main" id="{C766F8DE-D91D-6252-7E10-8EDB3E597F5E}"/>
            </a:ext>
          </a:extLst>
        </p:cNvPr>
        <p:cNvGrpSpPr/>
        <p:nvPr/>
      </p:nvGrpSpPr>
      <p:grpSpPr>
        <a:xfrm>
          <a:off x="0" y="0"/>
          <a:ext cx="0" cy="0"/>
          <a:chOff x="0" y="0"/>
          <a:chExt cx="0" cy="0"/>
        </a:xfrm>
      </p:grpSpPr>
      <p:sp>
        <p:nvSpPr>
          <p:cNvPr id="1910" name="Google Shape;1910;p50">
            <a:extLst>
              <a:ext uri="{FF2B5EF4-FFF2-40B4-BE49-F238E27FC236}">
                <a16:creationId xmlns:a16="http://schemas.microsoft.com/office/drawing/2014/main" id="{4177823D-05B8-4A2B-0AC6-F455FFCB18F6}"/>
              </a:ext>
            </a:extLst>
          </p:cNvPr>
          <p:cNvSpPr txBox="1">
            <a:spLocks noGrp="1"/>
          </p:cNvSpPr>
          <p:nvPr>
            <p:ph type="title"/>
          </p:nvPr>
        </p:nvSpPr>
        <p:spPr>
          <a:xfrm>
            <a:off x="720000" y="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ato" panose="020F0502020204030203" pitchFamily="34" charset="0"/>
                <a:ea typeface="Lato" panose="020F0502020204030203" pitchFamily="34" charset="0"/>
                <a:cs typeface="Lato" panose="020F0502020204030203" pitchFamily="34" charset="0"/>
              </a:rPr>
              <a:t>Future Development</a:t>
            </a:r>
            <a:endParaRPr dirty="0">
              <a:latin typeface="Lato" panose="020F0502020204030203" pitchFamily="34" charset="0"/>
              <a:ea typeface="Lato" panose="020F0502020204030203" pitchFamily="34" charset="0"/>
              <a:cs typeface="Lato" panose="020F0502020204030203" pitchFamily="34" charset="0"/>
            </a:endParaRPr>
          </a:p>
        </p:txBody>
      </p:sp>
      <p:sp>
        <p:nvSpPr>
          <p:cNvPr id="2" name="TextBox 26">
            <a:extLst>
              <a:ext uri="{FF2B5EF4-FFF2-40B4-BE49-F238E27FC236}">
                <a16:creationId xmlns:a16="http://schemas.microsoft.com/office/drawing/2014/main" id="{17CE425E-8AC3-71C4-534E-7CB842E57B72}"/>
              </a:ext>
            </a:extLst>
          </p:cNvPr>
          <p:cNvSpPr txBox="1"/>
          <p:nvPr/>
        </p:nvSpPr>
        <p:spPr>
          <a:xfrm>
            <a:off x="1548000" y="1452599"/>
            <a:ext cx="6048000" cy="2154436"/>
          </a:xfrm>
          <a:prstGeom prst="rect">
            <a:avLst/>
          </a:prstGeom>
        </p:spPr>
        <p:txBody>
          <a:bodyPr lIns="0" tIns="0" rIns="0" bIns="0" rtlCol="0" anchor="t">
            <a:spAutoFit/>
          </a:bodyPr>
          <a:lstStyle/>
          <a:p>
            <a:pPr marL="285750" lvl="0" indent="-285750">
              <a:buFont typeface="Wingdings" panose="05000000000000000000" pitchFamily="2" charset="2"/>
              <a:buChar char="§"/>
            </a:pPr>
            <a:r>
              <a:rPr lang="en-MY" sz="1400" dirty="0">
                <a:latin typeface="Lato" panose="020F0502020204030203" pitchFamily="34" charset="0"/>
                <a:ea typeface="Lato" panose="020F0502020204030203" pitchFamily="34" charset="0"/>
                <a:cs typeface="Lato" panose="020F0502020204030203" pitchFamily="34" charset="0"/>
              </a:rPr>
              <a:t>Short Term Property Rental (</a:t>
            </a:r>
            <a:r>
              <a:rPr lang="en-MY" sz="1400" dirty="0" err="1">
                <a:latin typeface="Lato" panose="020F0502020204030203" pitchFamily="34" charset="0"/>
                <a:ea typeface="Lato" panose="020F0502020204030203" pitchFamily="34" charset="0"/>
                <a:cs typeface="Lato" panose="020F0502020204030203" pitchFamily="34" charset="0"/>
              </a:rPr>
              <a:t>i.e</a:t>
            </a:r>
            <a:r>
              <a:rPr lang="en-MY" sz="1400" dirty="0">
                <a:latin typeface="Lato" panose="020F0502020204030203" pitchFamily="34" charset="0"/>
                <a:ea typeface="Lato" panose="020F0502020204030203" pitchFamily="34" charset="0"/>
                <a:cs typeface="Lato" panose="020F0502020204030203" pitchFamily="34" charset="0"/>
              </a:rPr>
              <a:t> </a:t>
            </a:r>
            <a:r>
              <a:rPr lang="en-MY" sz="1400" dirty="0" err="1">
                <a:latin typeface="Lato" panose="020F0502020204030203" pitchFamily="34" charset="0"/>
                <a:ea typeface="Lato" panose="020F0502020204030203" pitchFamily="34" charset="0"/>
                <a:cs typeface="Lato" panose="020F0502020204030203" pitchFamily="34" charset="0"/>
              </a:rPr>
              <a:t>AirBNB</a:t>
            </a:r>
            <a:r>
              <a:rPr lang="en-MY" sz="1400" dirty="0">
                <a:latin typeface="Lato" panose="020F0502020204030203" pitchFamily="34" charset="0"/>
                <a:ea typeface="Lato" panose="020F0502020204030203" pitchFamily="34" charset="0"/>
                <a:cs typeface="Lato" panose="020F0502020204030203" pitchFamily="34" charset="0"/>
              </a:rPr>
              <a:t>, Booking.com ..etc)</a:t>
            </a:r>
          </a:p>
          <a:p>
            <a:pPr lvl="0"/>
            <a:endParaRPr lang="en-MY" sz="1400" dirty="0">
              <a:latin typeface="Lato" panose="020F0502020204030203" pitchFamily="34" charset="0"/>
              <a:ea typeface="Lato" panose="020F0502020204030203" pitchFamily="34" charset="0"/>
              <a:cs typeface="Lato" panose="020F0502020204030203" pitchFamily="34" charset="0"/>
            </a:endParaRPr>
          </a:p>
          <a:p>
            <a:pPr marL="285750" lvl="0" indent="-285750">
              <a:buFont typeface="Wingdings" panose="05000000000000000000" pitchFamily="2" charset="2"/>
              <a:buChar char="§"/>
            </a:pPr>
            <a:r>
              <a:rPr lang="en-MY" sz="1400" dirty="0">
                <a:latin typeface="Lato" panose="020F0502020204030203" pitchFamily="34" charset="0"/>
                <a:ea typeface="Lato" panose="020F0502020204030203" pitchFamily="34" charset="0"/>
                <a:cs typeface="Lato" panose="020F0502020204030203" pitchFamily="34" charset="0"/>
              </a:rPr>
              <a:t>Vehicles (sales &amp; rental) – Required login via </a:t>
            </a:r>
            <a:r>
              <a:rPr lang="en-MY" sz="1400" dirty="0" err="1">
                <a:latin typeface="Lato" panose="020F0502020204030203" pitchFamily="34" charset="0"/>
                <a:ea typeface="Lato" panose="020F0502020204030203" pitchFamily="34" charset="0"/>
                <a:cs typeface="Lato" panose="020F0502020204030203" pitchFamily="34" charset="0"/>
              </a:rPr>
              <a:t>MyDigitalID</a:t>
            </a:r>
            <a:r>
              <a:rPr lang="en-MY" sz="1400" dirty="0">
                <a:latin typeface="Lato" panose="020F0502020204030203" pitchFamily="34" charset="0"/>
                <a:ea typeface="Lato" panose="020F0502020204030203" pitchFamily="34" charset="0"/>
                <a:cs typeface="Lato" panose="020F0502020204030203" pitchFamily="34" charset="0"/>
              </a:rPr>
              <a:t> for genuine users, screening and all documentations is stored digitally</a:t>
            </a:r>
          </a:p>
          <a:p>
            <a:pPr marL="285750" lvl="0" indent="-285750">
              <a:buFont typeface="Wingdings" panose="05000000000000000000" pitchFamily="2" charset="2"/>
              <a:buChar char="§"/>
            </a:pPr>
            <a:endParaRPr lang="en-MY" sz="1400" dirty="0">
              <a:latin typeface="Lato" panose="020F0502020204030203" pitchFamily="34" charset="0"/>
              <a:ea typeface="Lato" panose="020F0502020204030203" pitchFamily="34" charset="0"/>
              <a:cs typeface="Lato" panose="020F0502020204030203" pitchFamily="34" charset="0"/>
            </a:endParaRPr>
          </a:p>
          <a:p>
            <a:pPr marL="285750" lvl="0" indent="-285750">
              <a:buFont typeface="Wingdings" panose="05000000000000000000" pitchFamily="2" charset="2"/>
              <a:buChar char="§"/>
            </a:pPr>
            <a:r>
              <a:rPr lang="en-MY" sz="1400" dirty="0" err="1">
                <a:latin typeface="Lato" panose="020F0502020204030203" pitchFamily="34" charset="0"/>
                <a:ea typeface="Lato" panose="020F0502020204030203" pitchFamily="34" charset="0"/>
                <a:cs typeface="Lato" panose="020F0502020204030203" pitchFamily="34" charset="0"/>
              </a:rPr>
              <a:t>Elctrical</a:t>
            </a:r>
            <a:r>
              <a:rPr lang="en-MY" sz="1400" dirty="0">
                <a:latin typeface="Lato" panose="020F0502020204030203" pitchFamily="34" charset="0"/>
                <a:ea typeface="Lato" panose="020F0502020204030203" pitchFamily="34" charset="0"/>
                <a:cs typeface="Lato" panose="020F0502020204030203" pitchFamily="34" charset="0"/>
              </a:rPr>
              <a:t>/ Electronics </a:t>
            </a:r>
            <a:r>
              <a:rPr lang="en-MY" sz="1400" dirty="0" err="1">
                <a:latin typeface="Lato" panose="020F0502020204030203" pitchFamily="34" charset="0"/>
                <a:ea typeface="Lato" panose="020F0502020204030203" pitchFamily="34" charset="0"/>
                <a:cs typeface="Lato" panose="020F0502020204030203" pitchFamily="34" charset="0"/>
              </a:rPr>
              <a:t>Equipments</a:t>
            </a:r>
            <a:r>
              <a:rPr lang="en-MY" sz="1400" dirty="0">
                <a:latin typeface="Lato" panose="020F0502020204030203" pitchFamily="34" charset="0"/>
                <a:ea typeface="Lato" panose="020F0502020204030203" pitchFamily="34" charset="0"/>
                <a:cs typeface="Lato" panose="020F0502020204030203" pitchFamily="34" charset="0"/>
              </a:rPr>
              <a:t> and </a:t>
            </a:r>
            <a:r>
              <a:rPr lang="en-MY" sz="1400" dirty="0" err="1">
                <a:latin typeface="Lato" panose="020F0502020204030203" pitchFamily="34" charset="0"/>
                <a:ea typeface="Lato" panose="020F0502020204030203" pitchFamily="34" charset="0"/>
                <a:cs typeface="Lato" panose="020F0502020204030203" pitchFamily="34" charset="0"/>
              </a:rPr>
              <a:t>Machinary</a:t>
            </a:r>
            <a:r>
              <a:rPr lang="en-MY" sz="1400" dirty="0">
                <a:latin typeface="Lato" panose="020F0502020204030203" pitchFamily="34" charset="0"/>
                <a:ea typeface="Lato" panose="020F0502020204030203" pitchFamily="34" charset="0"/>
                <a:cs typeface="Lato" panose="020F0502020204030203" pitchFamily="34" charset="0"/>
              </a:rPr>
              <a:t> (sales &amp; rental) - </a:t>
            </a:r>
            <a:r>
              <a:rPr lang="en-GB" sz="1400" dirty="0">
                <a:latin typeface="Lato" panose="020F0502020204030203" pitchFamily="34" charset="0"/>
                <a:ea typeface="Lato" panose="020F0502020204030203" pitchFamily="34" charset="0"/>
                <a:cs typeface="Lato" panose="020F0502020204030203" pitchFamily="34" charset="0"/>
              </a:rPr>
              <a:t>To drive the rental of electrical/electronic equipment either through shops or individuals</a:t>
            </a:r>
          </a:p>
          <a:p>
            <a:pPr lvl="0"/>
            <a:endParaRPr lang="en-MY" sz="1400" dirty="0">
              <a:latin typeface="Lato" panose="020F0502020204030203" pitchFamily="34" charset="0"/>
              <a:ea typeface="Lato" panose="020F0502020204030203" pitchFamily="34" charset="0"/>
              <a:cs typeface="Lato" panose="020F0502020204030203" pitchFamily="34" charset="0"/>
            </a:endParaRPr>
          </a:p>
          <a:p>
            <a:pPr marL="285750" lvl="0" indent="-285750">
              <a:buFont typeface="Wingdings" panose="05000000000000000000" pitchFamily="2" charset="2"/>
              <a:buChar char="§"/>
            </a:pPr>
            <a:r>
              <a:rPr lang="en-MY" sz="1400" dirty="0">
                <a:latin typeface="Lato" panose="020F0502020204030203" pitchFamily="34" charset="0"/>
                <a:ea typeface="Lato" panose="020F0502020204030203" pitchFamily="34" charset="0"/>
                <a:cs typeface="Lato" panose="020F0502020204030203" pitchFamily="34" charset="0"/>
              </a:rPr>
              <a:t>Future Asset or Service-Based Verticals</a:t>
            </a:r>
          </a:p>
        </p:txBody>
      </p:sp>
      <p:cxnSp>
        <p:nvCxnSpPr>
          <p:cNvPr id="3" name="Straight Connector 2">
            <a:extLst>
              <a:ext uri="{FF2B5EF4-FFF2-40B4-BE49-F238E27FC236}">
                <a16:creationId xmlns:a16="http://schemas.microsoft.com/office/drawing/2014/main" id="{AEF8580A-ADEF-E2BF-4AEA-95632C48E19A}"/>
              </a:ext>
            </a:extLst>
          </p:cNvPr>
          <p:cNvCxnSpPr>
            <a:cxnSpLocks/>
          </p:cNvCxnSpPr>
          <p:nvPr/>
        </p:nvCxnSpPr>
        <p:spPr>
          <a:xfrm>
            <a:off x="1398804" y="4715123"/>
            <a:ext cx="5956153" cy="0"/>
          </a:xfrm>
          <a:prstGeom prst="line">
            <a:avLst/>
          </a:prstGeom>
          <a:ln w="28575">
            <a:solidFill>
              <a:schemeClr val="bg1">
                <a:lumMod val="75000"/>
              </a:schemeClr>
            </a:solidFill>
            <a:tailEnd type="ova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BF8CDFDA-95F0-0C2A-A160-B9C022156F03}"/>
              </a:ext>
            </a:extLst>
          </p:cNvPr>
          <p:cNvSpPr txBox="1"/>
          <p:nvPr/>
        </p:nvSpPr>
        <p:spPr>
          <a:xfrm>
            <a:off x="1398804" y="4747703"/>
            <a:ext cx="5868688" cy="338554"/>
          </a:xfrm>
          <a:prstGeom prst="rect">
            <a:avLst/>
          </a:prstGeom>
          <a:noFill/>
        </p:spPr>
        <p:txBody>
          <a:bodyPr wrap="square" rtlCol="0">
            <a:spAutoFit/>
          </a:bodyPr>
          <a:lstStyle/>
          <a:p>
            <a:pPr algn="ctr"/>
            <a:r>
              <a:rPr lang="en-US" sz="800" b="1" dirty="0">
                <a:latin typeface="Lato" panose="020F0502020204030203" pitchFamily="34" charset="0"/>
                <a:ea typeface="Lato" panose="020F0502020204030203" pitchFamily="34" charset="0"/>
                <a:cs typeface="Lato" panose="020F0502020204030203" pitchFamily="34" charset="0"/>
              </a:rPr>
              <a:t>ZAZ Digital Solutions </a:t>
            </a:r>
            <a:r>
              <a:rPr lang="en-US" sz="800" b="1" dirty="0" err="1">
                <a:latin typeface="Lato" panose="020F0502020204030203" pitchFamily="34" charset="0"/>
                <a:ea typeface="Lato" panose="020F0502020204030203" pitchFamily="34" charset="0"/>
                <a:cs typeface="Lato" panose="020F0502020204030203" pitchFamily="34" charset="0"/>
              </a:rPr>
              <a:t>Sdn</a:t>
            </a:r>
            <a:r>
              <a:rPr lang="en-US" sz="800" b="1" dirty="0">
                <a:latin typeface="Lato" panose="020F0502020204030203" pitchFamily="34" charset="0"/>
                <a:ea typeface="Lato" panose="020F0502020204030203" pitchFamily="34" charset="0"/>
                <a:cs typeface="Lato" panose="020F0502020204030203" pitchFamily="34" charset="0"/>
              </a:rPr>
              <a:t> </a:t>
            </a:r>
            <a:r>
              <a:rPr lang="en-US" sz="800" b="1" dirty="0" err="1">
                <a:latin typeface="Lato" panose="020F0502020204030203" pitchFamily="34" charset="0"/>
                <a:ea typeface="Lato" panose="020F0502020204030203" pitchFamily="34" charset="0"/>
                <a:cs typeface="Lato" panose="020F0502020204030203" pitchFamily="34" charset="0"/>
              </a:rPr>
              <a:t>Bhd</a:t>
            </a:r>
            <a:endParaRPr lang="en-US" sz="800" b="1" dirty="0">
              <a:latin typeface="Lato" panose="020F0502020204030203" pitchFamily="34" charset="0"/>
              <a:ea typeface="Lato" panose="020F0502020204030203" pitchFamily="34" charset="0"/>
              <a:cs typeface="Lato" panose="020F0502020204030203" pitchFamily="34" charset="0"/>
            </a:endParaRPr>
          </a:p>
          <a:p>
            <a:pPr algn="ctr"/>
            <a:r>
              <a:rPr lang="en-US" sz="800" b="1" dirty="0" err="1">
                <a:latin typeface="Lato" panose="020F0502020204030203" pitchFamily="34" charset="0"/>
                <a:ea typeface="Lato" panose="020F0502020204030203" pitchFamily="34" charset="0"/>
                <a:cs typeface="Lato" panose="020F0502020204030203" pitchFamily="34" charset="0"/>
              </a:rPr>
              <a:t>LamaNiaga</a:t>
            </a:r>
            <a:r>
              <a:rPr lang="en-US" sz="800" b="1" dirty="0">
                <a:latin typeface="Lato" panose="020F0502020204030203" pitchFamily="34" charset="0"/>
                <a:ea typeface="Lato" panose="020F0502020204030203" pitchFamily="34" charset="0"/>
                <a:cs typeface="Lato" panose="020F0502020204030203" pitchFamily="34" charset="0"/>
              </a:rPr>
              <a:t> Apps Proposal to Cradle Fund</a:t>
            </a:r>
          </a:p>
        </p:txBody>
      </p:sp>
      <p:sp>
        <p:nvSpPr>
          <p:cNvPr id="6" name="Freeform 19">
            <a:extLst>
              <a:ext uri="{FF2B5EF4-FFF2-40B4-BE49-F238E27FC236}">
                <a16:creationId xmlns:a16="http://schemas.microsoft.com/office/drawing/2014/main" id="{76E20AAF-EBAF-4B53-7BAD-85BB9E8B1D88}"/>
              </a:ext>
            </a:extLst>
          </p:cNvPr>
          <p:cNvSpPr/>
          <p:nvPr/>
        </p:nvSpPr>
        <p:spPr>
          <a:xfrm>
            <a:off x="2997642" y="4808734"/>
            <a:ext cx="309475" cy="216492"/>
          </a:xfrm>
          <a:custGeom>
            <a:avLst/>
            <a:gdLst/>
            <a:ahLst/>
            <a:cxnLst/>
            <a:rect l="l" t="t" r="r" b="b"/>
            <a:pathLst>
              <a:path w="584514" h="352169">
                <a:moveTo>
                  <a:pt x="0" y="0"/>
                </a:moveTo>
                <a:lnTo>
                  <a:pt x="584514" y="0"/>
                </a:lnTo>
                <a:lnTo>
                  <a:pt x="584514" y="352169"/>
                </a:lnTo>
                <a:lnTo>
                  <a:pt x="0" y="3521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latin typeface="Lato" panose="020F0502020204030203" pitchFamily="34" charset="0"/>
              <a:ea typeface="Lato" panose="020F0502020204030203" pitchFamily="34" charset="0"/>
              <a:cs typeface="Lato" panose="020F0502020204030203" pitchFamily="34" charset="0"/>
            </a:endParaRPr>
          </a:p>
        </p:txBody>
      </p:sp>
      <p:sp>
        <p:nvSpPr>
          <p:cNvPr id="7" name="TextBox 22">
            <a:extLst>
              <a:ext uri="{FF2B5EF4-FFF2-40B4-BE49-F238E27FC236}">
                <a16:creationId xmlns:a16="http://schemas.microsoft.com/office/drawing/2014/main" id="{64BD9875-44E5-2865-3362-021770760407}"/>
              </a:ext>
            </a:extLst>
          </p:cNvPr>
          <p:cNvSpPr txBox="1"/>
          <p:nvPr/>
        </p:nvSpPr>
        <p:spPr>
          <a:xfrm>
            <a:off x="6900361" y="4808734"/>
            <a:ext cx="459377" cy="256480"/>
          </a:xfrm>
          <a:prstGeom prst="rect">
            <a:avLst/>
          </a:prstGeom>
        </p:spPr>
        <p:txBody>
          <a:bodyPr lIns="0" tIns="0" rIns="0" bIns="0" rtlCol="0" anchor="t">
            <a:spAutoFit/>
          </a:bodyPr>
          <a:lstStyle/>
          <a:p>
            <a:pPr algn="ctr">
              <a:lnSpc>
                <a:spcPts val="1966"/>
              </a:lnSpc>
            </a:pPr>
            <a:r>
              <a:rPr lang="en-US" sz="1986"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sym typeface="Roboto Bold"/>
              </a:rPr>
              <a:t>17</a:t>
            </a:r>
          </a:p>
        </p:txBody>
      </p:sp>
    </p:spTree>
    <p:extLst>
      <p:ext uri="{BB962C8B-B14F-4D97-AF65-F5344CB8AC3E}">
        <p14:creationId xmlns:p14="http://schemas.microsoft.com/office/powerpoint/2010/main" val="341695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1488"/>
        <p:cNvGrpSpPr/>
        <p:nvPr/>
      </p:nvGrpSpPr>
      <p:grpSpPr>
        <a:xfrm>
          <a:off x="0" y="0"/>
          <a:ext cx="0" cy="0"/>
          <a:chOff x="0" y="0"/>
          <a:chExt cx="0" cy="0"/>
        </a:xfrm>
      </p:grpSpPr>
      <p:sp>
        <p:nvSpPr>
          <p:cNvPr id="1489" name="Google Shape;1489;p48"/>
          <p:cNvSpPr txBox="1">
            <a:spLocks noGrp="1"/>
          </p:cNvSpPr>
          <p:nvPr>
            <p:ph type="title"/>
          </p:nvPr>
        </p:nvSpPr>
        <p:spPr>
          <a:xfrm>
            <a:off x="2347938" y="997200"/>
            <a:ext cx="4448100" cy="105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1490" name="Google Shape;1490;p48"/>
          <p:cNvSpPr txBox="1">
            <a:spLocks noGrp="1"/>
          </p:cNvSpPr>
          <p:nvPr>
            <p:ph type="subTitle" idx="1"/>
          </p:nvPr>
        </p:nvSpPr>
        <p:spPr>
          <a:xfrm>
            <a:off x="2347938" y="2348464"/>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t>Do you have any questions?</a:t>
            </a:r>
            <a:endParaRPr b="1" dirty="0"/>
          </a:p>
          <a:p>
            <a:pPr marL="0" lvl="0" indent="0" algn="ctr" rtl="0">
              <a:spcBef>
                <a:spcPts val="0"/>
              </a:spcBef>
              <a:spcAft>
                <a:spcPts val="0"/>
              </a:spcAft>
              <a:buNone/>
            </a:pPr>
            <a:r>
              <a:rPr lang="en-MY" dirty="0"/>
              <a:t>zammalek71@gmail.com</a:t>
            </a:r>
          </a:p>
          <a:p>
            <a:pPr marL="0" lvl="0" indent="0" algn="ctr" rtl="0">
              <a:spcBef>
                <a:spcPts val="0"/>
              </a:spcBef>
              <a:spcAft>
                <a:spcPts val="0"/>
              </a:spcAft>
              <a:buNone/>
            </a:pPr>
            <a:r>
              <a:rPr lang="en-MY" dirty="0"/>
              <a:t>+6013-337 7860</a:t>
            </a:r>
          </a:p>
        </p:txBody>
      </p:sp>
      <p:grpSp>
        <p:nvGrpSpPr>
          <p:cNvPr id="1518" name="Google Shape;1518;p48"/>
          <p:cNvGrpSpPr/>
          <p:nvPr/>
        </p:nvGrpSpPr>
        <p:grpSpPr>
          <a:xfrm>
            <a:off x="8425930" y="3262140"/>
            <a:ext cx="27232" cy="532378"/>
            <a:chOff x="3534917" y="4467129"/>
            <a:chExt cx="24765" cy="484156"/>
          </a:xfrm>
        </p:grpSpPr>
        <p:sp>
          <p:nvSpPr>
            <p:cNvPr id="1519" name="Google Shape;1519;p4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4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4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22" name="Google Shape;1522;p48"/>
          <p:cNvGrpSpPr/>
          <p:nvPr/>
        </p:nvGrpSpPr>
        <p:grpSpPr>
          <a:xfrm>
            <a:off x="8191599" y="2664093"/>
            <a:ext cx="479083" cy="595031"/>
            <a:chOff x="5580610" y="1953710"/>
            <a:chExt cx="392498" cy="487491"/>
          </a:xfrm>
        </p:grpSpPr>
        <p:grpSp>
          <p:nvGrpSpPr>
            <p:cNvPr id="1523" name="Google Shape;1523;p48"/>
            <p:cNvGrpSpPr/>
            <p:nvPr/>
          </p:nvGrpSpPr>
          <p:grpSpPr>
            <a:xfrm>
              <a:off x="5580610" y="1953710"/>
              <a:ext cx="392498" cy="487491"/>
              <a:chOff x="7385113" y="1535430"/>
              <a:chExt cx="435673" cy="541115"/>
            </a:xfrm>
          </p:grpSpPr>
          <p:sp>
            <p:nvSpPr>
              <p:cNvPr id="1524" name="Google Shape;1524;p4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25" name="Google Shape;1525;p48"/>
              <p:cNvGrpSpPr/>
              <p:nvPr/>
            </p:nvGrpSpPr>
            <p:grpSpPr>
              <a:xfrm>
                <a:off x="7612094" y="1566576"/>
                <a:ext cx="164781" cy="41529"/>
                <a:chOff x="7612094" y="1566576"/>
                <a:chExt cx="164781" cy="41529"/>
              </a:xfrm>
            </p:grpSpPr>
            <p:sp>
              <p:nvSpPr>
                <p:cNvPr id="1526" name="Google Shape;1526;p4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4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4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29" name="Google Shape;1529;p48"/>
            <p:cNvGrpSpPr/>
            <p:nvPr/>
          </p:nvGrpSpPr>
          <p:grpSpPr>
            <a:xfrm>
              <a:off x="5612446" y="2047672"/>
              <a:ext cx="323505" cy="338352"/>
              <a:chOff x="7420451" y="1639728"/>
              <a:chExt cx="359091" cy="375571"/>
            </a:xfrm>
          </p:grpSpPr>
          <p:sp>
            <p:nvSpPr>
              <p:cNvPr id="1530" name="Google Shape;1530;p4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4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32" name="Google Shape;1532;p48"/>
          <p:cNvGrpSpPr/>
          <p:nvPr/>
        </p:nvGrpSpPr>
        <p:grpSpPr>
          <a:xfrm>
            <a:off x="136103" y="321913"/>
            <a:ext cx="1153901" cy="1166750"/>
            <a:chOff x="6568493" y="8"/>
            <a:chExt cx="1820608" cy="1840590"/>
          </a:xfrm>
        </p:grpSpPr>
        <p:sp>
          <p:nvSpPr>
            <p:cNvPr id="1533" name="Google Shape;1533;p48"/>
            <p:cNvSpPr/>
            <p:nvPr/>
          </p:nvSpPr>
          <p:spPr>
            <a:xfrm>
              <a:off x="6737915" y="169351"/>
              <a:ext cx="1651185" cy="1671247"/>
            </a:xfrm>
            <a:custGeom>
              <a:avLst/>
              <a:gdLst/>
              <a:ahLst/>
              <a:cxnLst/>
              <a:rect l="l" t="t" r="r" b="b"/>
              <a:pathLst>
                <a:path w="1959864" h="1983676" extrusionOk="0">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48"/>
            <p:cNvSpPr/>
            <p:nvPr/>
          </p:nvSpPr>
          <p:spPr>
            <a:xfrm>
              <a:off x="6653203" y="8"/>
              <a:ext cx="1651185" cy="1671247"/>
            </a:xfrm>
            <a:custGeom>
              <a:avLst/>
              <a:gdLst/>
              <a:ahLst/>
              <a:cxnLst/>
              <a:rect l="l" t="t" r="r" b="b"/>
              <a:pathLst>
                <a:path w="1959864" h="1983676" extrusionOk="0">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5" name="Google Shape;1535;p48"/>
            <p:cNvGrpSpPr/>
            <p:nvPr/>
          </p:nvGrpSpPr>
          <p:grpSpPr>
            <a:xfrm>
              <a:off x="6568493" y="84720"/>
              <a:ext cx="1649109" cy="1669065"/>
              <a:chOff x="8921020" y="472154"/>
              <a:chExt cx="1959958" cy="1983676"/>
            </a:xfrm>
          </p:grpSpPr>
          <p:sp>
            <p:nvSpPr>
              <p:cNvPr id="1536" name="Google Shape;1536;p48"/>
              <p:cNvSpPr/>
              <p:nvPr/>
            </p:nvSpPr>
            <p:spPr>
              <a:xfrm>
                <a:off x="8921114" y="472154"/>
                <a:ext cx="1959864" cy="1983676"/>
              </a:xfrm>
              <a:custGeom>
                <a:avLst/>
                <a:gdLst/>
                <a:ahLst/>
                <a:cxnLst/>
                <a:rect l="l" t="t" r="r" b="b"/>
                <a:pathLst>
                  <a:path w="1959864" h="1983676" extrusionOk="0">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48"/>
              <p:cNvSpPr/>
              <p:nvPr/>
            </p:nvSpPr>
            <p:spPr>
              <a:xfrm>
                <a:off x="8921020" y="472154"/>
                <a:ext cx="1959958" cy="172307"/>
              </a:xfrm>
              <a:custGeom>
                <a:avLst/>
                <a:gdLst/>
                <a:ahLst/>
                <a:cxnLst/>
                <a:rect l="l" t="t" r="r" b="b"/>
                <a:pathLst>
                  <a:path w="1959958" h="172307" extrusionOk="0">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8" name="Google Shape;1538;p48"/>
              <p:cNvGrpSpPr/>
              <p:nvPr/>
            </p:nvGrpSpPr>
            <p:grpSpPr>
              <a:xfrm>
                <a:off x="9011888" y="537781"/>
                <a:ext cx="255174" cy="64389"/>
                <a:chOff x="9011888" y="537781"/>
                <a:chExt cx="255174" cy="64389"/>
              </a:xfrm>
            </p:grpSpPr>
            <p:sp>
              <p:nvSpPr>
                <p:cNvPr id="1539" name="Google Shape;1539;p48"/>
                <p:cNvSpPr/>
                <p:nvPr/>
              </p:nvSpPr>
              <p:spPr>
                <a:xfrm>
                  <a:off x="920267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48"/>
                <p:cNvSpPr/>
                <p:nvPr/>
              </p:nvSpPr>
              <p:spPr>
                <a:xfrm>
                  <a:off x="910723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1" name="Google Shape;1541;p48"/>
                <p:cNvSpPr/>
                <p:nvPr/>
              </p:nvSpPr>
              <p:spPr>
                <a:xfrm>
                  <a:off x="9011888"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42" name="Google Shape;1542;p48"/>
            <p:cNvGrpSpPr/>
            <p:nvPr/>
          </p:nvGrpSpPr>
          <p:grpSpPr>
            <a:xfrm>
              <a:off x="6795939" y="406335"/>
              <a:ext cx="1194216" cy="1228757"/>
              <a:chOff x="9191339" y="854392"/>
              <a:chExt cx="1419320" cy="1460372"/>
            </a:xfrm>
          </p:grpSpPr>
          <p:grpSp>
            <p:nvGrpSpPr>
              <p:cNvPr id="1543" name="Google Shape;1543;p48"/>
              <p:cNvGrpSpPr/>
              <p:nvPr/>
            </p:nvGrpSpPr>
            <p:grpSpPr>
              <a:xfrm>
                <a:off x="9191339" y="1884045"/>
                <a:ext cx="604932" cy="420243"/>
                <a:chOff x="9191339" y="1884045"/>
                <a:chExt cx="604932" cy="420243"/>
              </a:xfrm>
            </p:grpSpPr>
            <p:sp>
              <p:nvSpPr>
                <p:cNvPr id="1544" name="Google Shape;1544;p48"/>
                <p:cNvSpPr/>
                <p:nvPr/>
              </p:nvSpPr>
              <p:spPr>
                <a:xfrm>
                  <a:off x="9191339" y="1884045"/>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48"/>
                <p:cNvSpPr/>
                <p:nvPr/>
              </p:nvSpPr>
              <p:spPr>
                <a:xfrm>
                  <a:off x="9449466" y="1884045"/>
                  <a:ext cx="182498" cy="52959"/>
                </a:xfrm>
                <a:custGeom>
                  <a:avLst/>
                  <a:gdLst/>
                  <a:ahLst/>
                  <a:cxnLst/>
                  <a:rect l="l" t="t" r="r" b="b"/>
                  <a:pathLst>
                    <a:path w="182498" h="52959" extrusionOk="0">
                      <a:moveTo>
                        <a:pt x="0" y="0"/>
                      </a:moveTo>
                      <a:lnTo>
                        <a:pt x="182499" y="0"/>
                      </a:lnTo>
                      <a:lnTo>
                        <a:pt x="18249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6" name="Google Shape;1546;p48"/>
                <p:cNvSpPr/>
                <p:nvPr/>
              </p:nvSpPr>
              <p:spPr>
                <a:xfrm>
                  <a:off x="9651396" y="1884045"/>
                  <a:ext cx="144875" cy="52959"/>
                </a:xfrm>
                <a:custGeom>
                  <a:avLst/>
                  <a:gdLst/>
                  <a:ahLst/>
                  <a:cxnLst/>
                  <a:rect l="l" t="t" r="r" b="b"/>
                  <a:pathLst>
                    <a:path w="144875" h="52959" extrusionOk="0">
                      <a:moveTo>
                        <a:pt x="0" y="0"/>
                      </a:moveTo>
                      <a:lnTo>
                        <a:pt x="144876" y="0"/>
                      </a:lnTo>
                      <a:lnTo>
                        <a:pt x="14487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48"/>
                <p:cNvSpPr/>
                <p:nvPr/>
              </p:nvSpPr>
              <p:spPr>
                <a:xfrm>
                  <a:off x="9308306" y="2006536"/>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48"/>
                <p:cNvSpPr/>
                <p:nvPr/>
              </p:nvSpPr>
              <p:spPr>
                <a:xfrm>
                  <a:off x="9191339" y="2006536"/>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9" name="Google Shape;1549;p48"/>
                <p:cNvSpPr/>
                <p:nvPr/>
              </p:nvSpPr>
              <p:spPr>
                <a:xfrm>
                  <a:off x="9460325" y="2128932"/>
                  <a:ext cx="230790" cy="52959"/>
                </a:xfrm>
                <a:custGeom>
                  <a:avLst/>
                  <a:gdLst/>
                  <a:ahLst/>
                  <a:cxnLst/>
                  <a:rect l="l" t="t" r="r" b="b"/>
                  <a:pathLst>
                    <a:path w="230790" h="52959" extrusionOk="0">
                      <a:moveTo>
                        <a:pt x="0" y="0"/>
                      </a:moveTo>
                      <a:lnTo>
                        <a:pt x="230791" y="0"/>
                      </a:lnTo>
                      <a:lnTo>
                        <a:pt x="230791"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48"/>
                <p:cNvSpPr/>
                <p:nvPr/>
              </p:nvSpPr>
              <p:spPr>
                <a:xfrm>
                  <a:off x="9713023" y="2128932"/>
                  <a:ext cx="83248" cy="52959"/>
                </a:xfrm>
                <a:custGeom>
                  <a:avLst/>
                  <a:gdLst/>
                  <a:ahLst/>
                  <a:cxnLst/>
                  <a:rect l="l" t="t" r="r" b="b"/>
                  <a:pathLst>
                    <a:path w="83248" h="52959" extrusionOk="0">
                      <a:moveTo>
                        <a:pt x="0" y="0"/>
                      </a:moveTo>
                      <a:lnTo>
                        <a:pt x="83248" y="0"/>
                      </a:lnTo>
                      <a:lnTo>
                        <a:pt x="8324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1" name="Google Shape;1551;p48"/>
                <p:cNvSpPr/>
                <p:nvPr/>
              </p:nvSpPr>
              <p:spPr>
                <a:xfrm>
                  <a:off x="9191339" y="2128932"/>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48"/>
                <p:cNvSpPr/>
                <p:nvPr/>
              </p:nvSpPr>
              <p:spPr>
                <a:xfrm>
                  <a:off x="9365170" y="225132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48"/>
                <p:cNvSpPr/>
                <p:nvPr/>
              </p:nvSpPr>
              <p:spPr>
                <a:xfrm>
                  <a:off x="9191339" y="225132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54" name="Google Shape;1554;p48"/>
              <p:cNvGrpSpPr/>
              <p:nvPr/>
            </p:nvGrpSpPr>
            <p:grpSpPr>
              <a:xfrm>
                <a:off x="10004774" y="854392"/>
                <a:ext cx="604932" cy="420243"/>
                <a:chOff x="10004774" y="854392"/>
                <a:chExt cx="604932" cy="420243"/>
              </a:xfrm>
            </p:grpSpPr>
            <p:sp>
              <p:nvSpPr>
                <p:cNvPr id="1555" name="Google Shape;1555;p48"/>
                <p:cNvSpPr/>
                <p:nvPr/>
              </p:nvSpPr>
              <p:spPr>
                <a:xfrm>
                  <a:off x="10004774" y="85439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48"/>
                <p:cNvSpPr/>
                <p:nvPr/>
              </p:nvSpPr>
              <p:spPr>
                <a:xfrm>
                  <a:off x="10262901" y="85439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48"/>
                <p:cNvSpPr/>
                <p:nvPr/>
              </p:nvSpPr>
              <p:spPr>
                <a:xfrm>
                  <a:off x="10464831" y="85439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48"/>
                <p:cNvSpPr/>
                <p:nvPr/>
              </p:nvSpPr>
              <p:spPr>
                <a:xfrm>
                  <a:off x="10121741" y="976788"/>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48"/>
                <p:cNvSpPr/>
                <p:nvPr/>
              </p:nvSpPr>
              <p:spPr>
                <a:xfrm>
                  <a:off x="10004774" y="976788"/>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48"/>
                <p:cNvSpPr/>
                <p:nvPr/>
              </p:nvSpPr>
              <p:spPr>
                <a:xfrm>
                  <a:off x="10273760" y="1099280"/>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48"/>
                <p:cNvSpPr/>
                <p:nvPr/>
              </p:nvSpPr>
              <p:spPr>
                <a:xfrm>
                  <a:off x="10526458" y="1099280"/>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48"/>
                <p:cNvSpPr/>
                <p:nvPr/>
              </p:nvSpPr>
              <p:spPr>
                <a:xfrm>
                  <a:off x="10004774" y="1099280"/>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48"/>
                <p:cNvSpPr/>
                <p:nvPr/>
              </p:nvSpPr>
              <p:spPr>
                <a:xfrm>
                  <a:off x="10178700" y="1221676"/>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48"/>
                <p:cNvSpPr/>
                <p:nvPr/>
              </p:nvSpPr>
              <p:spPr>
                <a:xfrm>
                  <a:off x="10004774" y="1221676"/>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65" name="Google Shape;1565;p48"/>
              <p:cNvGrpSpPr/>
              <p:nvPr/>
            </p:nvGrpSpPr>
            <p:grpSpPr>
              <a:xfrm>
                <a:off x="10004774" y="1374362"/>
                <a:ext cx="604932" cy="303466"/>
                <a:chOff x="10004774" y="1374362"/>
                <a:chExt cx="604932" cy="303466"/>
              </a:xfrm>
            </p:grpSpPr>
            <p:sp>
              <p:nvSpPr>
                <p:cNvPr id="1566" name="Google Shape;1566;p48"/>
                <p:cNvSpPr/>
                <p:nvPr/>
              </p:nvSpPr>
              <p:spPr>
                <a:xfrm>
                  <a:off x="10004774" y="137436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48"/>
                <p:cNvSpPr/>
                <p:nvPr/>
              </p:nvSpPr>
              <p:spPr>
                <a:xfrm>
                  <a:off x="10262901" y="137436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48"/>
                <p:cNvSpPr/>
                <p:nvPr/>
              </p:nvSpPr>
              <p:spPr>
                <a:xfrm>
                  <a:off x="10464831" y="137436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48"/>
                <p:cNvSpPr/>
                <p:nvPr/>
              </p:nvSpPr>
              <p:spPr>
                <a:xfrm>
                  <a:off x="10273760" y="1502378"/>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48"/>
                <p:cNvSpPr/>
                <p:nvPr/>
              </p:nvSpPr>
              <p:spPr>
                <a:xfrm>
                  <a:off x="10526458" y="1502378"/>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48"/>
                <p:cNvSpPr/>
                <p:nvPr/>
              </p:nvSpPr>
              <p:spPr>
                <a:xfrm>
                  <a:off x="10004774" y="1502378"/>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48"/>
                <p:cNvSpPr/>
                <p:nvPr/>
              </p:nvSpPr>
              <p:spPr>
                <a:xfrm>
                  <a:off x="10178700" y="162486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48"/>
                <p:cNvSpPr/>
                <p:nvPr/>
              </p:nvSpPr>
              <p:spPr>
                <a:xfrm>
                  <a:off x="10004774" y="162486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74" name="Google Shape;1574;p48"/>
              <p:cNvSpPr/>
              <p:nvPr/>
            </p:nvSpPr>
            <p:spPr>
              <a:xfrm>
                <a:off x="10004774" y="1875948"/>
                <a:ext cx="605885" cy="438816"/>
              </a:xfrm>
              <a:custGeom>
                <a:avLst/>
                <a:gdLst/>
                <a:ahLst/>
                <a:cxnLst/>
                <a:rect l="l" t="t" r="r" b="b"/>
                <a:pathLst>
                  <a:path w="605885" h="438816" extrusionOk="0">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48"/>
              <p:cNvSpPr/>
              <p:nvPr/>
            </p:nvSpPr>
            <p:spPr>
              <a:xfrm>
                <a:off x="9191339" y="860202"/>
                <a:ext cx="605885" cy="815149"/>
              </a:xfrm>
              <a:custGeom>
                <a:avLst/>
                <a:gdLst/>
                <a:ahLst/>
                <a:cxnLst/>
                <a:rect l="l" t="t" r="r" b="b"/>
                <a:pathLst>
                  <a:path w="605885" h="815149" extrusionOk="0">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76" name="Google Shape;1576;p48"/>
            <p:cNvGrpSpPr/>
            <p:nvPr/>
          </p:nvGrpSpPr>
          <p:grpSpPr>
            <a:xfrm>
              <a:off x="6717319" y="354723"/>
              <a:ext cx="656533" cy="799751"/>
              <a:chOff x="9097899" y="793051"/>
              <a:chExt cx="780287" cy="950500"/>
            </a:xfrm>
          </p:grpSpPr>
          <p:grpSp>
            <p:nvGrpSpPr>
              <p:cNvPr id="1577" name="Google Shape;1577;p48"/>
              <p:cNvGrpSpPr/>
              <p:nvPr/>
            </p:nvGrpSpPr>
            <p:grpSpPr>
              <a:xfrm>
                <a:off x="9118758" y="814006"/>
                <a:ext cx="747999" cy="918020"/>
                <a:chOff x="9118758" y="814006"/>
                <a:chExt cx="747999" cy="918020"/>
              </a:xfrm>
            </p:grpSpPr>
            <p:sp>
              <p:nvSpPr>
                <p:cNvPr id="1578" name="Google Shape;1578;p48"/>
                <p:cNvSpPr/>
                <p:nvPr/>
              </p:nvSpPr>
              <p:spPr>
                <a:xfrm>
                  <a:off x="9131522" y="1722501"/>
                  <a:ext cx="700277" cy="9525"/>
                </a:xfrm>
                <a:custGeom>
                  <a:avLst/>
                  <a:gdLst/>
                  <a:ahLst/>
                  <a:cxnLst/>
                  <a:rect l="l" t="t" r="r" b="b"/>
                  <a:pathLst>
                    <a:path w="700277" h="9525" extrusionOk="0">
                      <a:moveTo>
                        <a:pt x="700278" y="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48"/>
                <p:cNvSpPr/>
                <p:nvPr/>
              </p:nvSpPr>
              <p:spPr>
                <a:xfrm>
                  <a:off x="9118758" y="826579"/>
                  <a:ext cx="9525" cy="870680"/>
                </a:xfrm>
                <a:custGeom>
                  <a:avLst/>
                  <a:gdLst/>
                  <a:ahLst/>
                  <a:cxnLst/>
                  <a:rect l="l" t="t" r="r" b="b"/>
                  <a:pathLst>
                    <a:path w="9525" h="870680" extrusionOk="0">
                      <a:moveTo>
                        <a:pt x="0" y="87068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48"/>
                <p:cNvSpPr/>
                <p:nvPr/>
              </p:nvSpPr>
              <p:spPr>
                <a:xfrm>
                  <a:off x="9144285" y="814006"/>
                  <a:ext cx="700277" cy="9525"/>
                </a:xfrm>
                <a:custGeom>
                  <a:avLst/>
                  <a:gdLst/>
                  <a:ahLst/>
                  <a:cxnLst/>
                  <a:rect l="l" t="t" r="r" b="b"/>
                  <a:pathLst>
                    <a:path w="700277" h="9525" extrusionOk="0">
                      <a:moveTo>
                        <a:pt x="0" y="0"/>
                      </a:moveTo>
                      <a:lnTo>
                        <a:pt x="700278"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48"/>
                <p:cNvSpPr/>
                <p:nvPr/>
              </p:nvSpPr>
              <p:spPr>
                <a:xfrm>
                  <a:off x="9857232" y="839247"/>
                  <a:ext cx="9525" cy="870680"/>
                </a:xfrm>
                <a:custGeom>
                  <a:avLst/>
                  <a:gdLst/>
                  <a:ahLst/>
                  <a:cxnLst/>
                  <a:rect l="l" t="t" r="r" b="b"/>
                  <a:pathLst>
                    <a:path w="9525" h="870680" extrusionOk="0">
                      <a:moveTo>
                        <a:pt x="0" y="0"/>
                      </a:moveTo>
                      <a:lnTo>
                        <a:pt x="0" y="87068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2" name="Google Shape;1582;p48"/>
              <p:cNvGrpSpPr/>
              <p:nvPr/>
            </p:nvGrpSpPr>
            <p:grpSpPr>
              <a:xfrm>
                <a:off x="9097899" y="793051"/>
                <a:ext cx="780287" cy="950500"/>
                <a:chOff x="9097899" y="793051"/>
                <a:chExt cx="780287" cy="950500"/>
              </a:xfrm>
            </p:grpSpPr>
            <p:grpSp>
              <p:nvGrpSpPr>
                <p:cNvPr id="1583" name="Google Shape;1583;p48"/>
                <p:cNvGrpSpPr/>
                <p:nvPr/>
              </p:nvGrpSpPr>
              <p:grpSpPr>
                <a:xfrm>
                  <a:off x="9097899" y="793051"/>
                  <a:ext cx="780287" cy="41909"/>
                  <a:chOff x="9097899" y="793051"/>
                  <a:chExt cx="780287" cy="41909"/>
                </a:xfrm>
              </p:grpSpPr>
              <p:sp>
                <p:nvSpPr>
                  <p:cNvPr id="1584" name="Google Shape;1584;p48"/>
                  <p:cNvSpPr/>
                  <p:nvPr/>
                </p:nvSpPr>
                <p:spPr>
                  <a:xfrm>
                    <a:off x="9097899"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48"/>
                  <p:cNvSpPr/>
                  <p:nvPr/>
                </p:nvSpPr>
                <p:spPr>
                  <a:xfrm>
                    <a:off x="9467088"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48"/>
                  <p:cNvSpPr/>
                  <p:nvPr/>
                </p:nvSpPr>
                <p:spPr>
                  <a:xfrm>
                    <a:off x="9836277"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7" name="Google Shape;1587;p48"/>
                <p:cNvGrpSpPr/>
                <p:nvPr/>
              </p:nvGrpSpPr>
              <p:grpSpPr>
                <a:xfrm>
                  <a:off x="9097899" y="1247298"/>
                  <a:ext cx="780287" cy="41910"/>
                  <a:chOff x="9097899" y="1247298"/>
                  <a:chExt cx="780287" cy="41910"/>
                </a:xfrm>
              </p:grpSpPr>
              <p:sp>
                <p:nvSpPr>
                  <p:cNvPr id="1588" name="Google Shape;1588;p48"/>
                  <p:cNvSpPr/>
                  <p:nvPr/>
                </p:nvSpPr>
                <p:spPr>
                  <a:xfrm>
                    <a:off x="9097899"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48"/>
                  <p:cNvSpPr/>
                  <p:nvPr/>
                </p:nvSpPr>
                <p:spPr>
                  <a:xfrm>
                    <a:off x="9836277"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90" name="Google Shape;1590;p48"/>
                <p:cNvGrpSpPr/>
                <p:nvPr/>
              </p:nvGrpSpPr>
              <p:grpSpPr>
                <a:xfrm>
                  <a:off x="9097899" y="1701641"/>
                  <a:ext cx="780287" cy="41910"/>
                  <a:chOff x="9097899" y="1701641"/>
                  <a:chExt cx="780287" cy="41910"/>
                </a:xfrm>
              </p:grpSpPr>
              <p:sp>
                <p:nvSpPr>
                  <p:cNvPr id="1591" name="Google Shape;1591;p48"/>
                  <p:cNvSpPr/>
                  <p:nvPr/>
                </p:nvSpPr>
                <p:spPr>
                  <a:xfrm>
                    <a:off x="9097899"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48"/>
                  <p:cNvSpPr/>
                  <p:nvPr/>
                </p:nvSpPr>
                <p:spPr>
                  <a:xfrm>
                    <a:off x="9467088"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48"/>
                  <p:cNvSpPr/>
                  <p:nvPr/>
                </p:nvSpPr>
                <p:spPr>
                  <a:xfrm>
                    <a:off x="9836277"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594" name="Google Shape;1594;p48"/>
            <p:cNvGrpSpPr/>
            <p:nvPr/>
          </p:nvGrpSpPr>
          <p:grpSpPr>
            <a:xfrm>
              <a:off x="7074117" y="956519"/>
              <a:ext cx="215826" cy="125825"/>
              <a:chOff x="9521952" y="1508283"/>
              <a:chExt cx="256508" cy="149542"/>
            </a:xfrm>
          </p:grpSpPr>
          <p:sp>
            <p:nvSpPr>
              <p:cNvPr id="1595" name="Google Shape;1595;p48"/>
              <p:cNvSpPr/>
              <p:nvPr/>
            </p:nvSpPr>
            <p:spPr>
              <a:xfrm>
                <a:off x="9521952" y="1508283"/>
                <a:ext cx="256508" cy="149542"/>
              </a:xfrm>
              <a:custGeom>
                <a:avLst/>
                <a:gdLst/>
                <a:ahLst/>
                <a:cxnLst/>
                <a:rect l="l" t="t" r="r" b="b"/>
                <a:pathLst>
                  <a:path w="256508" h="149542" extrusionOk="0">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96" name="Google Shape;1596;p48"/>
              <p:cNvGrpSpPr/>
              <p:nvPr/>
            </p:nvGrpSpPr>
            <p:grpSpPr>
              <a:xfrm>
                <a:off x="9556578" y="1534618"/>
                <a:ext cx="183763" cy="98921"/>
                <a:chOff x="9556578" y="1534618"/>
                <a:chExt cx="183763" cy="98921"/>
              </a:xfrm>
            </p:grpSpPr>
            <p:grpSp>
              <p:nvGrpSpPr>
                <p:cNvPr id="1597" name="Google Shape;1597;p48"/>
                <p:cNvGrpSpPr/>
                <p:nvPr/>
              </p:nvGrpSpPr>
              <p:grpSpPr>
                <a:xfrm>
                  <a:off x="9645396" y="1536115"/>
                  <a:ext cx="94945" cy="94946"/>
                  <a:chOff x="9645396" y="1536115"/>
                  <a:chExt cx="94945" cy="94946"/>
                </a:xfrm>
              </p:grpSpPr>
              <p:sp>
                <p:nvSpPr>
                  <p:cNvPr id="1598" name="Google Shape;1598;p48"/>
                  <p:cNvSpPr/>
                  <p:nvPr/>
                </p:nvSpPr>
                <p:spPr>
                  <a:xfrm>
                    <a:off x="9645396" y="1588389"/>
                    <a:ext cx="42671" cy="42672"/>
                  </a:xfrm>
                  <a:custGeom>
                    <a:avLst/>
                    <a:gdLst/>
                    <a:ahLst/>
                    <a:cxnLst/>
                    <a:rect l="l" t="t" r="r" b="b"/>
                    <a:pathLst>
                      <a:path w="42671" h="42672" extrusionOk="0">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48"/>
                  <p:cNvSpPr/>
                  <p:nvPr/>
                </p:nvSpPr>
                <p:spPr>
                  <a:xfrm>
                    <a:off x="9674923" y="1536115"/>
                    <a:ext cx="65418" cy="65418"/>
                  </a:xfrm>
                  <a:custGeom>
                    <a:avLst/>
                    <a:gdLst/>
                    <a:ahLst/>
                    <a:cxnLst/>
                    <a:rect l="l" t="t" r="r" b="b"/>
                    <a:pathLst>
                      <a:path w="65418" h="65418" extrusionOk="0">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00" name="Google Shape;1600;p48"/>
                <p:cNvGrpSpPr/>
                <p:nvPr/>
              </p:nvGrpSpPr>
              <p:grpSpPr>
                <a:xfrm>
                  <a:off x="9556578" y="1534618"/>
                  <a:ext cx="98773" cy="98921"/>
                  <a:chOff x="9556578" y="1534618"/>
                  <a:chExt cx="98773" cy="98921"/>
                </a:xfrm>
              </p:grpSpPr>
              <p:sp>
                <p:nvSpPr>
                  <p:cNvPr id="1601" name="Google Shape;1601;p48"/>
                  <p:cNvSpPr/>
                  <p:nvPr/>
                </p:nvSpPr>
                <p:spPr>
                  <a:xfrm>
                    <a:off x="9556578" y="1534618"/>
                    <a:ext cx="98773" cy="98921"/>
                  </a:xfrm>
                  <a:custGeom>
                    <a:avLst/>
                    <a:gdLst/>
                    <a:ahLst/>
                    <a:cxnLst/>
                    <a:rect l="l" t="t" r="r" b="b"/>
                    <a:pathLst>
                      <a:path w="98773" h="98921" extrusionOk="0">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48"/>
                  <p:cNvSpPr/>
                  <p:nvPr/>
                </p:nvSpPr>
                <p:spPr>
                  <a:xfrm>
                    <a:off x="9597270" y="1577125"/>
                    <a:ext cx="15573" cy="15573"/>
                  </a:xfrm>
                  <a:custGeom>
                    <a:avLst/>
                    <a:gdLst/>
                    <a:ahLst/>
                    <a:cxnLst/>
                    <a:rect l="l" t="t" r="r" b="b"/>
                    <a:pathLst>
                      <a:path w="15573" h="15573" extrusionOk="0">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1603" name="Google Shape;1603;p48"/>
          <p:cNvGrpSpPr/>
          <p:nvPr/>
        </p:nvGrpSpPr>
        <p:grpSpPr>
          <a:xfrm>
            <a:off x="8107967" y="3797550"/>
            <a:ext cx="645598" cy="1166771"/>
            <a:chOff x="8107967" y="3797550"/>
            <a:chExt cx="645598" cy="1166771"/>
          </a:xfrm>
        </p:grpSpPr>
        <p:grpSp>
          <p:nvGrpSpPr>
            <p:cNvPr id="1604" name="Google Shape;1604;p48"/>
            <p:cNvGrpSpPr/>
            <p:nvPr/>
          </p:nvGrpSpPr>
          <p:grpSpPr>
            <a:xfrm>
              <a:off x="8107967" y="3797550"/>
              <a:ext cx="645598" cy="1166771"/>
              <a:chOff x="1024660" y="3708890"/>
              <a:chExt cx="489423" cy="884520"/>
            </a:xfrm>
          </p:grpSpPr>
          <p:grpSp>
            <p:nvGrpSpPr>
              <p:cNvPr id="1605" name="Google Shape;1605;p48"/>
              <p:cNvGrpSpPr/>
              <p:nvPr/>
            </p:nvGrpSpPr>
            <p:grpSpPr>
              <a:xfrm>
                <a:off x="1024660" y="3708890"/>
                <a:ext cx="489423" cy="884520"/>
                <a:chOff x="2124551" y="4954047"/>
                <a:chExt cx="587120" cy="1061085"/>
              </a:xfrm>
            </p:grpSpPr>
            <p:sp>
              <p:nvSpPr>
                <p:cNvPr id="1606" name="Google Shape;1606;p4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7" name="Google Shape;1607;p4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08" name="Google Shape;1608;p4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09" name="Google Shape;1609;p48"/>
              <p:cNvGrpSpPr/>
              <p:nvPr/>
            </p:nvGrpSpPr>
            <p:grpSpPr>
              <a:xfrm>
                <a:off x="1108189" y="4182116"/>
                <a:ext cx="322524" cy="131011"/>
                <a:chOff x="2224754" y="5521737"/>
                <a:chExt cx="386905" cy="157163"/>
              </a:xfrm>
            </p:grpSpPr>
            <p:grpSp>
              <p:nvGrpSpPr>
                <p:cNvPr id="1610" name="Google Shape;1610;p48"/>
                <p:cNvGrpSpPr/>
                <p:nvPr/>
              </p:nvGrpSpPr>
              <p:grpSpPr>
                <a:xfrm>
                  <a:off x="2224754" y="5521737"/>
                  <a:ext cx="386905" cy="157163"/>
                  <a:chOff x="2224754" y="5521737"/>
                  <a:chExt cx="386905" cy="157163"/>
                </a:xfrm>
              </p:grpSpPr>
              <p:grpSp>
                <p:nvGrpSpPr>
                  <p:cNvPr id="1611" name="Google Shape;1611;p48"/>
                  <p:cNvGrpSpPr/>
                  <p:nvPr/>
                </p:nvGrpSpPr>
                <p:grpSpPr>
                  <a:xfrm>
                    <a:off x="2224754" y="5521737"/>
                    <a:ext cx="386905" cy="65532"/>
                    <a:chOff x="2224754" y="5521737"/>
                    <a:chExt cx="386905" cy="65532"/>
                  </a:xfrm>
                </p:grpSpPr>
                <p:sp>
                  <p:nvSpPr>
                    <p:cNvPr id="1612" name="Google Shape;1612;p4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4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4" name="Google Shape;1614;p48"/>
                  <p:cNvGrpSpPr/>
                  <p:nvPr/>
                </p:nvGrpSpPr>
                <p:grpSpPr>
                  <a:xfrm>
                    <a:off x="2224754" y="5613368"/>
                    <a:ext cx="386905" cy="65532"/>
                    <a:chOff x="2224754" y="5613368"/>
                    <a:chExt cx="386905" cy="65532"/>
                  </a:xfrm>
                </p:grpSpPr>
                <p:sp>
                  <p:nvSpPr>
                    <p:cNvPr id="1615" name="Google Shape;1615;p4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4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17" name="Google Shape;1617;p48"/>
                <p:cNvGrpSpPr/>
                <p:nvPr/>
              </p:nvGrpSpPr>
              <p:grpSpPr>
                <a:xfrm>
                  <a:off x="2336863" y="5554217"/>
                  <a:ext cx="177355" cy="15050"/>
                  <a:chOff x="2336863" y="5554217"/>
                  <a:chExt cx="177355" cy="15050"/>
                </a:xfrm>
              </p:grpSpPr>
              <p:sp>
                <p:nvSpPr>
                  <p:cNvPr id="1618" name="Google Shape;1618;p4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4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4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1" name="Google Shape;1621;p4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4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23" name="Google Shape;1623;p48"/>
                <p:cNvGrpSpPr/>
                <p:nvPr/>
              </p:nvGrpSpPr>
              <p:grpSpPr>
                <a:xfrm>
                  <a:off x="2336863" y="5641848"/>
                  <a:ext cx="177355" cy="15049"/>
                  <a:chOff x="2336863" y="5641848"/>
                  <a:chExt cx="177355" cy="15049"/>
                </a:xfrm>
              </p:grpSpPr>
              <p:sp>
                <p:nvSpPr>
                  <p:cNvPr id="1624" name="Google Shape;1624;p4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4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4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4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4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29" name="Google Shape;1629;p48"/>
              <p:cNvGrpSpPr/>
              <p:nvPr/>
            </p:nvGrpSpPr>
            <p:grpSpPr>
              <a:xfrm>
                <a:off x="1161625" y="3903897"/>
                <a:ext cx="215413" cy="215333"/>
                <a:chOff x="2288857" y="5187981"/>
                <a:chExt cx="258413" cy="258317"/>
              </a:xfrm>
            </p:grpSpPr>
            <p:sp>
              <p:nvSpPr>
                <p:cNvPr id="1630" name="Google Shape;1630;p4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4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632" name="Google Shape;1632;p48"/>
            <p:cNvSpPr/>
            <p:nvPr/>
          </p:nvSpPr>
          <p:spPr>
            <a:xfrm>
              <a:off x="8344358" y="4860794"/>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461</TotalTime>
  <Words>2842</Words>
  <Application>Microsoft Office PowerPoint</Application>
  <PresentationFormat>On-screen Show (16:9)</PresentationFormat>
  <Paragraphs>502</Paragraphs>
  <Slides>20</Slides>
  <Notes>20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20</vt:i4>
      </vt:variant>
    </vt:vector>
  </HeadingPairs>
  <TitlesOfParts>
    <vt:vector size="34" baseType="lpstr">
      <vt:lpstr>Roboto Medium</vt:lpstr>
      <vt:lpstr>Epilogue</vt:lpstr>
      <vt:lpstr>Wingdings</vt:lpstr>
      <vt:lpstr>Roboto Bold</vt:lpstr>
      <vt:lpstr>Lato</vt:lpstr>
      <vt:lpstr>Aptos Narrow</vt:lpstr>
      <vt:lpstr>Calibri</vt:lpstr>
      <vt:lpstr>Raleway</vt:lpstr>
      <vt:lpstr>Nunito Light</vt:lpstr>
      <vt:lpstr>Open Sans</vt:lpstr>
      <vt:lpstr>Roboto</vt:lpstr>
      <vt:lpstr>Arial</vt:lpstr>
      <vt:lpstr>Century Gothic</vt:lpstr>
      <vt:lpstr>Multimedia Software Pitch Deck by Slidesgo</vt:lpstr>
      <vt:lpstr>PowerPoint Presentation</vt:lpstr>
      <vt:lpstr>Table of Contents</vt:lpstr>
      <vt:lpstr>Executive Summary</vt:lpstr>
      <vt:lpstr>Introduction</vt:lpstr>
      <vt:lpstr>Problem Statement</vt:lpstr>
      <vt:lpstr>Solutions</vt:lpstr>
      <vt:lpstr>Solutions</vt:lpstr>
      <vt:lpstr>Benefits</vt:lpstr>
      <vt:lpstr>Competitions Comparison</vt:lpstr>
      <vt:lpstr>Competitions Comparison</vt:lpstr>
      <vt:lpstr>Market Overview</vt:lpstr>
      <vt:lpstr>Marketing Strategy</vt:lpstr>
      <vt:lpstr>Revenue Model</vt:lpstr>
      <vt:lpstr>Organizational chart</vt:lpstr>
      <vt:lpstr>Key Personnel</vt:lpstr>
      <vt:lpstr>Product Roadmap</vt:lpstr>
      <vt:lpstr>Business Model Canvas</vt:lpstr>
      <vt:lpstr>Funding</vt:lpstr>
      <vt:lpstr>Future Development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Mohd Izwan Hafizi A.Razak</cp:lastModifiedBy>
  <cp:revision>65</cp:revision>
  <dcterms:modified xsi:type="dcterms:W3CDTF">2026-02-20T04:40:57Z</dcterms:modified>
</cp:coreProperties>
</file>